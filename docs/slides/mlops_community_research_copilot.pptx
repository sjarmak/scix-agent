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I'm Stephanie Jarmak — I work at Sourcegraph on code-intelligence infrastructure and I'm a research affiliate at the Harvard-Smithsonian Center for Astrophysics. Today I want to share what we've learned building an agent-native layer over the full NASA ADS corpus — 32.4 million scientific papers — and what it takes to make scientific knowledge actually navigable for a research copilot. This is a 30-min talk. I'll leave time for questions. Three things I want you to leave with: (1) why search APIs aren't enough for agentic research workflows, (2) a concrete architecture that works on a single PostgreSQL box, and (3) hard-won lessons about what breaks.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Scientific output is growing faster than any one researcher can keep up with. Three million papers a year across disciplines. Researchers spend 20–30% of their time on literature search according to Tenopir et al. and follow-up studies. Agents should help with this. But if you wrap Claude around ADS or Semantic Scholar's REST API, what you get is basically a faster keyword search — not actual navigation. The agent returns 10 results per query, no graph structure, no memory across queries. That's the problem I want to unpack.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human searcher is used to the ranked-list paradigm — you type, scan 10 results, open a couple, maybe refine. That works because the real reasoning is happening in your head. An agent has no such luxury. It needs structured primitives that compose. Graph topology tells it which papers sit at community bridges or are structurally foundational. Session state lets it accumulate and reason over a working set across dozens of tool calls. Structured returns let it track bibcodes, not free-text snippets. And it needs multi-hop moves — citation chains, finding gaps in a landscape — that are primitives the human did implicitly.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roadmap. First I'll set up the problem — why search APIs are not the right interface for agentic research. Then I'll walk through the single most important empirical result we found: corpus completeness is not optional for graph analytics. Then the architecture — how this all fits on a single PostgreSQL box. A live demo walking through an actual research task. And finally the lessons I wish someone had told me before starting.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be concrete about what's missing. When you wrap an LLM around ADS /search or Semantic Scholar's REST API, the agent can't ask structural questions — which papers bridge communities, which are foundational. Every query starts cold; there's no working set accumulating across turns. There's no community structure exposed, so the agent can't browse the landscape or choose a lens. Only one retrieval signal. And free-text snippets in the response burn context and break composition. All of these are primitives we'll build in the next slides.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MCP is an open protocol Anthropic introduced in late 2024, now adopted across the agent ecosystem. It gives us what we need: tool-calling primitives with schemas, stateful sessions, structured responses, transport flexibility. And importantly for scientific knowledge — it's portable. The same MCP server I built against ADS could be hosted by ADS directly, or point at arXiv, or any other corpus. The research copilot talks one protocol.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Corpus at a glance. 32.4 million papers spanning 1800 to 2026. 299 million citation edges. And — critically for what comes next — INDUS domain-specific embeddings for the full corpus. 14.9 million papers also have full body text ingested, which opens up chunk-level retrieval as future work. All of this runs on a single PostgreSQL 16 box with pgvector, 62 gigs of RAM. No distributed system, no separate vector database, no Elasticsearch cluster. The whole system fits in one Postgres.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OK, this is the most important empirical slide in the talk. Citation graphs are built from reference lists. Every cited paper has to exist as a node in your corpus or the edge dangles — there's no target. If you index the last 6 years of papers — which is what most commercial products do — only 17.8% of citation edges resolve. 82% of every paper's references point to older papers outside your window. The full corpus? 99.6% resolved. The remaining 0.4% are books, reports, stuff ADS doesn't track. This isn't a sampling artifact you can paper over. PageRank leaks probability through dangling edges. Leiden sees 45,000 disconnected components that shouldn't exist. Co-citation networks are sparse garbage. If you're building a research copilot and doing graph analytics on a partial corpus, you are getting structurally wrong answers.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result, different angle. On the 6-year window you get ~45,000 disconnected components and 1.7M isolated nodes. That is a graph that cannot support community detection — Leiden just sees noise. On the full corpus, 99.3% of all connected papers — just under 20 million — sit in a single giant component. The second-largest component is 36 nodes. Thirty-six. That's extreme bimodality, and it means community detection, PageRank, all the structural analysis — actually works. For research copilot builders: you cannot take this shortcut. If your corpus doesn't go back to the '70s at least, you are not doing graph analytics. You are doing vibes.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takeaways for anyone building a research copilot. One: rolling-window bias is systematic — recent papers cite older papers. A 2024 paper's references are mostly from 2005-2020. So indexing recent papers excludes the papers they reference. Two: the full-corpus ingest is feasible. 32 million papers into Postgres in 4 hours on a single machine with COPY. This isn't a big-data moonshot. Three: treat your corpus boundary as a product decision. It shapes what reasoning is even possible for the agent. If you only have the last 5 years, you can do topical matching but not influence, not landscape.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architecture. Data flows from ADS into a PostgreSQL 16 instance with pgvector. Embeddings, graph metrics, and entity extractions all live in Postgres. Above that are three horizontal layers: hybrid search, graph tools, and entity layer. Those are exposed through a 13-tool MCP server. The agent talks MCP. Deliberate simplicity. I've seen teams reach for Elasticsearch plus Pinecone plus an orchestrator, and then half the work becomes keeping those in sync. Postgres is comfortable at 32 million rows. Keep it simple until you measure that you can't.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retrieval stack fuses three signals. INDUS is the NASA Science Mission Directorate's domain-tuned embedding model — trained on 2.66 million ADS title-abstract pairs. Open-weight, runs on a local GPU. We've embedded all 32 million papers with it. text-embedding-3-large is OpenAI's general-purpose model. We truncate from 3072 to 1024 dimensions using the Matryoshka property. It's designed for asymmetric query-to-document retrieval — natural-language queries hitting stored documents. INDUS alone is symmetric, so text-embedding-3-large covers a gap. BM25 — just a tsvector in Postgres — catches specific-term queries where both dense models fail. Proper names, equations, rare identifiers. All three get reciprocal-rank-fused with k=60. 49-67% error reduction over dense-only according to the literature. And we have a circuit breaker: if OpenAI's API hiccups, the stack gracefully degrades to INDUS + BM25.</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Qdrant-hosted event, so let me be direct about how I think about vector DB choice. pgvector won the main path for us because of integration, not performance. The citation graph — 299 million edges — lives in Postgres. The paper metrics — PageRank, community assignments — live in Postgres. The vectors living in the same transaction boundary means one query plan can join them cleanly. No sync layer, no eventual-consistency window. 32 million rows is comfortably inside Postgres's range. And our ops surface area is already Postgres. But there are real things Qdrant does that pgvector cannot cleanly replicate. Named multi-vectors per point — store INDUS plus text-embedding-3-large plus a chunk-level vector all on one object, query any of them. Payload-indexed filtering that keeps full HNSW speed under selective filters. Quantization options beyond halfvec. And the one I think is most interesting for agents — a first-class discovery / recommendation API: more like these, less like those. You can fake that in SQL, but it's hand-rolled. So we landed on: Postgres as source of truth; Qdrant as an additive enrichment shard, fed by one-way upsert. I'll show you the concrete capability we built on it next.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capability. This is a 14th MCP tool — only registered when QDRANT_URL is set, so the default Postgres-only deployment is unchanged. The signature: pass positive example bibcodes, optional negative example bibcodes, and optional filters — year, doctype, arxiv class, or semantic community. The handler uses Qdrant's recommend API under the hood. Pilot state: 400,000 points loaded in about 10 minutes at 676 points-per-second, pulled from the top-PageRank papers that have both a semantic-community assignment and an arXiv class. That filter combination gives us meaningful payload for demos. 2.6 GB on disk in one Docker container on the same box as Postgres. The live demo — seeding with two Nature Nanotechnology papers on graphene-based terahertz detection. The top hits are all graphene, cond-mat, optics — the discovery API found the research neighborhood cleanly. Adding a community_semantic filter restricts to the graphene cluster. Adding a negative example — like an astronomy paper — pushes results away from that direction. All three modes, one tool call. This is exactly the shape of capability that Qdrant unlocks cleanly and pgvector would have you hand-roll in SQL. Feature-flagged, additive, safe to ship alongside the Postgres source of truth.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Graph intelligence layer. Three things. First, per-paper metrics: PageRank, HITS, community assignments at three resolutions — coarse, medium, fine. These are columns on the paper record in Postgres, not something computed offline and shipped around. Weekly batch, ~10 min on a tuned Postgres. Second: three orthogonal community lenses. Citation communities — Leiden algorithm on who cites whom. Semantic communities — k-means on INDUS embeddings. Taxonomic — arXiv class and UAT hierarchy. These frequently disagree, and the disagreements are informative. A paper in one citation community but a different semantic community is probably a methodological bridge. The agent picks the lens. Third: multi-hop tools. Citation chain finds the shortest citation path between two papers. Find_gaps looks for bridge papers between communities in your working set but not yet in it. These are the moves that wrap-your-LLM-around-/search just cannot make.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concrete design lesson: tool count matters. We started with 22 tools across five categories. A premortem flagged that &gt;15 tools materially degrades agent tool-selection accuracy. The A-RAG paper from Feb 2026 showed three hierarchical tools getting 94.5% on HotpotQA. We consolidated to 13. Search category went from 4 (semantic, hybrid, lexical, faceted) to 2 (search, concept_search). Session tools got folded into read-through patterns. The concrete wins: agent picks the right tool more often, context window is smaller, tool description surface area shrinks. If you're building your own MCP surface for a copilot — be ruthless. Fewer, more composable tools beat more, more specific tools.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principles. Compact stubs — every list response is bibcode, title, first author, year, citation count, and a short snippet. Not the full paper. The agent calls read_paper when it actually needs more. This cuts context burn by 5-10x. Stable typed interfaces — JSON schema, no free-text fields, every response parses. Otherwise the agent spends tokens parsing your HTML. Include provenance — which tool returned this, which query. Lets the agent reason about its own trail. Idempotent reads — same input, same output. Makes caching and retry trivial. Cursor-based pagination — if a query returns 10,000 bibcodes, return a cursor, not all 10,000. The agent can decide whether to keep going.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Session state is the agent's short-term memory. In our MCP server it's an in-memory Python dict per stdio connection. Not persisted to a database — sessions are ephemeral by nature. Not smuggled into the prompt — that burns context. Each WorkingSetEntry has a bibcode plus provenance: which tool surfaced this, under what query, at what rank, which community. Plus agent-applied tags. What this unlocks is find_gaps — a SQL query that looks at which citation communities are represented in the working set, and finds bridge papers that connect those communities but aren't yet in the set. That's a structural move that matters for systematic reviews. Also get_session_summary grouped by community. Dedup. Cross-tool reasoning. For HTTP transport we'd persist server-side with a session ID. But for stdio — ephemeral is correct.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community lenses. Citation — Leiden on the giant component at three resolutions. Behavioral affinity — papers that cite each other. Semantic — k-means on INDUS embeddings. Topical affinity — similar content regardless of whether they cite each other. Taxonomic — arXiv class and UAT hierarchy. Institutional affinity — what field the paper is in by human labeling. Disagreements are the interesting cases. A paper in a citation community with a different semantic community is probably a methodological bridge — uses methods from one subfield to study problems in another. A paper with a taxonomic label disagreeing with both is often cross-disciplinary. The agent picks the lens. For a landscape-mapping task it might use taxonomic to get boundaries, then semantic to find adjacency. For a citation study, Leiden. For understanding influence, the Leiden communities plus PageRank.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OK, live demo. I'll walk through this in the next slides. The prompt is a real research copilot task: map the exoplanet atmospheric characterization landscape for a grant proposal. This needs topical search, community structure, PageRank, temporal signal, bridge-paper detection, and a memory to reason over all of it. The agent invokes six tools in this sequence. search for the broad hit. graph_context to pull community labels and PageRank. citation_similarity to expand with co-citation. temporal_evolution to see growth. find_gaps for bridge papers. And read_paper to dive deep on three foundational papers. Let me show you what this actually looks like.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agent-trace viz from our dashboard. Each row is a tool call over time, color-coded by tool category, with the result sizes on the right. The point of this viz is to make agent behavior legible — you can see when the agent is searching broadly, when it shifts into graph moves, when it's reading papers deeply. If you're building a research copilot, building something like this for yourself is high ROI. You'll spot quickly whether the agent is using the tools you think it should, or whether it's hammering search when it should be doing graph moves. Tool-selection instrumentation is a leading indicator of copilot quality.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the research landscape actually looks like — a UMAP projection of all 32 million INDUS embeddings. Each point is a paper. Color by coarse Leiden community, brightness by PageRank. You can see the shape of astronomy — the solar-system cluster, extragalactic, instrumentation, cosmology, each as a recognizable region. For the agent, this isn't visual — it's just community IDs and coordinates in embedding space. But for us, it's an incredibly useful QA tool. You can see when a community merge is wrong, when a semantic boundary is splitting a subfield incorrectly. The heatmap and sankey views give complementary takes — citation density between communities, flows across taxonomic boundaries.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more views of the same structure. On the left, a Sankey of citation flow between coarse communities — how papers in one community cite papers in another. On the right, a 199-by-199 community-level citation heatmap, medium resolution. These aren't for the agent to look at — the agent gets numbers. But they're how we as system builders validate that the community detection is meaningful and that our parallel signals agree where they should. For research copilot builders — if you can expose something like this to users, do it. It lets the human sanity-check the agent's structural claims. "The agent says these two communities are tightly linked" — the user can see the flow.</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where I want to be honest with you. Our 50-query retrieval evaluation — citation-based ground truth, which means a paper is relevant if it cites or is cited by the seed paper — shows something counterintuitive. Nomic, a general-purpose embedding model with zero domain training, beats INDUS, a model fine-tuned on 2.66 million ADS title-abstract pairs. Statistically significant, p=0.019. A few hypotheses. Training-corpus diversity — Nomic's broad training may generalize better across cross-disciplinary citations. Evaluation methodology bias — citation-based ground truth captures methodological and cross-disciplinary connections that a domain-specific model optimized for within-field similarity may miss. Sample size — 50 queries with high variance. Why we still use INDUS as the primary signal: it's the only model embedded for the full 32M corpus. Nomic would cost the same compute we've already invested. And INDUS likely wins on downstream tasks beyond retrieval — community seeding, citation prediction. Lesson for copilot builders: run your own eval, pick your methodology deliberately, and name its biases.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Hard lesson number one. When we were first embedding SPECTER2, we made paper_embeddings an UNLOGGED table for write speed — about 15% faster bulk COPY performance. We embedded 32 million papers over several days. Roughly 100 GPU-hours. Then Postgres OOM'd because of an unrelated query. systemd restarted it. And UNLOGGED tables in Postgres are truncated on crash recovery. Not persisted. Gone. 32 million embeddings, 100 GPU-hours — all gone. Migration 023 fixes this permanently. paper_embeddings is LOGGED. The broader lesson: UNLOGGED is a write optimization for reconstructible data only. If you cannot cheaply re-derive it, it cannot be UNLOGGED. Every table I add now gets this decision made explicitly.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Lesson two: the gap between a naive and a tuned embedding pipeline is an order of magnitude. We started at 32 records per second with a naive synchronous loop — tokenize, GPU inference, INSERT, repeat. Adding multiprocessing — main process does tokenization and GPU inference, a dedicated writer process does binary COPY — bumped us to 180 rec/s. Switching from individual INSERTs to buffered binary COPY — another 2x to 380. Dropping the HNSW index during load and rebuilding after — final 508 rec/s. Caveat on UNLOGGED from the last slide: it's fine during bulk load for reconstructible intermediate state. The lesson is about data that persists. This matters because at 32 records/sec, embedding 32 million papers takes 11 days. At 508, it's 18 hours on a single RTX 5090. That is the difference between "feasible side project" and "nope".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Lesson three, from our entity-extraction pipeline. Our initial cost estimate for running Haiku-based extraction on 10K papers was around $10. Actual was ~$45. For the full 32M corpus, naive projection was $100-$3K. Premortem corrected estimate: $500 to $17K depending on prompt design. Why the gap? Prompt overhead dominates. A 500-token system prompt plus 500 tokens of paper plus extracting 50 tokens of structured output means you're paying for 1,000 input tokens per 50 output tokens. 20x overhead. Mitigations: prompt caching (Claude supports this, cuts repeat input cost 90%). Structured output via tool-calling. And at full scale, fine-tuning a smaller open-weight model on a few thousand Haiku-labeled examples probably wins on total cost. For research copilot builders — when you're estimating LLM bills, multiply your naive estimate by 3-5. And plan for caching from day one.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this is going. First: chunk-and-embed full text. We already have 14.9 million paper bodies ingested. Applying Anthropic's contextual retrieval pattern — prepending section context to chunks — projects a 35% reduction in retrieval failure. Second: graph-RAG via HippoRAG 2 — personalized PageRank over extracted concepts. The ICML 2025 paper showed 7% lift over dense retrieval at 10-30x lower cost. Our graph primitives plus entity extraction are halfway there. Third: better evaluation. 200+ queries, graded relevance, and agent-task evaluation — not just retrieval metrics, but end-to-end copilot quality. Fourth: upstream to ADS. The long-term vision is ADS serves embeddings and graph metrics as data products — compute once, serve to everyone. And an MCP endpoint alongside their REST API so agents don't have to re-harvest the corpus. Fifth: multi-corpus. The same MCP surface should work over arXiv, bioRxiv, APS — any discipline. The agent writes corpus-agnostic code.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take nothing else away, these seven. Set your corpus boundary deliberately — partial corpora give you structurally wrong graph analytics. Hybrid retrieval with RRF — each signal has predictable failure modes that the others cover. Graph primitives as first-class MCP tools — not an offline batch job. Session memory on the server, with provenance tags, not in the prompt. Tool count under 15. Compact stubs. Stable schemas. Own your eval. 50 queries minimum. Name your methodology bias. If you can, validate with expert judgments. And instrument everything. The agent-trace visualization I showed earlier is a 1-day build that pays dividends every time the agent behaves unexpectedly. Happy to go deeper on any of these in Q&amp;A.</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Happy to take questions. The repo is open source — full code, migrations, the MCP server. The MCP server is also running publicly at mcp.sjarmak.ai — you can point Claude Desktop or Cursor at it and try it. The paper is targeting ADASS 2026, arXiv preprint dropping soon. Email is the best way to reach 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828800"/>
            <a:ext cx="10972800" cy="2194560"/>
          </a:xfrm>
          <a:prstGeom prst="rect">
            <a:avLst/>
          </a:prstGeom>
          <a:noFill/>
        </p:spPr>
        <p:txBody>
          <a:bodyPr wrap="square" lIns="0" rIns="0" tIns="0" bIns="0" anchor="t">
            <a:spAutoFit/>
          </a:bodyPr>
          <a:lstStyle/>
          <a:p>
            <a:pPr algn="l"/>
            <a:r>
              <a:rPr sz="5200" b="1" i="0">
                <a:solidFill>
                  <a:srgbClr val="151B23"/>
                </a:solidFill>
                <a:latin typeface="Inter"/>
              </a:rPr>
              <a:t>Making Scientific Knowledge</a:t>
            </a:r>
          </a:p>
          <a:p>
            <a:pPr algn="l"/>
            <a:r>
              <a:rPr sz="5200" b="1" i="0">
                <a:solidFill>
                  <a:srgbClr val="151B23"/>
                </a:solidFill>
                <a:latin typeface="Inter"/>
              </a:rPr>
              <a:t>Navigable for Agents</a:t>
            </a:r>
          </a:p>
        </p:txBody>
      </p:sp>
      <p:sp>
        <p:nvSpPr>
          <p:cNvPr id="5" name="Rectangle 4"/>
          <p:cNvSpPr/>
          <p:nvPr/>
        </p:nvSpPr>
        <p:spPr>
          <a:xfrm>
            <a:off x="822960" y="3840480"/>
            <a:ext cx="1097280" cy="25400"/>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069080"/>
            <a:ext cx="10972800" cy="457200"/>
          </a:xfrm>
          <a:prstGeom prst="rect">
            <a:avLst/>
          </a:prstGeom>
          <a:noFill/>
        </p:spPr>
        <p:txBody>
          <a:bodyPr wrap="square" lIns="0" rIns="0" tIns="0" bIns="0" anchor="t">
            <a:spAutoFit/>
          </a:bodyPr>
          <a:lstStyle/>
          <a:p>
            <a:pPr algn="l"/>
            <a:r>
              <a:rPr sz="2200" b="1" i="0">
                <a:solidFill>
                  <a:srgbClr val="151B23"/>
                </a:solidFill>
                <a:latin typeface="Inter"/>
              </a:rPr>
              <a:t>Stephanie Jarmak</a:t>
            </a:r>
          </a:p>
        </p:txBody>
      </p:sp>
      <p:sp>
        <p:nvSpPr>
          <p:cNvPr id="7" name="TextBox 6"/>
          <p:cNvSpPr txBox="1"/>
          <p:nvPr/>
        </p:nvSpPr>
        <p:spPr>
          <a:xfrm>
            <a:off x="822960" y="4480560"/>
            <a:ext cx="10972800" cy="411480"/>
          </a:xfrm>
          <a:prstGeom prst="rect">
            <a:avLst/>
          </a:prstGeom>
          <a:noFill/>
        </p:spPr>
        <p:txBody>
          <a:bodyPr wrap="square" lIns="0" rIns="0" tIns="0" bIns="0" anchor="t">
            <a:spAutoFit/>
          </a:bodyPr>
          <a:lstStyle/>
          <a:p>
            <a:pPr algn="l"/>
            <a:r>
              <a:rPr sz="1600" b="0" i="0">
                <a:solidFill>
                  <a:srgbClr val="4B5563"/>
                </a:solidFill>
                <a:latin typeface="Inter"/>
              </a:rPr>
              <a:t>Sourcegraph  ·  Harvard &amp; Smithsonian | Center for Astrophysics</a:t>
            </a:r>
          </a:p>
        </p:txBody>
      </p:sp>
      <p:sp>
        <p:nvSpPr>
          <p:cNvPr id="8" name="TextBox 7"/>
          <p:cNvSpPr txBox="1"/>
          <p:nvPr/>
        </p:nvSpPr>
        <p:spPr>
          <a:xfrm>
            <a:off x="822960" y="6035040"/>
            <a:ext cx="10972800" cy="365760"/>
          </a:xfrm>
          <a:prstGeom prst="rect">
            <a:avLst/>
          </a:prstGeom>
          <a:noFill/>
        </p:spPr>
        <p:txBody>
          <a:bodyPr wrap="square" lIns="0" rIns="0" tIns="0" bIns="0" anchor="t">
            <a:spAutoFit/>
          </a:bodyPr>
          <a:lstStyle/>
          <a:p>
            <a:pPr algn="l"/>
            <a:r>
              <a:rPr sz="1400" b="0" i="1">
                <a:solidFill>
                  <a:srgbClr val="0B4A9E"/>
                </a:solidFill>
                <a:latin typeface="Inter"/>
              </a:rPr>
              <a:t>MLOps Community · Research Copilot Workshop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1247120" cy="731520"/>
          </a:xfrm>
          <a:prstGeom prst="rect">
            <a:avLst/>
          </a:prstGeom>
          <a:noFill/>
        </p:spPr>
        <p:txBody>
          <a:bodyPr wrap="square" lIns="0" rIns="0" tIns="0" bIns="0" anchor="t">
            <a:spAutoFit/>
          </a:bodyPr>
          <a:lstStyle/>
          <a:p>
            <a:pPr algn="l"/>
            <a:r>
              <a:rPr sz="3200" b="1" i="0">
                <a:solidFill>
                  <a:srgbClr val="151B23"/>
                </a:solidFill>
                <a:latin typeface="Inter"/>
              </a:rPr>
              <a:t>Researchers drown in literature. Agents could help — but not with today's tools.</a:t>
            </a:r>
          </a:p>
        </p:txBody>
      </p:sp>
      <p:sp>
        <p:nvSpPr>
          <p:cNvPr id="4" name="Rectangle 3"/>
          <p:cNvSpPr/>
          <p:nvPr/>
        </p:nvSpPr>
        <p:spPr>
          <a:xfrm>
            <a:off x="457200" y="1234440"/>
            <a:ext cx="731520" cy="25400"/>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0"/>
            <a:ext cx="3200400" cy="1188720"/>
          </a:xfrm>
          <a:prstGeom prst="rect">
            <a:avLst/>
          </a:prstGeom>
          <a:noFill/>
        </p:spPr>
        <p:txBody>
          <a:bodyPr wrap="square" lIns="0" rIns="0" tIns="0" bIns="0" anchor="t">
            <a:spAutoFit/>
          </a:bodyPr>
          <a:lstStyle/>
          <a:p>
            <a:pPr algn="ctr"/>
            <a:r>
              <a:rPr sz="6000" b="1" i="0">
                <a:solidFill>
                  <a:srgbClr val="0B4A9E"/>
                </a:solidFill>
                <a:latin typeface="Inter"/>
              </a:rPr>
              <a:t>3M+</a:t>
            </a:r>
          </a:p>
        </p:txBody>
      </p:sp>
      <p:sp>
        <p:nvSpPr>
          <p:cNvPr id="6" name="TextBox 5"/>
          <p:cNvSpPr txBox="1"/>
          <p:nvPr/>
        </p:nvSpPr>
        <p:spPr>
          <a:xfrm>
            <a:off x="457200" y="3200400"/>
            <a:ext cx="3200400" cy="457200"/>
          </a:xfrm>
          <a:prstGeom prst="rect">
            <a:avLst/>
          </a:prstGeom>
          <a:noFill/>
        </p:spPr>
        <p:txBody>
          <a:bodyPr wrap="square" lIns="0" rIns="0" tIns="0" bIns="0" anchor="t">
            <a:spAutoFit/>
          </a:bodyPr>
          <a:lstStyle/>
          <a:p>
            <a:pPr algn="ctr"/>
            <a:r>
              <a:rPr sz="1600" b="0" i="0">
                <a:solidFill>
                  <a:srgbClr val="151B23"/>
                </a:solidFill>
                <a:latin typeface="Inter"/>
              </a:rPr>
              <a:t>scientific papers published per year</a:t>
            </a:r>
          </a:p>
        </p:txBody>
      </p:sp>
      <p:sp>
        <p:nvSpPr>
          <p:cNvPr id="7" name="TextBox 6"/>
          <p:cNvSpPr txBox="1"/>
          <p:nvPr/>
        </p:nvSpPr>
        <p:spPr>
          <a:xfrm>
            <a:off x="457200" y="3657600"/>
            <a:ext cx="3200400" cy="365760"/>
          </a:xfrm>
          <a:prstGeom prst="rect">
            <a:avLst/>
          </a:prstGeom>
          <a:noFill/>
        </p:spPr>
        <p:txBody>
          <a:bodyPr wrap="square" lIns="0" rIns="0" tIns="0" bIns="0" anchor="t">
            <a:spAutoFit/>
          </a:bodyPr>
          <a:lstStyle/>
          <a:p>
            <a:pPr algn="ctr"/>
            <a:r>
              <a:rPr sz="1200" b="0" i="1">
                <a:solidFill>
                  <a:srgbClr val="6B7280"/>
                </a:solidFill>
                <a:latin typeface="Inter"/>
              </a:rPr>
              <a:t>and doubling every ~12 years</a:t>
            </a:r>
          </a:p>
        </p:txBody>
      </p:sp>
      <p:sp>
        <p:nvSpPr>
          <p:cNvPr id="8" name="TextBox 7"/>
          <p:cNvSpPr txBox="1"/>
          <p:nvPr/>
        </p:nvSpPr>
        <p:spPr>
          <a:xfrm>
            <a:off x="4480560" y="2011680"/>
            <a:ext cx="3200400" cy="1188720"/>
          </a:xfrm>
          <a:prstGeom prst="rect">
            <a:avLst/>
          </a:prstGeom>
          <a:noFill/>
        </p:spPr>
        <p:txBody>
          <a:bodyPr wrap="square" lIns="0" rIns="0" tIns="0" bIns="0" anchor="t">
            <a:spAutoFit/>
          </a:bodyPr>
          <a:lstStyle/>
          <a:p>
            <a:pPr algn="ctr"/>
            <a:r>
              <a:rPr sz="6000" b="1" i="0">
                <a:solidFill>
                  <a:srgbClr val="0B4A9E"/>
                </a:solidFill>
                <a:latin typeface="Inter"/>
              </a:rPr>
              <a:t>20–30%</a:t>
            </a:r>
          </a:p>
        </p:txBody>
      </p:sp>
      <p:sp>
        <p:nvSpPr>
          <p:cNvPr id="9" name="TextBox 8"/>
          <p:cNvSpPr txBox="1"/>
          <p:nvPr/>
        </p:nvSpPr>
        <p:spPr>
          <a:xfrm>
            <a:off x="4480560" y="3200400"/>
            <a:ext cx="3200400" cy="457200"/>
          </a:xfrm>
          <a:prstGeom prst="rect">
            <a:avLst/>
          </a:prstGeom>
          <a:noFill/>
        </p:spPr>
        <p:txBody>
          <a:bodyPr wrap="square" lIns="0" rIns="0" tIns="0" bIns="0" anchor="t">
            <a:spAutoFit/>
          </a:bodyPr>
          <a:lstStyle/>
          <a:p>
            <a:pPr algn="ctr"/>
            <a:r>
              <a:rPr sz="1600" b="0" i="0">
                <a:solidFill>
                  <a:srgbClr val="151B23"/>
                </a:solidFill>
                <a:latin typeface="Inter"/>
              </a:rPr>
              <a:t>of a researcher's time</a:t>
            </a:r>
          </a:p>
        </p:txBody>
      </p:sp>
      <p:sp>
        <p:nvSpPr>
          <p:cNvPr id="10" name="TextBox 9"/>
          <p:cNvSpPr txBox="1"/>
          <p:nvPr/>
        </p:nvSpPr>
        <p:spPr>
          <a:xfrm>
            <a:off x="4480560" y="3657600"/>
            <a:ext cx="3200400" cy="365760"/>
          </a:xfrm>
          <a:prstGeom prst="rect">
            <a:avLst/>
          </a:prstGeom>
          <a:noFill/>
        </p:spPr>
        <p:txBody>
          <a:bodyPr wrap="square" lIns="0" rIns="0" tIns="0" bIns="0" anchor="t">
            <a:spAutoFit/>
          </a:bodyPr>
          <a:lstStyle/>
          <a:p>
            <a:pPr algn="ctr"/>
            <a:r>
              <a:rPr sz="1200" b="0" i="1">
                <a:solidFill>
                  <a:srgbClr val="6B7280"/>
                </a:solidFill>
                <a:latin typeface="Inter"/>
              </a:rPr>
              <a:t>spent on literature search</a:t>
            </a:r>
          </a:p>
        </p:txBody>
      </p:sp>
      <p:sp>
        <p:nvSpPr>
          <p:cNvPr id="11" name="TextBox 10"/>
          <p:cNvSpPr txBox="1"/>
          <p:nvPr/>
        </p:nvSpPr>
        <p:spPr>
          <a:xfrm>
            <a:off x="8503920" y="2011680"/>
            <a:ext cx="3200400" cy="1188720"/>
          </a:xfrm>
          <a:prstGeom prst="rect">
            <a:avLst/>
          </a:prstGeom>
          <a:noFill/>
        </p:spPr>
        <p:txBody>
          <a:bodyPr wrap="square" lIns="0" rIns="0" tIns="0" bIns="0" anchor="t">
            <a:spAutoFit/>
          </a:bodyPr>
          <a:lstStyle/>
          <a:p>
            <a:pPr algn="ctr"/>
            <a:r>
              <a:rPr sz="6000" b="1" i="0">
                <a:solidFill>
                  <a:srgbClr val="0B4A9E"/>
                </a:solidFill>
                <a:latin typeface="Inter"/>
              </a:rPr>
              <a:t>~10</a:t>
            </a:r>
          </a:p>
        </p:txBody>
      </p:sp>
      <p:sp>
        <p:nvSpPr>
          <p:cNvPr id="12" name="TextBox 11"/>
          <p:cNvSpPr txBox="1"/>
          <p:nvPr/>
        </p:nvSpPr>
        <p:spPr>
          <a:xfrm>
            <a:off x="8503920" y="3200400"/>
            <a:ext cx="3200400" cy="457200"/>
          </a:xfrm>
          <a:prstGeom prst="rect">
            <a:avLst/>
          </a:prstGeom>
          <a:noFill/>
        </p:spPr>
        <p:txBody>
          <a:bodyPr wrap="square" lIns="0" rIns="0" tIns="0" bIns="0" anchor="t">
            <a:spAutoFit/>
          </a:bodyPr>
          <a:lstStyle/>
          <a:p>
            <a:pPr algn="ctr"/>
            <a:r>
              <a:rPr sz="1600" b="0" i="0">
                <a:solidFill>
                  <a:srgbClr val="151B23"/>
                </a:solidFill>
                <a:latin typeface="Inter"/>
              </a:rPr>
              <a:t>results per search query</a:t>
            </a:r>
          </a:p>
        </p:txBody>
      </p:sp>
      <p:sp>
        <p:nvSpPr>
          <p:cNvPr id="13" name="TextBox 12"/>
          <p:cNvSpPr txBox="1"/>
          <p:nvPr/>
        </p:nvSpPr>
        <p:spPr>
          <a:xfrm>
            <a:off x="8503920" y="3657600"/>
            <a:ext cx="3200400" cy="365760"/>
          </a:xfrm>
          <a:prstGeom prst="rect">
            <a:avLst/>
          </a:prstGeom>
          <a:noFill/>
        </p:spPr>
        <p:txBody>
          <a:bodyPr wrap="square" lIns="0" rIns="0" tIns="0" bIns="0" anchor="t">
            <a:spAutoFit/>
          </a:bodyPr>
          <a:lstStyle/>
          <a:p>
            <a:pPr algn="ctr"/>
            <a:r>
              <a:rPr sz="1200" b="0" i="1">
                <a:solidFill>
                  <a:srgbClr val="6B7280"/>
                </a:solidFill>
                <a:latin typeface="Inter"/>
              </a:rPr>
              <a:t>no graph, no memory, no structure</a:t>
            </a:r>
          </a:p>
        </p:txBody>
      </p:sp>
      <p:sp>
        <p:nvSpPr>
          <p:cNvPr id="14" name="TextBox 13"/>
          <p:cNvSpPr txBox="1"/>
          <p:nvPr/>
        </p:nvSpPr>
        <p:spPr>
          <a:xfrm>
            <a:off x="457200" y="5120640"/>
            <a:ext cx="11247120" cy="548640"/>
          </a:xfrm>
          <a:prstGeom prst="rect">
            <a:avLst/>
          </a:prstGeom>
          <a:noFill/>
        </p:spPr>
        <p:txBody>
          <a:bodyPr wrap="square" lIns="0" rIns="0" tIns="0" bIns="0" anchor="t">
            <a:spAutoFit/>
          </a:bodyPr>
          <a:lstStyle/>
          <a:p>
            <a:pPr algn="ctr"/>
            <a:r>
              <a:rPr sz="1800" b="0" i="1">
                <a:solidFill>
                  <a:srgbClr val="4B5563"/>
                </a:solidFill>
                <a:latin typeface="Inter"/>
              </a:rPr>
              <a:t>A research copilot built on vanilla search is stuck with the same primitives as the human — scaled up.</a:t>
            </a:r>
          </a:p>
        </p:txBody>
      </p:sp>
      <p:sp>
        <p:nvSpPr>
          <p:cNvPr id="15" name="TextBox 14"/>
          <p:cNvSpPr txBox="1"/>
          <p:nvPr/>
        </p:nvSpPr>
        <p:spPr>
          <a:xfrm>
            <a:off x="457200" y="6492240"/>
            <a:ext cx="9144000" cy="274320"/>
          </a:xfrm>
          <a:prstGeom prst="rect">
            <a:avLst/>
          </a:prstGeom>
          <a:noFill/>
        </p:spPr>
        <p:txBody>
          <a:bodyPr wrap="square" lIns="0" rIns="0" tIns="0" bIns="0" anchor="t">
            <a:spAutoFit/>
          </a:bodyPr>
          <a:lstStyle/>
          <a:p>
            <a:pPr algn="l"/>
            <a:r>
              <a:rPr sz="1000" b="0" i="0">
                <a:solidFill>
                  <a:srgbClr val="6B7280"/>
                </a:solidFill>
                <a:latin typeface="Inter"/>
              </a:rPr>
              <a:t>Stephanie Jarmak  ·  MLOps Community  ·  Making Scientific Knowledge Navigable for Agents</a:t>
            </a:r>
          </a:p>
        </p:txBody>
      </p:sp>
      <p:sp>
        <p:nvSpPr>
          <p:cNvPr id="16" name="TextBox 15"/>
          <p:cNvSpPr txBox="1"/>
          <p:nvPr/>
        </p:nvSpPr>
        <p:spPr>
          <a:xfrm>
            <a:off x="11247120" y="6492240"/>
            <a:ext cx="731520" cy="274320"/>
          </a:xfrm>
          <a:prstGeom prst="rect">
            <a:avLst/>
          </a:prstGeom>
          <a:noFill/>
        </p:spPr>
        <p:txBody>
          <a:bodyPr wrap="square" lIns="0" rIns="0" tIns="0" bIns="0" anchor="t">
            <a:spAutoFit/>
          </a:bodyPr>
          <a:lstStyle/>
          <a:p>
            <a:pPr algn="r"/>
            <a:r>
              <a:rPr sz="1000" b="0" i="0">
                <a:solidFill>
                  <a:srgbClr val="6B7280"/>
                </a:solidFill>
                <a:latin typeface="Inter"/>
              </a:rPr>
              <a:t>2 / 30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1247120" cy="731520"/>
          </a:xfrm>
          <a:prstGeom prst="rect">
            <a:avLst/>
          </a:prstGeom>
          <a:noFill/>
        </p:spPr>
        <p:txBody>
          <a:bodyPr wrap="square" lIns="0" rIns="0" tIns="0" bIns="0" anchor="t">
            <a:spAutoFit/>
          </a:bodyPr>
          <a:lstStyle/>
          <a:p>
            <a:pPr algn="l"/>
            <a:r>
              <a:rPr sz="3200" b="1" i="0">
                <a:solidFill>
                  <a:srgbClr val="151B23"/>
                </a:solidFill>
                <a:latin typeface="Inter"/>
              </a:rPr>
              <a:t>What "navigable" means for an agent</a:t>
            </a:r>
          </a:p>
        </p:txBody>
      </p:sp>
      <p:sp>
        <p:nvSpPr>
          <p:cNvPr id="4" name="Rectangle 3"/>
          <p:cNvSpPr/>
          <p:nvPr/>
        </p:nvSpPr>
        <p:spPr>
          <a:xfrm>
            <a:off x="457200" y="1234440"/>
            <a:ext cx="731520" cy="25400"/>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11247120" cy="457200"/>
          </a:xfrm>
          <a:prstGeom prst="rect">
            <a:avLst/>
          </a:prstGeom>
          <a:noFill/>
        </p:spPr>
        <p:txBody>
          <a:bodyPr wrap="square" lIns="0" rIns="0" tIns="0" bIns="0" anchor="t">
            <a:spAutoFit/>
          </a:bodyPr>
          <a:lstStyle/>
          <a:p>
            <a:pPr algn="l"/>
            <a:r>
              <a:rPr sz="1600" b="0" i="1">
                <a:solidFill>
                  <a:srgbClr val="4B5563"/>
                </a:solidFill>
                <a:latin typeface="Inter"/>
              </a:rPr>
              <a:t>Agents need different primitives than human searchers</a:t>
            </a:r>
          </a:p>
        </p:txBody>
      </p:sp>
      <p:sp>
        <p:nvSpPr>
          <p:cNvPr id="6" name="TextBox 5"/>
          <p:cNvSpPr txBox="1"/>
          <p:nvPr/>
        </p:nvSpPr>
        <p:spPr>
          <a:xfrm>
            <a:off x="548640" y="1828800"/>
            <a:ext cx="5303520" cy="457200"/>
          </a:xfrm>
          <a:prstGeom prst="rect">
            <a:avLst/>
          </a:prstGeom>
          <a:noFill/>
        </p:spPr>
        <p:txBody>
          <a:bodyPr wrap="square" lIns="0" rIns="0" tIns="0" bIns="0" anchor="t">
            <a:spAutoFit/>
          </a:bodyPr>
          <a:lstStyle/>
          <a:p>
            <a:pPr algn="l"/>
            <a:r>
              <a:rPr sz="2000" b="1" i="0">
                <a:solidFill>
                  <a:srgbClr val="6B7280"/>
                </a:solidFill>
                <a:latin typeface="Inter"/>
              </a:rPr>
              <a:t>Human searcher</a:t>
            </a:r>
          </a:p>
        </p:txBody>
      </p:sp>
      <p:sp>
        <p:nvSpPr>
          <p:cNvPr id="7" name="Rectangle 6"/>
          <p:cNvSpPr/>
          <p:nvPr/>
        </p:nvSpPr>
        <p:spPr>
          <a:xfrm>
            <a:off x="548640" y="2331720"/>
            <a:ext cx="548640" cy="25400"/>
          </a:xfrm>
          <a:prstGeom prst="rect">
            <a:avLst/>
          </a:pr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651760"/>
            <a:ext cx="5303520" cy="320040"/>
          </a:xfrm>
          <a:prstGeom prst="rect">
            <a:avLst/>
          </a:prstGeom>
          <a:noFill/>
        </p:spPr>
        <p:txBody>
          <a:bodyPr wrap="square" lIns="0" rIns="0" tIns="0" bIns="0" anchor="t">
            <a:spAutoFit/>
          </a:bodyPr>
          <a:lstStyle/>
          <a:p>
            <a:pPr algn="l"/>
            <a:r>
              <a:rPr sz="1500" b="1" i="0">
                <a:solidFill>
                  <a:srgbClr val="151B23"/>
                </a:solidFill>
                <a:latin typeface="Inter"/>
              </a:rPr>
              <a:t>Ranked list</a:t>
            </a:r>
          </a:p>
        </p:txBody>
      </p:sp>
      <p:sp>
        <p:nvSpPr>
          <p:cNvPr id="9" name="TextBox 8"/>
          <p:cNvSpPr txBox="1"/>
          <p:nvPr/>
        </p:nvSpPr>
        <p:spPr>
          <a:xfrm>
            <a:off x="548640" y="2971800"/>
            <a:ext cx="5303520" cy="502920"/>
          </a:xfrm>
          <a:prstGeom prst="rect">
            <a:avLst/>
          </a:prstGeom>
          <a:noFill/>
        </p:spPr>
        <p:txBody>
          <a:bodyPr wrap="square" lIns="0" rIns="0" tIns="0" bIns="0" anchor="t">
            <a:spAutoFit/>
          </a:bodyPr>
          <a:lstStyle/>
          <a:p>
            <a:pPr algn="l"/>
            <a:r>
              <a:rPr sz="1300" b="0" i="0">
                <a:solidFill>
                  <a:srgbClr val="4B5563"/>
                </a:solidFill>
                <a:latin typeface="Inter"/>
              </a:rPr>
              <a:t>Scans titles, opens a few, satisfied.</a:t>
            </a:r>
          </a:p>
        </p:txBody>
      </p:sp>
      <p:sp>
        <p:nvSpPr>
          <p:cNvPr id="10" name="TextBox 9"/>
          <p:cNvSpPr txBox="1"/>
          <p:nvPr/>
        </p:nvSpPr>
        <p:spPr>
          <a:xfrm>
            <a:off x="548640" y="3520440"/>
            <a:ext cx="5303520" cy="320040"/>
          </a:xfrm>
          <a:prstGeom prst="rect">
            <a:avLst/>
          </a:prstGeom>
          <a:noFill/>
        </p:spPr>
        <p:txBody>
          <a:bodyPr wrap="square" lIns="0" rIns="0" tIns="0" bIns="0" anchor="t">
            <a:spAutoFit/>
          </a:bodyPr>
          <a:lstStyle/>
          <a:p>
            <a:pPr algn="l"/>
            <a:r>
              <a:rPr sz="1500" b="1" i="0">
                <a:solidFill>
                  <a:srgbClr val="151B23"/>
                </a:solidFill>
                <a:latin typeface="Inter"/>
              </a:rPr>
              <a:t>One-shot query</a:t>
            </a:r>
          </a:p>
        </p:txBody>
      </p:sp>
      <p:sp>
        <p:nvSpPr>
          <p:cNvPr id="11" name="TextBox 10"/>
          <p:cNvSpPr txBox="1"/>
          <p:nvPr/>
        </p:nvSpPr>
        <p:spPr>
          <a:xfrm>
            <a:off x="548640" y="3840480"/>
            <a:ext cx="5303520" cy="502920"/>
          </a:xfrm>
          <a:prstGeom prst="rect">
            <a:avLst/>
          </a:prstGeom>
          <a:noFill/>
        </p:spPr>
        <p:txBody>
          <a:bodyPr wrap="square" lIns="0" rIns="0" tIns="0" bIns="0" anchor="t">
            <a:spAutoFit/>
          </a:bodyPr>
          <a:lstStyle/>
          <a:p>
            <a:pPr algn="l"/>
            <a:r>
              <a:rPr sz="1300" b="0" i="0">
                <a:solidFill>
                  <a:srgbClr val="4B5563"/>
                </a:solidFill>
                <a:latin typeface="Inter"/>
              </a:rPr>
              <a:t>Session state lives in the researcher's head.</a:t>
            </a:r>
          </a:p>
        </p:txBody>
      </p:sp>
      <p:sp>
        <p:nvSpPr>
          <p:cNvPr id="12" name="TextBox 11"/>
          <p:cNvSpPr txBox="1"/>
          <p:nvPr/>
        </p:nvSpPr>
        <p:spPr>
          <a:xfrm>
            <a:off x="548640" y="4389120"/>
            <a:ext cx="5303520" cy="320040"/>
          </a:xfrm>
          <a:prstGeom prst="rect">
            <a:avLst/>
          </a:prstGeom>
          <a:noFill/>
        </p:spPr>
        <p:txBody>
          <a:bodyPr wrap="square" lIns="0" rIns="0" tIns="0" bIns="0" anchor="t">
            <a:spAutoFit/>
          </a:bodyPr>
          <a:lstStyle/>
          <a:p>
            <a:pPr algn="l"/>
            <a:r>
              <a:rPr sz="1500" b="1" i="0">
                <a:solidFill>
                  <a:srgbClr val="151B23"/>
                </a:solidFill>
                <a:latin typeface="Inter"/>
              </a:rPr>
              <a:t>Visual cues</a:t>
            </a:r>
          </a:p>
        </p:txBody>
      </p:sp>
      <p:sp>
        <p:nvSpPr>
          <p:cNvPr id="13" name="TextBox 12"/>
          <p:cNvSpPr txBox="1"/>
          <p:nvPr/>
        </p:nvSpPr>
        <p:spPr>
          <a:xfrm>
            <a:off x="548640" y="4709160"/>
            <a:ext cx="5303520" cy="502920"/>
          </a:xfrm>
          <a:prstGeom prst="rect">
            <a:avLst/>
          </a:prstGeom>
          <a:noFill/>
        </p:spPr>
        <p:txBody>
          <a:bodyPr wrap="square" lIns="0" rIns="0" tIns="0" bIns="0" anchor="t">
            <a:spAutoFit/>
          </a:bodyPr>
          <a:lstStyle/>
          <a:p>
            <a:pPr algn="l"/>
            <a:r>
              <a:rPr sz="1300" b="0" i="0">
                <a:solidFill>
                  <a:srgbClr val="4B5563"/>
                </a:solidFill>
                <a:latin typeface="Inter"/>
              </a:rPr>
              <a:t>Journal, authors, year, formatting.</a:t>
            </a:r>
          </a:p>
        </p:txBody>
      </p:sp>
      <p:sp>
        <p:nvSpPr>
          <p:cNvPr id="14" name="TextBox 13"/>
          <p:cNvSpPr txBox="1"/>
          <p:nvPr/>
        </p:nvSpPr>
        <p:spPr>
          <a:xfrm>
            <a:off x="548640" y="5257799"/>
            <a:ext cx="5303520" cy="320040"/>
          </a:xfrm>
          <a:prstGeom prst="rect">
            <a:avLst/>
          </a:prstGeom>
          <a:noFill/>
        </p:spPr>
        <p:txBody>
          <a:bodyPr wrap="square" lIns="0" rIns="0" tIns="0" bIns="0" anchor="t">
            <a:spAutoFit/>
          </a:bodyPr>
          <a:lstStyle/>
          <a:p>
            <a:pPr algn="l"/>
            <a:r>
              <a:rPr sz="1500" b="1" i="0">
                <a:solidFill>
                  <a:srgbClr val="151B23"/>
                </a:solidFill>
                <a:latin typeface="Inter"/>
              </a:rPr>
              <a:t>Stops when tired</a:t>
            </a:r>
          </a:p>
        </p:txBody>
      </p:sp>
      <p:sp>
        <p:nvSpPr>
          <p:cNvPr id="15" name="TextBox 14"/>
          <p:cNvSpPr txBox="1"/>
          <p:nvPr/>
        </p:nvSpPr>
        <p:spPr>
          <a:xfrm>
            <a:off x="548640" y="5577839"/>
            <a:ext cx="5303520" cy="502920"/>
          </a:xfrm>
          <a:prstGeom prst="rect">
            <a:avLst/>
          </a:prstGeom>
          <a:noFill/>
        </p:spPr>
        <p:txBody>
          <a:bodyPr wrap="square" lIns="0" rIns="0" tIns="0" bIns="0" anchor="t">
            <a:spAutoFit/>
          </a:bodyPr>
          <a:lstStyle/>
          <a:p>
            <a:pPr algn="l"/>
            <a:r>
              <a:rPr sz="1300" b="0" i="0">
                <a:solidFill>
                  <a:srgbClr val="4B5563"/>
                </a:solidFill>
                <a:latin typeface="Inter"/>
              </a:rPr>
              <a:t>Implicit budget, intuition-driven.</a:t>
            </a:r>
          </a:p>
        </p:txBody>
      </p:sp>
      <p:sp>
        <p:nvSpPr>
          <p:cNvPr id="16" name="TextBox 15"/>
          <p:cNvSpPr txBox="1"/>
          <p:nvPr/>
        </p:nvSpPr>
        <p:spPr>
          <a:xfrm>
            <a:off x="6309360" y="1828800"/>
            <a:ext cx="5303520" cy="457200"/>
          </a:xfrm>
          <a:prstGeom prst="rect">
            <a:avLst/>
          </a:prstGeom>
          <a:noFill/>
        </p:spPr>
        <p:txBody>
          <a:bodyPr wrap="square" lIns="0" rIns="0" tIns="0" bIns="0" anchor="t">
            <a:spAutoFit/>
          </a:bodyPr>
          <a:lstStyle/>
          <a:p>
            <a:pPr algn="l"/>
            <a:r>
              <a:rPr sz="2000" b="1" i="0">
                <a:solidFill>
                  <a:srgbClr val="0B4A9E"/>
                </a:solidFill>
                <a:latin typeface="Inter"/>
              </a:rPr>
              <a:t>Agent</a:t>
            </a:r>
          </a:p>
        </p:txBody>
      </p:sp>
      <p:sp>
        <p:nvSpPr>
          <p:cNvPr id="17" name="Rectangle 16"/>
          <p:cNvSpPr/>
          <p:nvPr/>
        </p:nvSpPr>
        <p:spPr>
          <a:xfrm>
            <a:off x="6309360" y="2331720"/>
            <a:ext cx="548640" cy="25400"/>
          </a:xfrm>
          <a:prstGeom prst="rect">
            <a:avLst/>
          </a:prstGeom>
          <a:solidFill>
            <a:srgbClr val="0B4A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2651760"/>
            <a:ext cx="5303520" cy="320040"/>
          </a:xfrm>
          <a:prstGeom prst="rect">
            <a:avLst/>
          </a:prstGeom>
          <a:noFill/>
        </p:spPr>
        <p:txBody>
          <a:bodyPr wrap="square" lIns="0" rIns="0" tIns="0" bIns="0" anchor="t">
            <a:spAutoFit/>
          </a:bodyPr>
          <a:lstStyle/>
          <a:p>
            <a:pPr algn="l"/>
            <a:r>
              <a:rPr sz="1500" b="1" i="0">
                <a:solidFill>
                  <a:srgbClr val="151B23"/>
                </a:solidFill>
                <a:latin typeface="Inter"/>
              </a:rPr>
              <a:t>Graph topology</a:t>
            </a:r>
          </a:p>
        </p:txBody>
      </p:sp>
      <p:sp>
        <p:nvSpPr>
          <p:cNvPr id="19" name="TextBox 18"/>
          <p:cNvSpPr txBox="1"/>
          <p:nvPr/>
        </p:nvSpPr>
        <p:spPr>
          <a:xfrm>
            <a:off x="6309360" y="2971800"/>
            <a:ext cx="5303520" cy="502920"/>
          </a:xfrm>
          <a:prstGeom prst="rect">
            <a:avLst/>
          </a:prstGeom>
          <a:noFill/>
        </p:spPr>
        <p:txBody>
          <a:bodyPr wrap="square" lIns="0" rIns="0" tIns="0" bIns="0" anchor="t">
            <a:spAutoFit/>
          </a:bodyPr>
          <a:lstStyle/>
          <a:p>
            <a:pPr algn="l"/>
            <a:r>
              <a:rPr sz="1300" b="0" i="0">
                <a:solidFill>
                  <a:srgbClr val="4B5563"/>
                </a:solidFill>
                <a:latin typeface="Inter"/>
              </a:rPr>
              <a:t>Which papers bridge communities? Which are foundational?</a:t>
            </a:r>
          </a:p>
        </p:txBody>
      </p:sp>
      <p:sp>
        <p:nvSpPr>
          <p:cNvPr id="20" name="TextBox 19"/>
          <p:cNvSpPr txBox="1"/>
          <p:nvPr/>
        </p:nvSpPr>
        <p:spPr>
          <a:xfrm>
            <a:off x="6309360" y="3520440"/>
            <a:ext cx="5303520" cy="320040"/>
          </a:xfrm>
          <a:prstGeom prst="rect">
            <a:avLst/>
          </a:prstGeom>
          <a:noFill/>
        </p:spPr>
        <p:txBody>
          <a:bodyPr wrap="square" lIns="0" rIns="0" tIns="0" bIns="0" anchor="t">
            <a:spAutoFit/>
          </a:bodyPr>
          <a:lstStyle/>
          <a:p>
            <a:pPr algn="l"/>
            <a:r>
              <a:rPr sz="1500" b="1" i="0">
                <a:solidFill>
                  <a:srgbClr val="151B23"/>
                </a:solidFill>
                <a:latin typeface="Inter"/>
              </a:rPr>
              <a:t>Session working set</a:t>
            </a:r>
          </a:p>
        </p:txBody>
      </p:sp>
      <p:sp>
        <p:nvSpPr>
          <p:cNvPr id="21" name="TextBox 20"/>
          <p:cNvSpPr txBox="1"/>
          <p:nvPr/>
        </p:nvSpPr>
        <p:spPr>
          <a:xfrm>
            <a:off x="6309360" y="3840480"/>
            <a:ext cx="5303520" cy="502920"/>
          </a:xfrm>
          <a:prstGeom prst="rect">
            <a:avLst/>
          </a:prstGeom>
          <a:noFill/>
        </p:spPr>
        <p:txBody>
          <a:bodyPr wrap="square" lIns="0" rIns="0" tIns="0" bIns="0" anchor="t">
            <a:spAutoFit/>
          </a:bodyPr>
          <a:lstStyle/>
          <a:p>
            <a:pPr algn="l"/>
            <a:r>
              <a:rPr sz="1300" b="0" i="0">
                <a:solidFill>
                  <a:srgbClr val="4B5563"/>
                </a:solidFill>
                <a:latin typeface="Inter"/>
              </a:rPr>
              <a:t>Accumulates, dedupes, tags, reasons across turns.</a:t>
            </a:r>
          </a:p>
        </p:txBody>
      </p:sp>
      <p:sp>
        <p:nvSpPr>
          <p:cNvPr id="22" name="TextBox 21"/>
          <p:cNvSpPr txBox="1"/>
          <p:nvPr/>
        </p:nvSpPr>
        <p:spPr>
          <a:xfrm>
            <a:off x="6309360" y="4389120"/>
            <a:ext cx="5303520" cy="320040"/>
          </a:xfrm>
          <a:prstGeom prst="rect">
            <a:avLst/>
          </a:prstGeom>
          <a:noFill/>
        </p:spPr>
        <p:txBody>
          <a:bodyPr wrap="square" lIns="0" rIns="0" tIns="0" bIns="0" anchor="t">
            <a:spAutoFit/>
          </a:bodyPr>
          <a:lstStyle/>
          <a:p>
            <a:pPr algn="l"/>
            <a:r>
              <a:rPr sz="1500" b="1" i="0">
                <a:solidFill>
                  <a:srgbClr val="151B23"/>
                </a:solidFill>
                <a:latin typeface="Inter"/>
              </a:rPr>
              <a:t>Structured returns</a:t>
            </a:r>
          </a:p>
        </p:txBody>
      </p:sp>
      <p:sp>
        <p:nvSpPr>
          <p:cNvPr id="23" name="TextBox 22"/>
          <p:cNvSpPr txBox="1"/>
          <p:nvPr/>
        </p:nvSpPr>
        <p:spPr>
          <a:xfrm>
            <a:off x="6309360" y="4709160"/>
            <a:ext cx="5303520" cy="502920"/>
          </a:xfrm>
          <a:prstGeom prst="rect">
            <a:avLst/>
          </a:prstGeom>
          <a:noFill/>
        </p:spPr>
        <p:txBody>
          <a:bodyPr wrap="square" lIns="0" rIns="0" tIns="0" bIns="0" anchor="t">
            <a:spAutoFit/>
          </a:bodyPr>
          <a:lstStyle/>
          <a:p>
            <a:pPr algn="l"/>
            <a:r>
              <a:rPr sz="1300" b="0" i="0">
                <a:solidFill>
                  <a:srgbClr val="4B5563"/>
                </a:solidFill>
                <a:latin typeface="Inter"/>
              </a:rPr>
              <a:t>Bibcodes, IDs, community labels, provenance.</a:t>
            </a:r>
          </a:p>
        </p:txBody>
      </p:sp>
      <p:sp>
        <p:nvSpPr>
          <p:cNvPr id="24" name="TextBox 23"/>
          <p:cNvSpPr txBox="1"/>
          <p:nvPr/>
        </p:nvSpPr>
        <p:spPr>
          <a:xfrm>
            <a:off x="6309360" y="5257799"/>
            <a:ext cx="5303520" cy="320040"/>
          </a:xfrm>
          <a:prstGeom prst="rect">
            <a:avLst/>
          </a:prstGeom>
          <a:noFill/>
        </p:spPr>
        <p:txBody>
          <a:bodyPr wrap="square" lIns="0" rIns="0" tIns="0" bIns="0" anchor="t">
            <a:spAutoFit/>
          </a:bodyPr>
          <a:lstStyle/>
          <a:p>
            <a:pPr algn="l"/>
            <a:r>
              <a:rPr sz="1500" b="1" i="0">
                <a:solidFill>
                  <a:srgbClr val="151B23"/>
                </a:solidFill>
                <a:latin typeface="Inter"/>
              </a:rPr>
              <a:t>Multi-hop moves</a:t>
            </a:r>
          </a:p>
        </p:txBody>
      </p:sp>
      <p:sp>
        <p:nvSpPr>
          <p:cNvPr id="25" name="TextBox 24"/>
          <p:cNvSpPr txBox="1"/>
          <p:nvPr/>
        </p:nvSpPr>
        <p:spPr>
          <a:xfrm>
            <a:off x="6309360" y="5577839"/>
            <a:ext cx="5303520" cy="502920"/>
          </a:xfrm>
          <a:prstGeom prst="rect">
            <a:avLst/>
          </a:prstGeom>
          <a:noFill/>
        </p:spPr>
        <p:txBody>
          <a:bodyPr wrap="square" lIns="0" rIns="0" tIns="0" bIns="0" anchor="t">
            <a:spAutoFit/>
          </a:bodyPr>
          <a:lstStyle/>
          <a:p>
            <a:pPr algn="l"/>
            <a:r>
              <a:rPr sz="1300" b="0" i="0">
                <a:solidFill>
                  <a:srgbClr val="4B5563"/>
                </a:solidFill>
                <a:latin typeface="Inter"/>
              </a:rPr>
              <a:t>Citation chains, co-citation, find_gaps, temporal.</a:t>
            </a:r>
          </a:p>
        </p:txBody>
      </p:sp>
      <p:sp>
        <p:nvSpPr>
          <p:cNvPr id="26" name="TextBox 25"/>
          <p:cNvSpPr txBox="1"/>
          <p:nvPr/>
        </p:nvSpPr>
        <p:spPr>
          <a:xfrm>
            <a:off x="457200" y="6492240"/>
            <a:ext cx="9144000" cy="274320"/>
          </a:xfrm>
          <a:prstGeom prst="rect">
            <a:avLst/>
          </a:prstGeom>
          <a:noFill/>
        </p:spPr>
        <p:txBody>
          <a:bodyPr wrap="square" lIns="0" rIns="0" tIns="0" bIns="0" anchor="t">
            <a:spAutoFit/>
          </a:bodyPr>
          <a:lstStyle/>
          <a:p>
            <a:pPr algn="l"/>
            <a:r>
              <a:rPr sz="1000" b="0" i="0">
                <a:solidFill>
                  <a:srgbClr val="6B7280"/>
                </a:solidFill>
                <a:latin typeface="Inter"/>
              </a:rPr>
              <a:t>Stephanie Jarmak  ·  MLOps Community  ·  Making Scientific Knowledge Navigable for Agents</a:t>
            </a:r>
          </a:p>
        </p:txBody>
      </p:sp>
      <p:sp>
        <p:nvSpPr>
          <p:cNvPr id="27" name="TextBox 26"/>
          <p:cNvSpPr txBox="1"/>
          <p:nvPr/>
        </p:nvSpPr>
        <p:spPr>
          <a:xfrm>
            <a:off x="11247120" y="6492240"/>
            <a:ext cx="731520" cy="274320"/>
          </a:xfrm>
          <a:prstGeom prst="rect">
            <a:avLst/>
          </a:prstGeom>
          <a:noFill/>
        </p:spPr>
        <p:txBody>
          <a:bodyPr wrap="square" lIns="0" rIns="0" tIns="0" bIns="0" anchor="t">
            <a:spAutoFit/>
          </a:bodyPr>
          <a:lstStyle/>
          <a:p>
            <a:pPr algn="r"/>
            <a:r>
              <a:rPr sz="1000" b="0" i="0">
                <a:solidFill>
                  <a:srgbClr val="6B7280"/>
                </a:solidFill>
                <a:latin typeface="Inter"/>
              </a:rPr>
              <a:t>3 / 30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1247120" cy="731520"/>
          </a:xfrm>
          <a:prstGeom prst="rect">
            <a:avLst/>
          </a:prstGeom>
          <a:noFill/>
        </p:spPr>
        <p:txBody>
          <a:bodyPr wrap="square" lIns="0" rIns="0" tIns="0" bIns="0" anchor="t">
            <a:spAutoFit/>
          </a:bodyPr>
          <a:lstStyle/>
          <a:p>
            <a:pPr algn="l"/>
            <a:r>
              <a:rPr sz="3200" b="1" i="0">
                <a:solidFill>
                  <a:srgbClr val="151B23"/>
                </a:solidFill>
                <a:latin typeface="Inter"/>
              </a:rPr>
              <a:t>What I'll cover</a:t>
            </a:r>
          </a:p>
        </p:txBody>
      </p:sp>
      <p:sp>
        <p:nvSpPr>
          <p:cNvPr id="4" name="Rectangle 3"/>
          <p:cNvSpPr/>
          <p:nvPr/>
        </p:nvSpPr>
        <p:spPr>
          <a:xfrm>
            <a:off x="457200" y="1234440"/>
            <a:ext cx="731520" cy="25400"/>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11247120" cy="457200"/>
          </a:xfrm>
          <a:prstGeom prst="rect">
            <a:avLst/>
          </a:prstGeom>
          <a:noFill/>
        </p:spPr>
        <p:txBody>
          <a:bodyPr wrap="square" lIns="0" rIns="0" tIns="0" bIns="0" anchor="t">
            <a:spAutoFit/>
          </a:bodyPr>
          <a:lstStyle/>
          <a:p>
            <a:pPr algn="l"/>
            <a:r>
              <a:rPr sz="1600" b="0" i="1">
                <a:solidFill>
                  <a:srgbClr val="4B5563"/>
                </a:solidFill>
                <a:latin typeface="Inter"/>
              </a:rPr>
              <a:t>30 minutes · 5 sections · live demo</a:t>
            </a:r>
          </a:p>
        </p:txBody>
      </p:sp>
      <p:sp>
        <p:nvSpPr>
          <p:cNvPr id="6" name="TextBox 5"/>
          <p:cNvSpPr txBox="1"/>
          <p:nvPr/>
        </p:nvSpPr>
        <p:spPr>
          <a:xfrm>
            <a:off x="640080" y="2011680"/>
            <a:ext cx="731520" cy="640080"/>
          </a:xfrm>
          <a:prstGeom prst="rect">
            <a:avLst/>
          </a:prstGeom>
          <a:noFill/>
        </p:spPr>
        <p:txBody>
          <a:bodyPr wrap="square" lIns="0" rIns="0" tIns="0" bIns="0" anchor="t">
            <a:spAutoFit/>
          </a:bodyPr>
          <a:lstStyle/>
          <a:p>
            <a:pPr algn="ctr"/>
            <a:r>
              <a:rPr sz="4200" b="1" i="0">
                <a:solidFill>
                  <a:srgbClr val="1F6FEB"/>
                </a:solidFill>
                <a:latin typeface="Inter"/>
              </a:rPr>
              <a:t>1</a:t>
            </a:r>
          </a:p>
        </p:txBody>
      </p:sp>
      <p:sp>
        <p:nvSpPr>
          <p:cNvPr id="7" name="TextBox 6"/>
          <p:cNvSpPr txBox="1"/>
          <p:nvPr/>
        </p:nvSpPr>
        <p:spPr>
          <a:xfrm>
            <a:off x="1645920" y="2057400"/>
            <a:ext cx="4114800" cy="365760"/>
          </a:xfrm>
          <a:prstGeom prst="rect">
            <a:avLst/>
          </a:prstGeom>
          <a:noFill/>
        </p:spPr>
        <p:txBody>
          <a:bodyPr wrap="square" lIns="0" rIns="0" tIns="0" bIns="0" anchor="t">
            <a:spAutoFit/>
          </a:bodyPr>
          <a:lstStyle/>
          <a:p>
            <a:pPr algn="l"/>
            <a:r>
              <a:rPr sz="2000" b="1" i="0">
                <a:solidFill>
                  <a:srgbClr val="151B23"/>
                </a:solidFill>
                <a:latin typeface="Inter"/>
              </a:rPr>
              <a:t>The problem space</a:t>
            </a:r>
          </a:p>
        </p:txBody>
      </p:sp>
      <p:sp>
        <p:nvSpPr>
          <p:cNvPr id="8" name="TextBox 7"/>
          <p:cNvSpPr txBox="1"/>
          <p:nvPr/>
        </p:nvSpPr>
        <p:spPr>
          <a:xfrm>
            <a:off x="1645920" y="2423160"/>
            <a:ext cx="10058400" cy="365760"/>
          </a:xfrm>
          <a:prstGeom prst="rect">
            <a:avLst/>
          </a:prstGeom>
          <a:noFill/>
        </p:spPr>
        <p:txBody>
          <a:bodyPr wrap="square" lIns="0" rIns="0" tIns="0" bIns="0" anchor="t">
            <a:spAutoFit/>
          </a:bodyPr>
          <a:lstStyle/>
          <a:p>
            <a:pPr algn="l"/>
            <a:r>
              <a:rPr sz="1400" b="0" i="0">
                <a:solidFill>
                  <a:srgbClr val="4B5563"/>
                </a:solidFill>
                <a:latin typeface="Inter"/>
              </a:rPr>
              <a:t>Search APIs vs. agent needs. Why MCP.</a:t>
            </a:r>
          </a:p>
        </p:txBody>
      </p:sp>
      <p:sp>
        <p:nvSpPr>
          <p:cNvPr id="9" name="TextBox 8"/>
          <p:cNvSpPr txBox="1"/>
          <p:nvPr/>
        </p:nvSpPr>
        <p:spPr>
          <a:xfrm>
            <a:off x="640080" y="2788920"/>
            <a:ext cx="731520" cy="640080"/>
          </a:xfrm>
          <a:prstGeom prst="rect">
            <a:avLst/>
          </a:prstGeom>
          <a:noFill/>
        </p:spPr>
        <p:txBody>
          <a:bodyPr wrap="square" lIns="0" rIns="0" tIns="0" bIns="0" anchor="t">
            <a:spAutoFit/>
          </a:bodyPr>
          <a:lstStyle/>
          <a:p>
            <a:pPr algn="ctr"/>
            <a:r>
              <a:rPr sz="4200" b="1" i="0">
                <a:solidFill>
                  <a:srgbClr val="1F6FEB"/>
                </a:solidFill>
                <a:latin typeface="Inter"/>
              </a:rPr>
              <a:t>2</a:t>
            </a:r>
          </a:p>
        </p:txBody>
      </p:sp>
      <p:sp>
        <p:nvSpPr>
          <p:cNvPr id="10" name="TextBox 9"/>
          <p:cNvSpPr txBox="1"/>
          <p:nvPr/>
        </p:nvSpPr>
        <p:spPr>
          <a:xfrm>
            <a:off x="1645920" y="2834640"/>
            <a:ext cx="4114800" cy="365760"/>
          </a:xfrm>
          <a:prstGeom prst="rect">
            <a:avLst/>
          </a:prstGeom>
          <a:noFill/>
        </p:spPr>
        <p:txBody>
          <a:bodyPr wrap="square" lIns="0" rIns="0" tIns="0" bIns="0" anchor="t">
            <a:spAutoFit/>
          </a:bodyPr>
          <a:lstStyle/>
          <a:p>
            <a:pPr algn="l"/>
            <a:r>
              <a:rPr sz="2000" b="1" i="0">
                <a:solidFill>
                  <a:srgbClr val="151B23"/>
                </a:solidFill>
                <a:latin typeface="Inter"/>
              </a:rPr>
              <a:t>Corpus completeness</a:t>
            </a:r>
          </a:p>
        </p:txBody>
      </p:sp>
      <p:sp>
        <p:nvSpPr>
          <p:cNvPr id="11" name="TextBox 10"/>
          <p:cNvSpPr txBox="1"/>
          <p:nvPr/>
        </p:nvSpPr>
        <p:spPr>
          <a:xfrm>
            <a:off x="1645920" y="3200400"/>
            <a:ext cx="10058400" cy="365760"/>
          </a:xfrm>
          <a:prstGeom prst="rect">
            <a:avLst/>
          </a:prstGeom>
          <a:noFill/>
        </p:spPr>
        <p:txBody>
          <a:bodyPr wrap="square" lIns="0" rIns="0" tIns="0" bIns="0" anchor="t">
            <a:spAutoFit/>
          </a:bodyPr>
          <a:lstStyle/>
          <a:p>
            <a:pPr algn="l"/>
            <a:r>
              <a:rPr sz="1400" b="0" i="0">
                <a:solidFill>
                  <a:srgbClr val="4B5563"/>
                </a:solidFill>
                <a:latin typeface="Inter"/>
              </a:rPr>
              <a:t>The 17.8% → 99.6% result that changes everything.</a:t>
            </a:r>
          </a:p>
        </p:txBody>
      </p:sp>
      <p:sp>
        <p:nvSpPr>
          <p:cNvPr id="12" name="TextBox 11"/>
          <p:cNvSpPr txBox="1"/>
          <p:nvPr/>
        </p:nvSpPr>
        <p:spPr>
          <a:xfrm>
            <a:off x="640080" y="3566160"/>
            <a:ext cx="731520" cy="640080"/>
          </a:xfrm>
          <a:prstGeom prst="rect">
            <a:avLst/>
          </a:prstGeom>
          <a:noFill/>
        </p:spPr>
        <p:txBody>
          <a:bodyPr wrap="square" lIns="0" rIns="0" tIns="0" bIns="0" anchor="t">
            <a:spAutoFit/>
          </a:bodyPr>
          <a:lstStyle/>
          <a:p>
            <a:pPr algn="ctr"/>
            <a:r>
              <a:rPr sz="4200" b="1" i="0">
                <a:solidFill>
                  <a:srgbClr val="1F6FEB"/>
                </a:solidFill>
                <a:latin typeface="Inter"/>
              </a:rPr>
              <a:t>3</a:t>
            </a:r>
          </a:p>
        </p:txBody>
      </p:sp>
      <p:sp>
        <p:nvSpPr>
          <p:cNvPr id="13" name="TextBox 12"/>
          <p:cNvSpPr txBox="1"/>
          <p:nvPr/>
        </p:nvSpPr>
        <p:spPr>
          <a:xfrm>
            <a:off x="1645920" y="3611880"/>
            <a:ext cx="4114800" cy="365760"/>
          </a:xfrm>
          <a:prstGeom prst="rect">
            <a:avLst/>
          </a:prstGeom>
          <a:noFill/>
        </p:spPr>
        <p:txBody>
          <a:bodyPr wrap="square" lIns="0" rIns="0" tIns="0" bIns="0" anchor="t">
            <a:spAutoFit/>
          </a:bodyPr>
          <a:lstStyle/>
          <a:p>
            <a:pPr algn="l"/>
            <a:r>
              <a:rPr sz="2000" b="1" i="0">
                <a:solidFill>
                  <a:srgbClr val="151B23"/>
                </a:solidFill>
                <a:latin typeface="Inter"/>
              </a:rPr>
              <a:t>Architecture</a:t>
            </a:r>
          </a:p>
        </p:txBody>
      </p:sp>
      <p:sp>
        <p:nvSpPr>
          <p:cNvPr id="14" name="TextBox 13"/>
          <p:cNvSpPr txBox="1"/>
          <p:nvPr/>
        </p:nvSpPr>
        <p:spPr>
          <a:xfrm>
            <a:off x="1645920" y="3977640"/>
            <a:ext cx="10058400" cy="365760"/>
          </a:xfrm>
          <a:prstGeom prst="rect">
            <a:avLst/>
          </a:prstGeom>
          <a:noFill/>
        </p:spPr>
        <p:txBody>
          <a:bodyPr wrap="square" lIns="0" rIns="0" tIns="0" bIns="0" anchor="t">
            <a:spAutoFit/>
          </a:bodyPr>
          <a:lstStyle/>
          <a:p>
            <a:pPr algn="l"/>
            <a:r>
              <a:rPr sz="1400" b="0" i="0">
                <a:solidFill>
                  <a:srgbClr val="4B5563"/>
                </a:solidFill>
                <a:latin typeface="Inter"/>
              </a:rPr>
              <a:t>PostgreSQL + pgvector + 13 MCP tools on a single box.</a:t>
            </a:r>
          </a:p>
        </p:txBody>
      </p:sp>
      <p:sp>
        <p:nvSpPr>
          <p:cNvPr id="15" name="TextBox 14"/>
          <p:cNvSpPr txBox="1"/>
          <p:nvPr/>
        </p:nvSpPr>
        <p:spPr>
          <a:xfrm>
            <a:off x="640080" y="4343400"/>
            <a:ext cx="731520" cy="640080"/>
          </a:xfrm>
          <a:prstGeom prst="rect">
            <a:avLst/>
          </a:prstGeom>
          <a:noFill/>
        </p:spPr>
        <p:txBody>
          <a:bodyPr wrap="square" lIns="0" rIns="0" tIns="0" bIns="0" anchor="t">
            <a:spAutoFit/>
          </a:bodyPr>
          <a:lstStyle/>
          <a:p>
            <a:pPr algn="ctr"/>
            <a:r>
              <a:rPr sz="4200" b="1" i="0">
                <a:solidFill>
                  <a:srgbClr val="1F6FEB"/>
                </a:solidFill>
                <a:latin typeface="Inter"/>
              </a:rPr>
              <a:t>4</a:t>
            </a:r>
          </a:p>
        </p:txBody>
      </p:sp>
      <p:sp>
        <p:nvSpPr>
          <p:cNvPr id="16" name="TextBox 15"/>
          <p:cNvSpPr txBox="1"/>
          <p:nvPr/>
        </p:nvSpPr>
        <p:spPr>
          <a:xfrm>
            <a:off x="1645920" y="4389120"/>
            <a:ext cx="4114800" cy="365760"/>
          </a:xfrm>
          <a:prstGeom prst="rect">
            <a:avLst/>
          </a:prstGeom>
          <a:noFill/>
        </p:spPr>
        <p:txBody>
          <a:bodyPr wrap="square" lIns="0" rIns="0" tIns="0" bIns="0" anchor="t">
            <a:spAutoFit/>
          </a:bodyPr>
          <a:lstStyle/>
          <a:p>
            <a:pPr algn="l"/>
            <a:r>
              <a:rPr sz="2000" b="1" i="0">
                <a:solidFill>
                  <a:srgbClr val="151B23"/>
                </a:solidFill>
                <a:latin typeface="Inter"/>
              </a:rPr>
              <a:t>Live demo</a:t>
            </a:r>
          </a:p>
        </p:txBody>
      </p:sp>
      <p:sp>
        <p:nvSpPr>
          <p:cNvPr id="17" name="TextBox 16"/>
          <p:cNvSpPr txBox="1"/>
          <p:nvPr/>
        </p:nvSpPr>
        <p:spPr>
          <a:xfrm>
            <a:off x="1645920" y="4754880"/>
            <a:ext cx="10058400" cy="365760"/>
          </a:xfrm>
          <a:prstGeom prst="rect">
            <a:avLst/>
          </a:prstGeom>
          <a:noFill/>
        </p:spPr>
        <p:txBody>
          <a:bodyPr wrap="square" lIns="0" rIns="0" tIns="0" bIns="0" anchor="t">
            <a:spAutoFit/>
          </a:bodyPr>
          <a:lstStyle/>
          <a:p>
            <a:pPr algn="l"/>
            <a:r>
              <a:rPr sz="1400" b="0" i="0">
                <a:solidFill>
                  <a:srgbClr val="4B5563"/>
                </a:solidFill>
                <a:latin typeface="Inter"/>
              </a:rPr>
              <a:t>Agent maps a research landscape with hybrid retrieval + graph moves.</a:t>
            </a:r>
          </a:p>
        </p:txBody>
      </p:sp>
      <p:sp>
        <p:nvSpPr>
          <p:cNvPr id="18" name="TextBox 17"/>
          <p:cNvSpPr txBox="1"/>
          <p:nvPr/>
        </p:nvSpPr>
        <p:spPr>
          <a:xfrm>
            <a:off x="640080" y="5120640"/>
            <a:ext cx="731520" cy="640080"/>
          </a:xfrm>
          <a:prstGeom prst="rect">
            <a:avLst/>
          </a:prstGeom>
          <a:noFill/>
        </p:spPr>
        <p:txBody>
          <a:bodyPr wrap="square" lIns="0" rIns="0" tIns="0" bIns="0" anchor="t">
            <a:spAutoFit/>
          </a:bodyPr>
          <a:lstStyle/>
          <a:p>
            <a:pPr algn="ctr"/>
            <a:r>
              <a:rPr sz="4200" b="1" i="0">
                <a:solidFill>
                  <a:srgbClr val="1F6FEB"/>
                </a:solidFill>
                <a:latin typeface="Inter"/>
              </a:rPr>
              <a:t>5</a:t>
            </a:r>
          </a:p>
        </p:txBody>
      </p:sp>
      <p:sp>
        <p:nvSpPr>
          <p:cNvPr id="19" name="TextBox 18"/>
          <p:cNvSpPr txBox="1"/>
          <p:nvPr/>
        </p:nvSpPr>
        <p:spPr>
          <a:xfrm>
            <a:off x="1645920" y="5166360"/>
            <a:ext cx="4114800" cy="365760"/>
          </a:xfrm>
          <a:prstGeom prst="rect">
            <a:avLst/>
          </a:prstGeom>
          <a:noFill/>
        </p:spPr>
        <p:txBody>
          <a:bodyPr wrap="square" lIns="0" rIns="0" tIns="0" bIns="0" anchor="t">
            <a:spAutoFit/>
          </a:bodyPr>
          <a:lstStyle/>
          <a:p>
            <a:pPr algn="l"/>
            <a:r>
              <a:rPr sz="2000" b="1" i="0">
                <a:solidFill>
                  <a:srgbClr val="151B23"/>
                </a:solidFill>
                <a:latin typeface="Inter"/>
              </a:rPr>
              <a:t>Hard-won lessons</a:t>
            </a:r>
          </a:p>
        </p:txBody>
      </p:sp>
      <p:sp>
        <p:nvSpPr>
          <p:cNvPr id="20" name="TextBox 19"/>
          <p:cNvSpPr txBox="1"/>
          <p:nvPr/>
        </p:nvSpPr>
        <p:spPr>
          <a:xfrm>
            <a:off x="1645920" y="5532120"/>
            <a:ext cx="10058400" cy="365760"/>
          </a:xfrm>
          <a:prstGeom prst="rect">
            <a:avLst/>
          </a:prstGeom>
          <a:noFill/>
        </p:spPr>
        <p:txBody>
          <a:bodyPr wrap="square" lIns="0" rIns="0" tIns="0" bIns="0" anchor="t">
            <a:spAutoFit/>
          </a:bodyPr>
          <a:lstStyle/>
          <a:p>
            <a:pPr algn="l"/>
            <a:r>
              <a:rPr sz="1400" b="0" i="0">
                <a:solidFill>
                  <a:srgbClr val="4B5563"/>
                </a:solidFill>
                <a:latin typeface="Inter"/>
              </a:rPr>
              <a:t>Embedding pipeline, UNLOGGED disaster, surprising eval results.</a:t>
            </a:r>
          </a:p>
        </p:txBody>
      </p:sp>
      <p:sp>
        <p:nvSpPr>
          <p:cNvPr id="21" name="TextBox 20"/>
          <p:cNvSpPr txBox="1"/>
          <p:nvPr/>
        </p:nvSpPr>
        <p:spPr>
          <a:xfrm>
            <a:off x="457200" y="6492240"/>
            <a:ext cx="9144000" cy="274320"/>
          </a:xfrm>
          <a:prstGeom prst="rect">
            <a:avLst/>
          </a:prstGeom>
          <a:noFill/>
        </p:spPr>
        <p:txBody>
          <a:bodyPr wrap="square" lIns="0" rIns="0" tIns="0" bIns="0" anchor="t">
            <a:spAutoFit/>
          </a:bodyPr>
          <a:lstStyle/>
          <a:p>
            <a:pPr algn="l"/>
            <a:r>
              <a:rPr sz="1000" b="0" i="0">
                <a:solidFill>
                  <a:srgbClr val="6B7280"/>
                </a:solidFill>
                <a:latin typeface="Inter"/>
              </a:rPr>
              <a:t>Stephanie Jarmak  ·  MLOps Community  ·  Making Scientific Knowledge Navigable for Agents</a:t>
            </a:r>
          </a:p>
        </p:txBody>
      </p:sp>
      <p:sp>
        <p:nvSpPr>
          <p:cNvPr id="22" name="TextBox 21"/>
          <p:cNvSpPr txBox="1"/>
          <p:nvPr/>
        </p:nvSpPr>
        <p:spPr>
          <a:xfrm>
            <a:off x="11247120" y="6492240"/>
            <a:ext cx="731520" cy="274320"/>
          </a:xfrm>
          <a:prstGeom prst="rect">
            <a:avLst/>
          </a:prstGeom>
          <a:noFill/>
        </p:spPr>
        <p:txBody>
          <a:bodyPr wrap="square" lIns="0" rIns="0" tIns="0" bIns="0" anchor="t">
            <a:spAutoFit/>
          </a:bodyPr>
          <a:lstStyle/>
          <a:p>
            <a:pPr algn="r"/>
            <a:r>
              <a:rPr sz="1000" b="0" i="0">
                <a:solidFill>
                  <a:srgbClr val="6B7280"/>
                </a:solidFill>
                <a:latin typeface="Inter"/>
              </a:rPr>
              <a:t>4 / 30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1247120" cy="731520"/>
          </a:xfrm>
          <a:prstGeom prst="rect">
            <a:avLst/>
          </a:prstGeom>
          <a:noFill/>
        </p:spPr>
        <p:txBody>
          <a:bodyPr wrap="square" lIns="0" rIns="0" tIns="0" bIns="0" anchor="t">
            <a:spAutoFit/>
          </a:bodyPr>
          <a:lstStyle/>
          <a:p>
            <a:pPr algn="l"/>
            <a:r>
              <a:rPr sz="3200" b="1" i="0">
                <a:solidFill>
                  <a:srgbClr val="151B23"/>
                </a:solidFill>
                <a:latin typeface="Inter"/>
              </a:rPr>
              <a:t>Search APIs return ranked lists. Agents need a knowledge structure.</a:t>
            </a:r>
          </a:p>
        </p:txBody>
      </p:sp>
      <p:sp>
        <p:nvSpPr>
          <p:cNvPr id="4" name="Rectangle 3"/>
          <p:cNvSpPr/>
          <p:nvPr/>
        </p:nvSpPr>
        <p:spPr>
          <a:xfrm>
            <a:off x="457200" y="1234440"/>
            <a:ext cx="731520" cy="25400"/>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11247120" cy="457200"/>
          </a:xfrm>
          <a:prstGeom prst="rect">
            <a:avLst/>
          </a:prstGeom>
          <a:noFill/>
        </p:spPr>
        <p:txBody>
          <a:bodyPr wrap="square" lIns="0" rIns="0" tIns="0" bIns="0" anchor="t">
            <a:spAutoFit/>
          </a:bodyPr>
          <a:lstStyle/>
          <a:p>
            <a:pPr algn="l"/>
            <a:r>
              <a:rPr sz="1600" b="0" i="1">
                <a:solidFill>
                  <a:srgbClr val="4B5563"/>
                </a:solidFill>
                <a:latin typeface="Inter"/>
              </a:rPr>
              <a:t>What's missing when you wrap an LLM around /search</a:t>
            </a:r>
          </a:p>
        </p:txBody>
      </p:sp>
      <p:sp>
        <p:nvSpPr>
          <p:cNvPr id="6" name="TextBox 5"/>
          <p:cNvSpPr txBox="1"/>
          <p:nvPr/>
        </p:nvSpPr>
        <p:spPr>
          <a:xfrm>
            <a:off x="548640" y="1828800"/>
            <a:ext cx="4572000" cy="457200"/>
          </a:xfrm>
          <a:prstGeom prst="rect">
            <a:avLst/>
          </a:prstGeom>
          <a:noFill/>
        </p:spPr>
        <p:txBody>
          <a:bodyPr wrap="square" lIns="0" rIns="0" tIns="0" bIns="0" anchor="t">
            <a:spAutoFit/>
          </a:bodyPr>
          <a:lstStyle/>
          <a:p>
            <a:pPr algn="l"/>
            <a:r>
              <a:rPr sz="1800" b="1" i="0">
                <a:solidFill>
                  <a:srgbClr val="0B4A9E"/>
                </a:solidFill>
                <a:latin typeface="Inter"/>
              </a:rPr>
              <a:t>No graph topology</a:t>
            </a:r>
          </a:p>
        </p:txBody>
      </p:sp>
      <p:sp>
        <p:nvSpPr>
          <p:cNvPr id="7" name="TextBox 6"/>
          <p:cNvSpPr txBox="1"/>
          <p:nvPr/>
        </p:nvSpPr>
        <p:spPr>
          <a:xfrm>
            <a:off x="5303520" y="1874520"/>
            <a:ext cx="6400800" cy="822960"/>
          </a:xfrm>
          <a:prstGeom prst="rect">
            <a:avLst/>
          </a:prstGeom>
          <a:noFill/>
        </p:spPr>
        <p:txBody>
          <a:bodyPr wrap="square" lIns="0" rIns="0" tIns="0" bIns="0" anchor="t">
            <a:spAutoFit/>
          </a:bodyPr>
          <a:lstStyle/>
          <a:p>
            <a:pPr algn="l"/>
            <a:r>
              <a:rPr sz="1400" b="0" i="0">
                <a:solidFill>
                  <a:srgbClr val="151B23"/>
                </a:solidFill>
                <a:latin typeface="Inter"/>
              </a:rPr>
              <a:t>No way to ask "which papers bridge these two communities?" or "which papers are structurally central?"</a:t>
            </a:r>
          </a:p>
        </p:txBody>
      </p:sp>
      <p:sp>
        <p:nvSpPr>
          <p:cNvPr id="8" name="TextBox 7"/>
          <p:cNvSpPr txBox="1"/>
          <p:nvPr/>
        </p:nvSpPr>
        <p:spPr>
          <a:xfrm>
            <a:off x="548640" y="2697480"/>
            <a:ext cx="4572000" cy="457200"/>
          </a:xfrm>
          <a:prstGeom prst="rect">
            <a:avLst/>
          </a:prstGeom>
          <a:noFill/>
        </p:spPr>
        <p:txBody>
          <a:bodyPr wrap="square" lIns="0" rIns="0" tIns="0" bIns="0" anchor="t">
            <a:spAutoFit/>
          </a:bodyPr>
          <a:lstStyle/>
          <a:p>
            <a:pPr algn="l"/>
            <a:r>
              <a:rPr sz="1800" b="1" i="0">
                <a:solidFill>
                  <a:srgbClr val="0B4A9E"/>
                </a:solidFill>
                <a:latin typeface="Inter"/>
              </a:rPr>
              <a:t>No session memory</a:t>
            </a:r>
          </a:p>
        </p:txBody>
      </p:sp>
      <p:sp>
        <p:nvSpPr>
          <p:cNvPr id="9" name="TextBox 8"/>
          <p:cNvSpPr txBox="1"/>
          <p:nvPr/>
        </p:nvSpPr>
        <p:spPr>
          <a:xfrm>
            <a:off x="5303520" y="2743200"/>
            <a:ext cx="6400800" cy="822960"/>
          </a:xfrm>
          <a:prstGeom prst="rect">
            <a:avLst/>
          </a:prstGeom>
          <a:noFill/>
        </p:spPr>
        <p:txBody>
          <a:bodyPr wrap="square" lIns="0" rIns="0" tIns="0" bIns="0" anchor="t">
            <a:spAutoFit/>
          </a:bodyPr>
          <a:lstStyle/>
          <a:p>
            <a:pPr algn="l"/>
            <a:r>
              <a:rPr sz="1400" b="0" i="0">
                <a:solidFill>
                  <a:srgbClr val="151B23"/>
                </a:solidFill>
                <a:latin typeface="Inter"/>
              </a:rPr>
              <a:t>Every query starts cold. Working sets live in the prompt or nowhere.</a:t>
            </a:r>
          </a:p>
        </p:txBody>
      </p:sp>
      <p:sp>
        <p:nvSpPr>
          <p:cNvPr id="10" name="TextBox 9"/>
          <p:cNvSpPr txBox="1"/>
          <p:nvPr/>
        </p:nvSpPr>
        <p:spPr>
          <a:xfrm>
            <a:off x="548640" y="3566160"/>
            <a:ext cx="4572000" cy="457200"/>
          </a:xfrm>
          <a:prstGeom prst="rect">
            <a:avLst/>
          </a:prstGeom>
          <a:noFill/>
        </p:spPr>
        <p:txBody>
          <a:bodyPr wrap="square" lIns="0" rIns="0" tIns="0" bIns="0" anchor="t">
            <a:spAutoFit/>
          </a:bodyPr>
          <a:lstStyle/>
          <a:p>
            <a:pPr algn="l"/>
            <a:r>
              <a:rPr sz="1800" b="1" i="0">
                <a:solidFill>
                  <a:srgbClr val="0B4A9E"/>
                </a:solidFill>
                <a:latin typeface="Inter"/>
              </a:rPr>
              <a:t>No community structure</a:t>
            </a:r>
          </a:p>
        </p:txBody>
      </p:sp>
      <p:sp>
        <p:nvSpPr>
          <p:cNvPr id="11" name="TextBox 10"/>
          <p:cNvSpPr txBox="1"/>
          <p:nvPr/>
        </p:nvSpPr>
        <p:spPr>
          <a:xfrm>
            <a:off x="5303520" y="3611880"/>
            <a:ext cx="6400800" cy="822960"/>
          </a:xfrm>
          <a:prstGeom prst="rect">
            <a:avLst/>
          </a:prstGeom>
          <a:noFill/>
        </p:spPr>
        <p:txBody>
          <a:bodyPr wrap="square" lIns="0" rIns="0" tIns="0" bIns="0" anchor="t">
            <a:spAutoFit/>
          </a:bodyPr>
          <a:lstStyle/>
          <a:p>
            <a:pPr algn="l"/>
            <a:r>
              <a:rPr sz="1400" b="0" i="0">
                <a:solidFill>
                  <a:srgbClr val="151B23"/>
                </a:solidFill>
                <a:latin typeface="Inter"/>
              </a:rPr>
              <a:t>Can't browse the research landscape, can't see the lens you're navigating through (citation vs. semantic vs. taxonomic).</a:t>
            </a:r>
          </a:p>
        </p:txBody>
      </p:sp>
      <p:sp>
        <p:nvSpPr>
          <p:cNvPr id="12" name="TextBox 11"/>
          <p:cNvSpPr txBox="1"/>
          <p:nvPr/>
        </p:nvSpPr>
        <p:spPr>
          <a:xfrm>
            <a:off x="548640" y="4434840"/>
            <a:ext cx="4572000" cy="457200"/>
          </a:xfrm>
          <a:prstGeom prst="rect">
            <a:avLst/>
          </a:prstGeom>
          <a:noFill/>
        </p:spPr>
        <p:txBody>
          <a:bodyPr wrap="square" lIns="0" rIns="0" tIns="0" bIns="0" anchor="t">
            <a:spAutoFit/>
          </a:bodyPr>
          <a:lstStyle/>
          <a:p>
            <a:pPr algn="l"/>
            <a:r>
              <a:rPr sz="1800" b="1" i="0">
                <a:solidFill>
                  <a:srgbClr val="0B4A9E"/>
                </a:solidFill>
                <a:latin typeface="Inter"/>
              </a:rPr>
              <a:t>No multi-model signal</a:t>
            </a:r>
          </a:p>
        </p:txBody>
      </p:sp>
      <p:sp>
        <p:nvSpPr>
          <p:cNvPr id="13" name="TextBox 12"/>
          <p:cNvSpPr txBox="1"/>
          <p:nvPr/>
        </p:nvSpPr>
        <p:spPr>
          <a:xfrm>
            <a:off x="5303520" y="4480560"/>
            <a:ext cx="6400800" cy="822960"/>
          </a:xfrm>
          <a:prstGeom prst="rect">
            <a:avLst/>
          </a:prstGeom>
          <a:noFill/>
        </p:spPr>
        <p:txBody>
          <a:bodyPr wrap="square" lIns="0" rIns="0" tIns="0" bIns="0" anchor="t">
            <a:spAutoFit/>
          </a:bodyPr>
          <a:lstStyle/>
          <a:p>
            <a:pPr algn="l"/>
            <a:r>
              <a:rPr sz="1400" b="0" i="0">
                <a:solidFill>
                  <a:srgbClr val="151B23"/>
                </a:solidFill>
                <a:latin typeface="Inter"/>
              </a:rPr>
              <a:t>One embedding, one ranker. Dense-only fails on specific-term queries; lexical-only fails on paraphrase.</a:t>
            </a:r>
          </a:p>
        </p:txBody>
      </p:sp>
      <p:sp>
        <p:nvSpPr>
          <p:cNvPr id="14" name="TextBox 13"/>
          <p:cNvSpPr txBox="1"/>
          <p:nvPr/>
        </p:nvSpPr>
        <p:spPr>
          <a:xfrm>
            <a:off x="548640" y="5303520"/>
            <a:ext cx="4572000" cy="457200"/>
          </a:xfrm>
          <a:prstGeom prst="rect">
            <a:avLst/>
          </a:prstGeom>
          <a:noFill/>
        </p:spPr>
        <p:txBody>
          <a:bodyPr wrap="square" lIns="0" rIns="0" tIns="0" bIns="0" anchor="t">
            <a:spAutoFit/>
          </a:bodyPr>
          <a:lstStyle/>
          <a:p>
            <a:pPr algn="l"/>
            <a:r>
              <a:rPr sz="1800" b="1" i="0">
                <a:solidFill>
                  <a:srgbClr val="0B4A9E"/>
                </a:solidFill>
                <a:latin typeface="Inter"/>
              </a:rPr>
              <a:t>No structured returns</a:t>
            </a:r>
          </a:p>
        </p:txBody>
      </p:sp>
      <p:sp>
        <p:nvSpPr>
          <p:cNvPr id="15" name="TextBox 14"/>
          <p:cNvSpPr txBox="1"/>
          <p:nvPr/>
        </p:nvSpPr>
        <p:spPr>
          <a:xfrm>
            <a:off x="5303520" y="5349240"/>
            <a:ext cx="6400800" cy="822960"/>
          </a:xfrm>
          <a:prstGeom prst="rect">
            <a:avLst/>
          </a:prstGeom>
          <a:noFill/>
        </p:spPr>
        <p:txBody>
          <a:bodyPr wrap="square" lIns="0" rIns="0" tIns="0" bIns="0" anchor="t">
            <a:spAutoFit/>
          </a:bodyPr>
          <a:lstStyle/>
          <a:p>
            <a:pPr algn="l"/>
            <a:r>
              <a:rPr sz="1400" b="0" i="0">
                <a:solidFill>
                  <a:srgbClr val="151B23"/>
                </a:solidFill>
                <a:latin typeface="Inter"/>
              </a:rPr>
              <a:t>Free-text snippets burn context and break composition with other tools.</a:t>
            </a:r>
          </a:p>
        </p:txBody>
      </p:sp>
      <p:sp>
        <p:nvSpPr>
          <p:cNvPr id="16" name="TextBox 15"/>
          <p:cNvSpPr txBox="1"/>
          <p:nvPr/>
        </p:nvSpPr>
        <p:spPr>
          <a:xfrm>
            <a:off x="457200" y="6492240"/>
            <a:ext cx="9144000" cy="274320"/>
          </a:xfrm>
          <a:prstGeom prst="rect">
            <a:avLst/>
          </a:prstGeom>
          <a:noFill/>
        </p:spPr>
        <p:txBody>
          <a:bodyPr wrap="square" lIns="0" rIns="0" tIns="0" bIns="0" anchor="t">
            <a:spAutoFit/>
          </a:bodyPr>
          <a:lstStyle/>
          <a:p>
            <a:pPr algn="l"/>
            <a:r>
              <a:rPr sz="1000" b="0" i="0">
                <a:solidFill>
                  <a:srgbClr val="6B7280"/>
                </a:solidFill>
                <a:latin typeface="Inter"/>
              </a:rPr>
              <a:t>Stephanie Jarmak  ·  MLOps Community  ·  Making Scientific Knowledge Navigable for Agents</a:t>
            </a:r>
          </a:p>
        </p:txBody>
      </p:sp>
      <p:sp>
        <p:nvSpPr>
          <p:cNvPr id="17" name="TextBox 16"/>
          <p:cNvSpPr txBox="1"/>
          <p:nvPr/>
        </p:nvSpPr>
        <p:spPr>
          <a:xfrm>
            <a:off x="11247120" y="6492240"/>
            <a:ext cx="731520" cy="274320"/>
          </a:xfrm>
          <a:prstGeom prst="rect">
            <a:avLst/>
          </a:prstGeom>
          <a:noFill/>
        </p:spPr>
        <p:txBody>
          <a:bodyPr wrap="square" lIns="0" rIns="0" tIns="0" bIns="0" anchor="t">
            <a:spAutoFit/>
          </a:bodyPr>
          <a:lstStyle/>
          <a:p>
            <a:pPr algn="r"/>
            <a:r>
              <a:rPr sz="1000" b="0" i="0">
                <a:solidFill>
                  <a:srgbClr val="6B7280"/>
                </a:solidFill>
                <a:latin typeface="Inter"/>
              </a:rPr>
              <a:t>5 / 30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1247120" cy="731520"/>
          </a:xfrm>
          <a:prstGeom prst="rect">
            <a:avLst/>
          </a:prstGeom>
          <a:noFill/>
        </p:spPr>
        <p:txBody>
          <a:bodyPr wrap="square" lIns="0" rIns="0" tIns="0" bIns="0" anchor="t">
            <a:spAutoFit/>
          </a:bodyPr>
          <a:lstStyle/>
          <a:p>
            <a:pPr algn="l"/>
            <a:r>
              <a:rPr sz="3200" b="1" i="0">
                <a:solidFill>
                  <a:srgbClr val="151B23"/>
                </a:solidFill>
                <a:latin typeface="Inter"/>
              </a:rPr>
              <a:t>Why MCP</a:t>
            </a:r>
          </a:p>
        </p:txBody>
      </p:sp>
      <p:sp>
        <p:nvSpPr>
          <p:cNvPr id="4" name="Rectangle 3"/>
          <p:cNvSpPr/>
          <p:nvPr/>
        </p:nvSpPr>
        <p:spPr>
          <a:xfrm>
            <a:off x="457200" y="1234440"/>
            <a:ext cx="731520" cy="25400"/>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11247120" cy="457200"/>
          </a:xfrm>
          <a:prstGeom prst="rect">
            <a:avLst/>
          </a:prstGeom>
          <a:noFill/>
        </p:spPr>
        <p:txBody>
          <a:bodyPr wrap="square" lIns="0" rIns="0" tIns="0" bIns="0" anchor="t">
            <a:spAutoFit/>
          </a:bodyPr>
          <a:lstStyle/>
          <a:p>
            <a:pPr algn="l"/>
            <a:r>
              <a:rPr sz="1600" b="0" i="1">
                <a:solidFill>
                  <a:srgbClr val="4B5563"/>
                </a:solidFill>
                <a:latin typeface="Inter"/>
              </a:rPr>
              <a:t>Model Context Protocol is a good fit for agent-native knowledge</a:t>
            </a:r>
          </a:p>
        </p:txBody>
      </p:sp>
      <p:sp>
        <p:nvSpPr>
          <p:cNvPr id="6" name="TextBox 5"/>
          <p:cNvSpPr txBox="1"/>
          <p:nvPr/>
        </p:nvSpPr>
        <p:spPr>
          <a:xfrm>
            <a:off x="548640" y="1828800"/>
            <a:ext cx="3931920" cy="457200"/>
          </a:xfrm>
          <a:prstGeom prst="rect">
            <a:avLst/>
          </a:prstGeom>
          <a:noFill/>
        </p:spPr>
        <p:txBody>
          <a:bodyPr wrap="square" lIns="0" rIns="0" tIns="0" bIns="0" anchor="t">
            <a:spAutoFit/>
          </a:bodyPr>
          <a:lstStyle/>
          <a:p>
            <a:pPr algn="l"/>
            <a:r>
              <a:rPr sz="1800" b="1" i="0">
                <a:solidFill>
                  <a:srgbClr val="0B4A9E"/>
                </a:solidFill>
                <a:latin typeface="Inter"/>
              </a:rPr>
              <a:t>Tool-calling primitives</a:t>
            </a:r>
          </a:p>
        </p:txBody>
      </p:sp>
      <p:sp>
        <p:nvSpPr>
          <p:cNvPr id="7" name="TextBox 6"/>
          <p:cNvSpPr txBox="1"/>
          <p:nvPr/>
        </p:nvSpPr>
        <p:spPr>
          <a:xfrm>
            <a:off x="4572000" y="1874520"/>
            <a:ext cx="7132320" cy="822960"/>
          </a:xfrm>
          <a:prstGeom prst="rect">
            <a:avLst/>
          </a:prstGeom>
          <a:noFill/>
        </p:spPr>
        <p:txBody>
          <a:bodyPr wrap="square" lIns="0" rIns="0" tIns="0" bIns="0" anchor="t">
            <a:spAutoFit/>
          </a:bodyPr>
          <a:lstStyle/>
          <a:p>
            <a:pPr algn="l"/>
            <a:r>
              <a:rPr sz="1400" b="0" i="0">
                <a:solidFill>
                  <a:srgbClr val="151B23"/>
                </a:solidFill>
                <a:latin typeface="Inter"/>
              </a:rPr>
              <a:t>First-class: name, schema, typed args, typed returns. The agent knows what it can do.</a:t>
            </a:r>
          </a:p>
        </p:txBody>
      </p:sp>
      <p:sp>
        <p:nvSpPr>
          <p:cNvPr id="8" name="TextBox 7"/>
          <p:cNvSpPr txBox="1"/>
          <p:nvPr/>
        </p:nvSpPr>
        <p:spPr>
          <a:xfrm>
            <a:off x="548640" y="2697480"/>
            <a:ext cx="3931920" cy="457200"/>
          </a:xfrm>
          <a:prstGeom prst="rect">
            <a:avLst/>
          </a:prstGeom>
          <a:noFill/>
        </p:spPr>
        <p:txBody>
          <a:bodyPr wrap="square" lIns="0" rIns="0" tIns="0" bIns="0" anchor="t">
            <a:spAutoFit/>
          </a:bodyPr>
          <a:lstStyle/>
          <a:p>
            <a:pPr algn="l"/>
            <a:r>
              <a:rPr sz="1800" b="1" i="0">
                <a:solidFill>
                  <a:srgbClr val="0B4A9E"/>
                </a:solidFill>
                <a:latin typeface="Inter"/>
              </a:rPr>
              <a:t>Session context</a:t>
            </a:r>
          </a:p>
        </p:txBody>
      </p:sp>
      <p:sp>
        <p:nvSpPr>
          <p:cNvPr id="9" name="TextBox 8"/>
          <p:cNvSpPr txBox="1"/>
          <p:nvPr/>
        </p:nvSpPr>
        <p:spPr>
          <a:xfrm>
            <a:off x="4572000" y="2743200"/>
            <a:ext cx="7132320" cy="822960"/>
          </a:xfrm>
          <a:prstGeom prst="rect">
            <a:avLst/>
          </a:prstGeom>
          <a:noFill/>
        </p:spPr>
        <p:txBody>
          <a:bodyPr wrap="square" lIns="0" rIns="0" tIns="0" bIns="0" anchor="t">
            <a:spAutoFit/>
          </a:bodyPr>
          <a:lstStyle/>
          <a:p>
            <a:pPr algn="l"/>
            <a:r>
              <a:rPr sz="1400" b="0" i="0">
                <a:solidFill>
                  <a:srgbClr val="151B23"/>
                </a:solidFill>
                <a:latin typeface="Inter"/>
              </a:rPr>
              <a:t>Stateful per-connection. Working sets live on the server, not in the prompt.</a:t>
            </a:r>
          </a:p>
        </p:txBody>
      </p:sp>
      <p:sp>
        <p:nvSpPr>
          <p:cNvPr id="10" name="TextBox 9"/>
          <p:cNvSpPr txBox="1"/>
          <p:nvPr/>
        </p:nvSpPr>
        <p:spPr>
          <a:xfrm>
            <a:off x="548640" y="3566160"/>
            <a:ext cx="3931920" cy="457200"/>
          </a:xfrm>
          <a:prstGeom prst="rect">
            <a:avLst/>
          </a:prstGeom>
          <a:noFill/>
        </p:spPr>
        <p:txBody>
          <a:bodyPr wrap="square" lIns="0" rIns="0" tIns="0" bIns="0" anchor="t">
            <a:spAutoFit/>
          </a:bodyPr>
          <a:lstStyle/>
          <a:p>
            <a:pPr algn="l"/>
            <a:r>
              <a:rPr sz="1800" b="1" i="0">
                <a:solidFill>
                  <a:srgbClr val="0B4A9E"/>
                </a:solidFill>
                <a:latin typeface="Inter"/>
              </a:rPr>
              <a:t>Structured responses</a:t>
            </a:r>
          </a:p>
        </p:txBody>
      </p:sp>
      <p:sp>
        <p:nvSpPr>
          <p:cNvPr id="11" name="TextBox 10"/>
          <p:cNvSpPr txBox="1"/>
          <p:nvPr/>
        </p:nvSpPr>
        <p:spPr>
          <a:xfrm>
            <a:off x="4572000" y="3611880"/>
            <a:ext cx="7132320" cy="822960"/>
          </a:xfrm>
          <a:prstGeom prst="rect">
            <a:avLst/>
          </a:prstGeom>
          <a:noFill/>
        </p:spPr>
        <p:txBody>
          <a:bodyPr wrap="square" lIns="0" rIns="0" tIns="0" bIns="0" anchor="t">
            <a:spAutoFit/>
          </a:bodyPr>
          <a:lstStyle/>
          <a:p>
            <a:pPr algn="l"/>
            <a:r>
              <a:rPr sz="1400" b="0" i="0">
                <a:solidFill>
                  <a:srgbClr val="151B23"/>
                </a:solidFill>
                <a:latin typeface="Inter"/>
              </a:rPr>
              <a:t>JSON objects, not HTML snippets. Compose cleanly with other tools.</a:t>
            </a:r>
          </a:p>
        </p:txBody>
      </p:sp>
      <p:sp>
        <p:nvSpPr>
          <p:cNvPr id="12" name="TextBox 11"/>
          <p:cNvSpPr txBox="1"/>
          <p:nvPr/>
        </p:nvSpPr>
        <p:spPr>
          <a:xfrm>
            <a:off x="548640" y="4434840"/>
            <a:ext cx="3931920" cy="457200"/>
          </a:xfrm>
          <a:prstGeom prst="rect">
            <a:avLst/>
          </a:prstGeom>
          <a:noFill/>
        </p:spPr>
        <p:txBody>
          <a:bodyPr wrap="square" lIns="0" rIns="0" tIns="0" bIns="0" anchor="t">
            <a:spAutoFit/>
          </a:bodyPr>
          <a:lstStyle/>
          <a:p>
            <a:pPr algn="l"/>
            <a:r>
              <a:rPr sz="1800" b="1" i="0">
                <a:solidFill>
                  <a:srgbClr val="0B4A9E"/>
                </a:solidFill>
                <a:latin typeface="Inter"/>
              </a:rPr>
              <a:t>Transport agnostic</a:t>
            </a:r>
          </a:p>
        </p:txBody>
      </p:sp>
      <p:sp>
        <p:nvSpPr>
          <p:cNvPr id="13" name="TextBox 12"/>
          <p:cNvSpPr txBox="1"/>
          <p:nvPr/>
        </p:nvSpPr>
        <p:spPr>
          <a:xfrm>
            <a:off x="4572000" y="4480560"/>
            <a:ext cx="7132320" cy="822960"/>
          </a:xfrm>
          <a:prstGeom prst="rect">
            <a:avLst/>
          </a:prstGeom>
          <a:noFill/>
        </p:spPr>
        <p:txBody>
          <a:bodyPr wrap="square" lIns="0" rIns="0" tIns="0" bIns="0" anchor="t">
            <a:spAutoFit/>
          </a:bodyPr>
          <a:lstStyle/>
          <a:p>
            <a:pPr algn="l"/>
            <a:r>
              <a:rPr sz="1400" b="0" i="0">
                <a:solidFill>
                  <a:srgbClr val="151B23"/>
                </a:solidFill>
                <a:latin typeface="Inter"/>
              </a:rPr>
              <a:t>stdio, HTTP, WebSocket. Works with Claude Desktop, Cursor, custom agents.</a:t>
            </a:r>
          </a:p>
        </p:txBody>
      </p:sp>
      <p:sp>
        <p:nvSpPr>
          <p:cNvPr id="14" name="TextBox 13"/>
          <p:cNvSpPr txBox="1"/>
          <p:nvPr/>
        </p:nvSpPr>
        <p:spPr>
          <a:xfrm>
            <a:off x="548640" y="5303520"/>
            <a:ext cx="3931920" cy="457200"/>
          </a:xfrm>
          <a:prstGeom prst="rect">
            <a:avLst/>
          </a:prstGeom>
          <a:noFill/>
        </p:spPr>
        <p:txBody>
          <a:bodyPr wrap="square" lIns="0" rIns="0" tIns="0" bIns="0" anchor="t">
            <a:spAutoFit/>
          </a:bodyPr>
          <a:lstStyle/>
          <a:p>
            <a:pPr algn="l"/>
            <a:r>
              <a:rPr sz="1800" b="1" i="0">
                <a:solidFill>
                  <a:srgbClr val="0B4A9E"/>
                </a:solidFill>
                <a:latin typeface="Inter"/>
              </a:rPr>
              <a:t>Portable discipline</a:t>
            </a:r>
          </a:p>
        </p:txBody>
      </p:sp>
      <p:sp>
        <p:nvSpPr>
          <p:cNvPr id="15" name="TextBox 14"/>
          <p:cNvSpPr txBox="1"/>
          <p:nvPr/>
        </p:nvSpPr>
        <p:spPr>
          <a:xfrm>
            <a:off x="4572000" y="5349240"/>
            <a:ext cx="7132320" cy="822960"/>
          </a:xfrm>
          <a:prstGeom prst="rect">
            <a:avLst/>
          </a:prstGeom>
          <a:noFill/>
        </p:spPr>
        <p:txBody>
          <a:bodyPr wrap="square" lIns="0" rIns="0" tIns="0" bIns="0" anchor="t">
            <a:spAutoFit/>
          </a:bodyPr>
          <a:lstStyle/>
          <a:p>
            <a:pPr algn="l"/>
            <a:r>
              <a:rPr sz="1400" b="0" i="0">
                <a:solidFill>
                  <a:srgbClr val="151B23"/>
                </a:solidFill>
                <a:latin typeface="Inter"/>
              </a:rPr>
              <a:t>If your research copilot talks MCP, the same knowledge layer can be hosted by ADS, arXiv, or you.</a:t>
            </a:r>
          </a:p>
        </p:txBody>
      </p:sp>
      <p:sp>
        <p:nvSpPr>
          <p:cNvPr id="16" name="TextBox 15"/>
          <p:cNvSpPr txBox="1"/>
          <p:nvPr/>
        </p:nvSpPr>
        <p:spPr>
          <a:xfrm>
            <a:off x="457200" y="6492240"/>
            <a:ext cx="9144000" cy="274320"/>
          </a:xfrm>
          <a:prstGeom prst="rect">
            <a:avLst/>
          </a:prstGeom>
          <a:noFill/>
        </p:spPr>
        <p:txBody>
          <a:bodyPr wrap="square" lIns="0" rIns="0" tIns="0" bIns="0" anchor="t">
            <a:spAutoFit/>
          </a:bodyPr>
          <a:lstStyle/>
          <a:p>
            <a:pPr algn="l"/>
            <a:r>
              <a:rPr sz="1000" b="0" i="0">
                <a:solidFill>
                  <a:srgbClr val="6B7280"/>
                </a:solidFill>
                <a:latin typeface="Inter"/>
              </a:rPr>
              <a:t>Stephanie Jarmak  ·  MLOps Community  ·  Making Scientific Knowledge Navigable for Agents</a:t>
            </a:r>
          </a:p>
        </p:txBody>
      </p:sp>
      <p:sp>
        <p:nvSpPr>
          <p:cNvPr id="17" name="TextBox 16"/>
          <p:cNvSpPr txBox="1"/>
          <p:nvPr/>
        </p:nvSpPr>
        <p:spPr>
          <a:xfrm>
            <a:off x="11247120" y="6492240"/>
            <a:ext cx="731520" cy="274320"/>
          </a:xfrm>
          <a:prstGeom prst="rect">
            <a:avLst/>
          </a:prstGeom>
          <a:noFill/>
        </p:spPr>
        <p:txBody>
          <a:bodyPr wrap="square" lIns="0" rIns="0" tIns="0" bIns="0" anchor="t">
            <a:spAutoFit/>
          </a:bodyPr>
          <a:lstStyle/>
          <a:p>
            <a:pPr algn="r"/>
            <a:r>
              <a:rPr sz="1000" b="0" i="0">
                <a:solidFill>
                  <a:srgbClr val="6B7280"/>
                </a:solidFill>
                <a:latin typeface="Inter"/>
              </a:rPr>
              <a:t>6 / 30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1247120" cy="731520"/>
          </a:xfrm>
          <a:prstGeom prst="rect">
            <a:avLst/>
          </a:prstGeom>
          <a:noFill/>
        </p:spPr>
        <p:txBody>
          <a:bodyPr wrap="square" lIns="0" rIns="0" tIns="0" bIns="0" anchor="t">
            <a:spAutoFit/>
          </a:bodyPr>
          <a:lstStyle/>
          <a:p>
            <a:pPr algn="l"/>
            <a:r>
              <a:rPr sz="3200" b="1" i="0">
                <a:solidFill>
                  <a:srgbClr val="151B23"/>
                </a:solidFill>
                <a:latin typeface="Inter"/>
              </a:rPr>
              <a:t>The corpus</a:t>
            </a:r>
          </a:p>
        </p:txBody>
      </p:sp>
      <p:sp>
        <p:nvSpPr>
          <p:cNvPr id="4" name="Rectangle 3"/>
          <p:cNvSpPr/>
          <p:nvPr/>
        </p:nvSpPr>
        <p:spPr>
          <a:xfrm>
            <a:off x="457200" y="1234440"/>
            <a:ext cx="731520" cy="25400"/>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11247120" cy="457200"/>
          </a:xfrm>
          <a:prstGeom prst="rect">
            <a:avLst/>
          </a:prstGeom>
          <a:noFill/>
        </p:spPr>
        <p:txBody>
          <a:bodyPr wrap="square" lIns="0" rIns="0" tIns="0" bIns="0" anchor="t">
            <a:spAutoFit/>
          </a:bodyPr>
          <a:lstStyle/>
          <a:p>
            <a:pPr algn="l"/>
            <a:r>
              <a:rPr sz="1600" b="0" i="1">
                <a:solidFill>
                  <a:srgbClr val="4B5563"/>
                </a:solidFill>
                <a:latin typeface="Inter"/>
              </a:rPr>
              <a:t>NASA ADS — the canonical bibliographic database for astronomy</a:t>
            </a:r>
          </a:p>
        </p:txBody>
      </p:sp>
      <p:pic>
        <p:nvPicPr>
          <p:cNvPr id="6" name="Picture 5" descr="corpus_stats.png"/>
          <p:cNvPicPr>
            <a:picLocks noChangeAspect="1"/>
          </p:cNvPicPr>
          <p:nvPr/>
        </p:nvPicPr>
        <p:blipFill>
          <a:blip r:embed="rId2"/>
          <a:stretch>
            <a:fillRect/>
          </a:stretch>
        </p:blipFill>
        <p:spPr>
          <a:xfrm>
            <a:off x="457200" y="1828800"/>
            <a:ext cx="11247120" cy="4355634"/>
          </a:xfrm>
          <a:prstGeom prst="rect">
            <a:avLst/>
          </a:prstGeom>
        </p:spPr>
      </p:pic>
      <p:sp>
        <p:nvSpPr>
          <p:cNvPr id="7" name="TextBox 6"/>
          <p:cNvSpPr txBox="1"/>
          <p:nvPr/>
        </p:nvSpPr>
        <p:spPr>
          <a:xfrm>
            <a:off x="457200" y="5852160"/>
            <a:ext cx="11247120" cy="457200"/>
          </a:xfrm>
          <a:prstGeom prst="rect">
            <a:avLst/>
          </a:prstGeom>
          <a:noFill/>
        </p:spPr>
        <p:txBody>
          <a:bodyPr wrap="square" lIns="0" rIns="0" tIns="0" bIns="0" anchor="t">
            <a:spAutoFit/>
          </a:bodyPr>
          <a:lstStyle/>
          <a:p>
            <a:pPr algn="ctr"/>
            <a:r>
              <a:rPr sz="1400" b="0" i="1">
                <a:solidFill>
                  <a:srgbClr val="4B5563"/>
                </a:solidFill>
                <a:latin typeface="Inter"/>
              </a:rPr>
              <a:t>14.9M papers with full body text (46%)  ·  PostgreSQL 16 + pgvector  ·  single server (62 GB RAM)</a:t>
            </a:r>
          </a:p>
        </p:txBody>
      </p:sp>
      <p:sp>
        <p:nvSpPr>
          <p:cNvPr id="8" name="TextBox 7"/>
          <p:cNvSpPr txBox="1"/>
          <p:nvPr/>
        </p:nvSpPr>
        <p:spPr>
          <a:xfrm>
            <a:off x="457200" y="6492240"/>
            <a:ext cx="9144000" cy="274320"/>
          </a:xfrm>
          <a:prstGeom prst="rect">
            <a:avLst/>
          </a:prstGeom>
          <a:noFill/>
        </p:spPr>
        <p:txBody>
          <a:bodyPr wrap="square" lIns="0" rIns="0" tIns="0" bIns="0" anchor="t">
            <a:spAutoFit/>
          </a:bodyPr>
          <a:lstStyle/>
          <a:p>
            <a:pPr algn="l"/>
            <a:r>
              <a:rPr sz="1000" b="0" i="0">
                <a:solidFill>
                  <a:srgbClr val="6B7280"/>
                </a:solidFill>
                <a:latin typeface="Inter"/>
              </a:rPr>
              <a:t>Stephanie Jarmak  ·  MLOps Community  ·  Making Scientific Knowledge Navigable for Agents</a:t>
            </a:r>
          </a:p>
        </p:txBody>
      </p:sp>
      <p:sp>
        <p:nvSpPr>
          <p:cNvPr id="9" name="TextBox 8"/>
          <p:cNvSpPr txBox="1"/>
          <p:nvPr/>
        </p:nvSpPr>
        <p:spPr>
          <a:xfrm>
            <a:off x="11247120" y="6492240"/>
            <a:ext cx="731520" cy="274320"/>
          </a:xfrm>
          <a:prstGeom prst="rect">
            <a:avLst/>
          </a:prstGeom>
          <a:noFill/>
        </p:spPr>
        <p:txBody>
          <a:bodyPr wrap="square" lIns="0" rIns="0" tIns="0" bIns="0" anchor="t">
            <a:spAutoFit/>
          </a:bodyPr>
          <a:lstStyle/>
          <a:p>
            <a:pPr algn="r"/>
            <a:r>
              <a:rPr sz="1000" b="0" i="0">
                <a:solidFill>
                  <a:srgbClr val="6B7280"/>
                </a:solidFill>
                <a:latin typeface="Inter"/>
              </a:rPr>
              <a:t>7 / 30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1247120" cy="731520"/>
          </a:xfrm>
          <a:prstGeom prst="rect">
            <a:avLst/>
          </a:prstGeom>
          <a:noFill/>
        </p:spPr>
        <p:txBody>
          <a:bodyPr wrap="square" lIns="0" rIns="0" tIns="0" bIns="0" anchor="t">
            <a:spAutoFit/>
          </a:bodyPr>
          <a:lstStyle/>
          <a:p>
            <a:pPr algn="l"/>
            <a:r>
              <a:rPr sz="3200" b="1" i="0">
                <a:solidFill>
                  <a:srgbClr val="151B23"/>
                </a:solidFill>
                <a:latin typeface="Inter"/>
              </a:rPr>
              <a:t>Corpus completeness determines graph validity</a:t>
            </a:r>
          </a:p>
        </p:txBody>
      </p:sp>
      <p:sp>
        <p:nvSpPr>
          <p:cNvPr id="4" name="Rectangle 3"/>
          <p:cNvSpPr/>
          <p:nvPr/>
        </p:nvSpPr>
        <p:spPr>
          <a:xfrm>
            <a:off x="457200" y="1234440"/>
            <a:ext cx="731520" cy="25400"/>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11247120" cy="457200"/>
          </a:xfrm>
          <a:prstGeom prst="rect">
            <a:avLst/>
          </a:prstGeom>
          <a:noFill/>
        </p:spPr>
        <p:txBody>
          <a:bodyPr wrap="square" lIns="0" rIns="0" tIns="0" bIns="0" anchor="t">
            <a:spAutoFit/>
          </a:bodyPr>
          <a:lstStyle/>
          <a:p>
            <a:pPr algn="l"/>
            <a:r>
              <a:rPr sz="1600" b="0" i="1">
                <a:solidFill>
                  <a:srgbClr val="4B5563"/>
                </a:solidFill>
                <a:latin typeface="Inter"/>
              </a:rPr>
              <a:t>A 6-year window resolves 17.8% of citation edges. The full corpus resolves 99.6%.</a:t>
            </a:r>
          </a:p>
        </p:txBody>
      </p:sp>
      <p:pic>
        <p:nvPicPr>
          <p:cNvPr id="6" name="Picture 5" descr="edge_resolution.png"/>
          <p:cNvPicPr>
            <a:picLocks noChangeAspect="1"/>
          </p:cNvPicPr>
          <p:nvPr/>
        </p:nvPicPr>
        <p:blipFill>
          <a:blip r:embed="rId2"/>
          <a:stretch>
            <a:fillRect/>
          </a:stretch>
        </p:blipFill>
        <p:spPr>
          <a:xfrm>
            <a:off x="1645920" y="1920240"/>
            <a:ext cx="8869680" cy="5697239"/>
          </a:xfrm>
          <a:prstGeom prst="rect">
            <a:avLst/>
          </a:prstGeom>
        </p:spPr>
      </p:pic>
      <p:sp>
        <p:nvSpPr>
          <p:cNvPr id="7" name="TextBox 6"/>
          <p:cNvSpPr txBox="1"/>
          <p:nvPr/>
        </p:nvSpPr>
        <p:spPr>
          <a:xfrm>
            <a:off x="731520" y="5943600"/>
            <a:ext cx="10698480" cy="731520"/>
          </a:xfrm>
          <a:prstGeom prst="rect">
            <a:avLst/>
          </a:prstGeom>
          <a:noFill/>
        </p:spPr>
        <p:txBody>
          <a:bodyPr wrap="square" lIns="0" rIns="0" tIns="0" bIns="0" anchor="t">
            <a:spAutoFit/>
          </a:bodyPr>
          <a:lstStyle/>
          <a:p>
            <a:pPr algn="ctr"/>
            <a:r>
              <a:rPr sz="1400" b="0" i="1">
                <a:solidFill>
                  <a:srgbClr val="4B5563"/>
                </a:solidFill>
                <a:latin typeface="Inter"/>
              </a:rPr>
              <a:t>82.2% of edges dangle into the void when you index a rolling window. That makes PageRank, community detection, and co-citation analysis structurally wrong — not just incomplete.</a:t>
            </a:r>
          </a:p>
        </p:txBody>
      </p:sp>
      <p:sp>
        <p:nvSpPr>
          <p:cNvPr id="8" name="TextBox 7"/>
          <p:cNvSpPr txBox="1"/>
          <p:nvPr/>
        </p:nvSpPr>
        <p:spPr>
          <a:xfrm>
            <a:off x="457200" y="6492240"/>
            <a:ext cx="9144000" cy="274320"/>
          </a:xfrm>
          <a:prstGeom prst="rect">
            <a:avLst/>
          </a:prstGeom>
          <a:noFill/>
        </p:spPr>
        <p:txBody>
          <a:bodyPr wrap="square" lIns="0" rIns="0" tIns="0" bIns="0" anchor="t">
            <a:spAutoFit/>
          </a:bodyPr>
          <a:lstStyle/>
          <a:p>
            <a:pPr algn="l"/>
            <a:r>
              <a:rPr sz="1000" b="0" i="0">
                <a:solidFill>
                  <a:srgbClr val="6B7280"/>
                </a:solidFill>
                <a:latin typeface="Inter"/>
              </a:rPr>
              <a:t>Stephanie Jarmak  ·  MLOps Community  ·  Making Scientific Knowledge Navigable for Agents</a:t>
            </a:r>
          </a:p>
        </p:txBody>
      </p:sp>
      <p:sp>
        <p:nvSpPr>
          <p:cNvPr id="9" name="TextBox 8"/>
          <p:cNvSpPr txBox="1"/>
          <p:nvPr/>
        </p:nvSpPr>
        <p:spPr>
          <a:xfrm>
            <a:off x="11247120" y="6492240"/>
            <a:ext cx="731520" cy="274320"/>
          </a:xfrm>
          <a:prstGeom prst="rect">
            <a:avLst/>
          </a:prstGeom>
          <a:noFill/>
        </p:spPr>
        <p:txBody>
          <a:bodyPr wrap="square" lIns="0" rIns="0" tIns="0" bIns="0" anchor="t">
            <a:spAutoFit/>
          </a:bodyPr>
          <a:lstStyle/>
          <a:p>
            <a:pPr algn="r"/>
            <a:r>
              <a:rPr sz="1000" b="0" i="0">
                <a:solidFill>
                  <a:srgbClr val="6B7280"/>
                </a:solidFill>
                <a:latin typeface="Inter"/>
              </a:rPr>
              <a:t>8 / 30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1247120" cy="731520"/>
          </a:xfrm>
          <a:prstGeom prst="rect">
            <a:avLst/>
          </a:prstGeom>
          <a:noFill/>
        </p:spPr>
        <p:txBody>
          <a:bodyPr wrap="square" lIns="0" rIns="0" tIns="0" bIns="0" anchor="t">
            <a:spAutoFit/>
          </a:bodyPr>
          <a:lstStyle/>
          <a:p>
            <a:pPr algn="l"/>
            <a:r>
              <a:rPr sz="3200" b="1" i="0">
                <a:solidFill>
                  <a:srgbClr val="151B23"/>
                </a:solidFill>
                <a:latin typeface="Inter"/>
              </a:rPr>
              <a:t>From 45K fragmented components to a single giant component</a:t>
            </a:r>
          </a:p>
        </p:txBody>
      </p:sp>
      <p:sp>
        <p:nvSpPr>
          <p:cNvPr id="4" name="Rectangle 3"/>
          <p:cNvSpPr/>
          <p:nvPr/>
        </p:nvSpPr>
        <p:spPr>
          <a:xfrm>
            <a:off x="457200" y="1234440"/>
            <a:ext cx="731520" cy="25400"/>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828800"/>
            <a:ext cx="5394960" cy="4114800"/>
          </a:xfrm>
          <a:prstGeom prst="roundRect">
            <a:avLst/>
          </a:prstGeom>
          <a:solidFill>
            <a:srgbClr val="FDEAE8"/>
          </a:solidFill>
          <a:ln w="15240">
            <a:solidFill>
              <a:srgbClr val="D05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011680"/>
            <a:ext cx="4846320" cy="457200"/>
          </a:xfrm>
          <a:prstGeom prst="rect">
            <a:avLst/>
          </a:prstGeom>
          <a:noFill/>
        </p:spPr>
        <p:txBody>
          <a:bodyPr wrap="square" lIns="0" rIns="0" tIns="0" bIns="0" anchor="t">
            <a:spAutoFit/>
          </a:bodyPr>
          <a:lstStyle/>
          <a:p>
            <a:pPr algn="l"/>
            <a:r>
              <a:rPr sz="2000" b="1" i="0">
                <a:solidFill>
                  <a:srgbClr val="D0564A"/>
                </a:solidFill>
                <a:latin typeface="Inter"/>
              </a:rPr>
              <a:t>6-year window</a:t>
            </a:r>
          </a:p>
        </p:txBody>
      </p:sp>
      <p:sp>
        <p:nvSpPr>
          <p:cNvPr id="7" name="TextBox 6"/>
          <p:cNvSpPr txBox="1"/>
          <p:nvPr/>
        </p:nvSpPr>
        <p:spPr>
          <a:xfrm>
            <a:off x="1005840" y="2423160"/>
            <a:ext cx="4846320" cy="365760"/>
          </a:xfrm>
          <a:prstGeom prst="rect">
            <a:avLst/>
          </a:prstGeom>
          <a:noFill/>
        </p:spPr>
        <p:txBody>
          <a:bodyPr wrap="square" lIns="0" rIns="0" tIns="0" bIns="0" anchor="t">
            <a:spAutoFit/>
          </a:bodyPr>
          <a:lstStyle/>
          <a:p>
            <a:pPr algn="l"/>
            <a:r>
              <a:rPr sz="1300" b="0" i="1">
                <a:solidFill>
                  <a:srgbClr val="4B5563"/>
                </a:solidFill>
                <a:latin typeface="Inter"/>
              </a:rPr>
              <a:t>2021–2026, ~5M papers</a:t>
            </a:r>
          </a:p>
        </p:txBody>
      </p:sp>
      <p:sp>
        <p:nvSpPr>
          <p:cNvPr id="8" name="TextBox 7"/>
          <p:cNvSpPr txBox="1"/>
          <p:nvPr/>
        </p:nvSpPr>
        <p:spPr>
          <a:xfrm>
            <a:off x="1005840" y="2926080"/>
            <a:ext cx="2011680" cy="457200"/>
          </a:xfrm>
          <a:prstGeom prst="rect">
            <a:avLst/>
          </a:prstGeom>
          <a:noFill/>
        </p:spPr>
        <p:txBody>
          <a:bodyPr wrap="square" lIns="0" rIns="0" tIns="0" bIns="0" anchor="t">
            <a:spAutoFit/>
          </a:bodyPr>
          <a:lstStyle/>
          <a:p>
            <a:pPr algn="l"/>
            <a:r>
              <a:rPr sz="2200" b="1" i="0">
                <a:solidFill>
                  <a:srgbClr val="151B23"/>
                </a:solidFill>
                <a:latin typeface="Inter"/>
              </a:rPr>
              <a:t>~45,000</a:t>
            </a:r>
          </a:p>
        </p:txBody>
      </p:sp>
      <p:sp>
        <p:nvSpPr>
          <p:cNvPr id="9" name="TextBox 8"/>
          <p:cNvSpPr txBox="1"/>
          <p:nvPr/>
        </p:nvSpPr>
        <p:spPr>
          <a:xfrm>
            <a:off x="3108960" y="3017520"/>
            <a:ext cx="3017520" cy="365760"/>
          </a:xfrm>
          <a:prstGeom prst="rect">
            <a:avLst/>
          </a:prstGeom>
          <a:noFill/>
        </p:spPr>
        <p:txBody>
          <a:bodyPr wrap="square" lIns="0" rIns="0" tIns="0" bIns="0" anchor="t">
            <a:spAutoFit/>
          </a:bodyPr>
          <a:lstStyle/>
          <a:p>
            <a:pPr algn="l"/>
            <a:r>
              <a:rPr sz="1300" b="0" i="0">
                <a:solidFill>
                  <a:srgbClr val="4B5563"/>
                </a:solidFill>
                <a:latin typeface="Inter"/>
              </a:rPr>
              <a:t>disconnected components</a:t>
            </a:r>
          </a:p>
        </p:txBody>
      </p:sp>
      <p:sp>
        <p:nvSpPr>
          <p:cNvPr id="10" name="TextBox 9"/>
          <p:cNvSpPr txBox="1"/>
          <p:nvPr/>
        </p:nvSpPr>
        <p:spPr>
          <a:xfrm>
            <a:off x="1005840" y="3611880"/>
            <a:ext cx="2011680" cy="457200"/>
          </a:xfrm>
          <a:prstGeom prst="rect">
            <a:avLst/>
          </a:prstGeom>
          <a:noFill/>
        </p:spPr>
        <p:txBody>
          <a:bodyPr wrap="square" lIns="0" rIns="0" tIns="0" bIns="0" anchor="t">
            <a:spAutoFit/>
          </a:bodyPr>
          <a:lstStyle/>
          <a:p>
            <a:pPr algn="l"/>
            <a:r>
              <a:rPr sz="2200" b="1" i="0">
                <a:solidFill>
                  <a:srgbClr val="151B23"/>
                </a:solidFill>
                <a:latin typeface="Inter"/>
              </a:rPr>
              <a:t>~1.7M</a:t>
            </a:r>
          </a:p>
        </p:txBody>
      </p:sp>
      <p:sp>
        <p:nvSpPr>
          <p:cNvPr id="11" name="TextBox 10"/>
          <p:cNvSpPr txBox="1"/>
          <p:nvPr/>
        </p:nvSpPr>
        <p:spPr>
          <a:xfrm>
            <a:off x="3108960" y="3703320"/>
            <a:ext cx="3017520" cy="365760"/>
          </a:xfrm>
          <a:prstGeom prst="rect">
            <a:avLst/>
          </a:prstGeom>
          <a:noFill/>
        </p:spPr>
        <p:txBody>
          <a:bodyPr wrap="square" lIns="0" rIns="0" tIns="0" bIns="0" anchor="t">
            <a:spAutoFit/>
          </a:bodyPr>
          <a:lstStyle/>
          <a:p>
            <a:pPr algn="l"/>
            <a:r>
              <a:rPr sz="1300" b="0" i="0">
                <a:solidFill>
                  <a:srgbClr val="4B5563"/>
                </a:solidFill>
                <a:latin typeface="Inter"/>
              </a:rPr>
              <a:t>isolated nodes</a:t>
            </a:r>
          </a:p>
        </p:txBody>
      </p:sp>
      <p:sp>
        <p:nvSpPr>
          <p:cNvPr id="12" name="TextBox 11"/>
          <p:cNvSpPr txBox="1"/>
          <p:nvPr/>
        </p:nvSpPr>
        <p:spPr>
          <a:xfrm>
            <a:off x="1005840" y="4297680"/>
            <a:ext cx="2011680" cy="457200"/>
          </a:xfrm>
          <a:prstGeom prst="rect">
            <a:avLst/>
          </a:prstGeom>
          <a:noFill/>
        </p:spPr>
        <p:txBody>
          <a:bodyPr wrap="square" lIns="0" rIns="0" tIns="0" bIns="0" anchor="t">
            <a:spAutoFit/>
          </a:bodyPr>
          <a:lstStyle/>
          <a:p>
            <a:pPr algn="l"/>
            <a:r>
              <a:rPr sz="2200" b="1" i="0">
                <a:solidFill>
                  <a:srgbClr val="151B23"/>
                </a:solidFill>
                <a:latin typeface="Inter"/>
              </a:rPr>
              <a:t>17.8%</a:t>
            </a:r>
          </a:p>
        </p:txBody>
      </p:sp>
      <p:sp>
        <p:nvSpPr>
          <p:cNvPr id="13" name="TextBox 12"/>
          <p:cNvSpPr txBox="1"/>
          <p:nvPr/>
        </p:nvSpPr>
        <p:spPr>
          <a:xfrm>
            <a:off x="3108960" y="4389120"/>
            <a:ext cx="3017520" cy="365760"/>
          </a:xfrm>
          <a:prstGeom prst="rect">
            <a:avLst/>
          </a:prstGeom>
          <a:noFill/>
        </p:spPr>
        <p:txBody>
          <a:bodyPr wrap="square" lIns="0" rIns="0" tIns="0" bIns="0" anchor="t">
            <a:spAutoFit/>
          </a:bodyPr>
          <a:lstStyle/>
          <a:p>
            <a:pPr algn="l"/>
            <a:r>
              <a:rPr sz="1300" b="0" i="0">
                <a:solidFill>
                  <a:srgbClr val="4B5563"/>
                </a:solidFill>
                <a:latin typeface="Inter"/>
              </a:rPr>
              <a:t>of edges resolved</a:t>
            </a:r>
          </a:p>
        </p:txBody>
      </p:sp>
      <p:sp>
        <p:nvSpPr>
          <p:cNvPr id="14" name="TextBox 13"/>
          <p:cNvSpPr txBox="1"/>
          <p:nvPr/>
        </p:nvSpPr>
        <p:spPr>
          <a:xfrm>
            <a:off x="1005840" y="4983480"/>
            <a:ext cx="2011680" cy="457200"/>
          </a:xfrm>
          <a:prstGeom prst="rect">
            <a:avLst/>
          </a:prstGeom>
          <a:noFill/>
        </p:spPr>
        <p:txBody>
          <a:bodyPr wrap="square" lIns="0" rIns="0" tIns="0" bIns="0" anchor="t">
            <a:spAutoFit/>
          </a:bodyPr>
          <a:lstStyle/>
          <a:p>
            <a:pPr algn="l"/>
            <a:r>
              <a:rPr sz="2200" b="1" i="0">
                <a:solidFill>
                  <a:srgbClr val="151B23"/>
                </a:solidFill>
                <a:latin typeface="Inter"/>
              </a:rPr>
              <a:t>misleading</a:t>
            </a:r>
          </a:p>
        </p:txBody>
      </p:sp>
      <p:sp>
        <p:nvSpPr>
          <p:cNvPr id="15" name="TextBox 14"/>
          <p:cNvSpPr txBox="1"/>
          <p:nvPr/>
        </p:nvSpPr>
        <p:spPr>
          <a:xfrm>
            <a:off x="3108960" y="5074920"/>
            <a:ext cx="3017520" cy="365760"/>
          </a:xfrm>
          <a:prstGeom prst="rect">
            <a:avLst/>
          </a:prstGeom>
          <a:noFill/>
        </p:spPr>
        <p:txBody>
          <a:bodyPr wrap="square" lIns="0" rIns="0" tIns="0" bIns="0" anchor="t">
            <a:spAutoFit/>
          </a:bodyPr>
          <a:lstStyle/>
          <a:p>
            <a:pPr algn="l"/>
            <a:r>
              <a:rPr sz="1300" b="0" i="0">
                <a:solidFill>
                  <a:srgbClr val="4B5563"/>
                </a:solidFill>
                <a:latin typeface="Inter"/>
              </a:rPr>
              <a:t>PageRank, Leiden, co-citation</a:t>
            </a:r>
          </a:p>
        </p:txBody>
      </p:sp>
      <p:sp>
        <p:nvSpPr>
          <p:cNvPr id="16" name="Rounded Rectangle 15"/>
          <p:cNvSpPr/>
          <p:nvPr/>
        </p:nvSpPr>
        <p:spPr>
          <a:xfrm>
            <a:off x="6400800" y="1828800"/>
            <a:ext cx="5303520" cy="4114800"/>
          </a:xfrm>
          <a:prstGeom prst="roundRect">
            <a:avLst/>
          </a:prstGeom>
          <a:solidFill>
            <a:srgbClr val="E6F6EE"/>
          </a:solidFill>
          <a:ln w="15240">
            <a:solidFill>
              <a:srgbClr val="2AA8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0" y="2011680"/>
            <a:ext cx="4754880" cy="457200"/>
          </a:xfrm>
          <a:prstGeom prst="rect">
            <a:avLst/>
          </a:prstGeom>
          <a:noFill/>
        </p:spPr>
        <p:txBody>
          <a:bodyPr wrap="square" lIns="0" rIns="0" tIns="0" bIns="0" anchor="t">
            <a:spAutoFit/>
          </a:bodyPr>
          <a:lstStyle/>
          <a:p>
            <a:pPr algn="l"/>
            <a:r>
              <a:rPr sz="2000" b="1" i="0">
                <a:solidFill>
                  <a:srgbClr val="2AA876"/>
                </a:solidFill>
                <a:latin typeface="Inter"/>
              </a:rPr>
              <a:t>Full corpus</a:t>
            </a:r>
          </a:p>
        </p:txBody>
      </p:sp>
      <p:sp>
        <p:nvSpPr>
          <p:cNvPr id="18" name="TextBox 17"/>
          <p:cNvSpPr txBox="1"/>
          <p:nvPr/>
        </p:nvSpPr>
        <p:spPr>
          <a:xfrm>
            <a:off x="6675120" y="2423160"/>
            <a:ext cx="4754880" cy="365760"/>
          </a:xfrm>
          <a:prstGeom prst="rect">
            <a:avLst/>
          </a:prstGeom>
          <a:noFill/>
        </p:spPr>
        <p:txBody>
          <a:bodyPr wrap="square" lIns="0" rIns="0" tIns="0" bIns="0" anchor="t">
            <a:spAutoFit/>
          </a:bodyPr>
          <a:lstStyle/>
          <a:p>
            <a:pPr algn="l"/>
            <a:r>
              <a:rPr sz="1300" b="0" i="1">
                <a:solidFill>
                  <a:srgbClr val="4B5563"/>
                </a:solidFill>
                <a:latin typeface="Inter"/>
              </a:rPr>
              <a:t>1800–2026, 32.4M papers</a:t>
            </a:r>
          </a:p>
        </p:txBody>
      </p:sp>
      <p:sp>
        <p:nvSpPr>
          <p:cNvPr id="19" name="TextBox 18"/>
          <p:cNvSpPr txBox="1"/>
          <p:nvPr/>
        </p:nvSpPr>
        <p:spPr>
          <a:xfrm>
            <a:off x="6675120" y="2926080"/>
            <a:ext cx="2286000" cy="457200"/>
          </a:xfrm>
          <a:prstGeom prst="rect">
            <a:avLst/>
          </a:prstGeom>
          <a:noFill/>
        </p:spPr>
        <p:txBody>
          <a:bodyPr wrap="square" lIns="0" rIns="0" tIns="0" bIns="0" anchor="t">
            <a:spAutoFit/>
          </a:bodyPr>
          <a:lstStyle/>
          <a:p>
            <a:pPr algn="l"/>
            <a:r>
              <a:rPr sz="2200" b="1" i="0">
                <a:solidFill>
                  <a:srgbClr val="151B23"/>
                </a:solidFill>
                <a:latin typeface="Inter"/>
              </a:rPr>
              <a:t>19.98M</a:t>
            </a:r>
          </a:p>
        </p:txBody>
      </p:sp>
      <p:sp>
        <p:nvSpPr>
          <p:cNvPr id="20" name="TextBox 19"/>
          <p:cNvSpPr txBox="1"/>
          <p:nvPr/>
        </p:nvSpPr>
        <p:spPr>
          <a:xfrm>
            <a:off x="9052560" y="3017520"/>
            <a:ext cx="2651760" cy="365760"/>
          </a:xfrm>
          <a:prstGeom prst="rect">
            <a:avLst/>
          </a:prstGeom>
          <a:noFill/>
        </p:spPr>
        <p:txBody>
          <a:bodyPr wrap="square" lIns="0" rIns="0" tIns="0" bIns="0" anchor="t">
            <a:spAutoFit/>
          </a:bodyPr>
          <a:lstStyle/>
          <a:p>
            <a:pPr algn="l"/>
            <a:r>
              <a:rPr sz="1300" b="0" i="0">
                <a:solidFill>
                  <a:srgbClr val="4B5563"/>
                </a:solidFill>
                <a:latin typeface="Inter"/>
              </a:rPr>
              <a:t>in the giant component (99.3% of connected)</a:t>
            </a:r>
          </a:p>
        </p:txBody>
      </p:sp>
      <p:sp>
        <p:nvSpPr>
          <p:cNvPr id="21" name="TextBox 20"/>
          <p:cNvSpPr txBox="1"/>
          <p:nvPr/>
        </p:nvSpPr>
        <p:spPr>
          <a:xfrm>
            <a:off x="6675120" y="3611880"/>
            <a:ext cx="2286000" cy="457200"/>
          </a:xfrm>
          <a:prstGeom prst="rect">
            <a:avLst/>
          </a:prstGeom>
          <a:noFill/>
        </p:spPr>
        <p:txBody>
          <a:bodyPr wrap="square" lIns="0" rIns="0" tIns="0" bIns="0" anchor="t">
            <a:spAutoFit/>
          </a:bodyPr>
          <a:lstStyle/>
          <a:p>
            <a:pPr algn="l"/>
            <a:r>
              <a:rPr sz="2200" b="1" i="0">
                <a:solidFill>
                  <a:srgbClr val="151B23"/>
                </a:solidFill>
                <a:latin typeface="Inter"/>
              </a:rPr>
              <a:t>36</a:t>
            </a:r>
          </a:p>
        </p:txBody>
      </p:sp>
      <p:sp>
        <p:nvSpPr>
          <p:cNvPr id="22" name="TextBox 21"/>
          <p:cNvSpPr txBox="1"/>
          <p:nvPr/>
        </p:nvSpPr>
        <p:spPr>
          <a:xfrm>
            <a:off x="9052560" y="3703320"/>
            <a:ext cx="2651760" cy="365760"/>
          </a:xfrm>
          <a:prstGeom prst="rect">
            <a:avLst/>
          </a:prstGeom>
          <a:noFill/>
        </p:spPr>
        <p:txBody>
          <a:bodyPr wrap="square" lIns="0" rIns="0" tIns="0" bIns="0" anchor="t">
            <a:spAutoFit/>
          </a:bodyPr>
          <a:lstStyle/>
          <a:p>
            <a:pPr algn="l"/>
            <a:r>
              <a:rPr sz="1300" b="0" i="0">
                <a:solidFill>
                  <a:srgbClr val="4B5563"/>
                </a:solidFill>
                <a:latin typeface="Inter"/>
              </a:rPr>
              <a:t>size of the 2nd-largest component</a:t>
            </a:r>
          </a:p>
        </p:txBody>
      </p:sp>
      <p:sp>
        <p:nvSpPr>
          <p:cNvPr id="23" name="TextBox 22"/>
          <p:cNvSpPr txBox="1"/>
          <p:nvPr/>
        </p:nvSpPr>
        <p:spPr>
          <a:xfrm>
            <a:off x="6675120" y="4297680"/>
            <a:ext cx="2286000" cy="457200"/>
          </a:xfrm>
          <a:prstGeom prst="rect">
            <a:avLst/>
          </a:prstGeom>
          <a:noFill/>
        </p:spPr>
        <p:txBody>
          <a:bodyPr wrap="square" lIns="0" rIns="0" tIns="0" bIns="0" anchor="t">
            <a:spAutoFit/>
          </a:bodyPr>
          <a:lstStyle/>
          <a:p>
            <a:pPr algn="l"/>
            <a:r>
              <a:rPr sz="2200" b="1" i="0">
                <a:solidFill>
                  <a:srgbClr val="151B23"/>
                </a:solidFill>
                <a:latin typeface="Inter"/>
              </a:rPr>
              <a:t>99.6%</a:t>
            </a:r>
          </a:p>
        </p:txBody>
      </p:sp>
      <p:sp>
        <p:nvSpPr>
          <p:cNvPr id="24" name="TextBox 23"/>
          <p:cNvSpPr txBox="1"/>
          <p:nvPr/>
        </p:nvSpPr>
        <p:spPr>
          <a:xfrm>
            <a:off x="9052560" y="4389120"/>
            <a:ext cx="2651760" cy="365760"/>
          </a:xfrm>
          <a:prstGeom prst="rect">
            <a:avLst/>
          </a:prstGeom>
          <a:noFill/>
        </p:spPr>
        <p:txBody>
          <a:bodyPr wrap="square" lIns="0" rIns="0" tIns="0" bIns="0" anchor="t">
            <a:spAutoFit/>
          </a:bodyPr>
          <a:lstStyle/>
          <a:p>
            <a:pPr algn="l"/>
            <a:r>
              <a:rPr sz="1300" b="0" i="0">
                <a:solidFill>
                  <a:srgbClr val="4B5563"/>
                </a:solidFill>
                <a:latin typeface="Inter"/>
              </a:rPr>
              <a:t>of edges resolved</a:t>
            </a:r>
          </a:p>
        </p:txBody>
      </p:sp>
      <p:sp>
        <p:nvSpPr>
          <p:cNvPr id="25" name="TextBox 24"/>
          <p:cNvSpPr txBox="1"/>
          <p:nvPr/>
        </p:nvSpPr>
        <p:spPr>
          <a:xfrm>
            <a:off x="6675120" y="4983480"/>
            <a:ext cx="2286000" cy="457200"/>
          </a:xfrm>
          <a:prstGeom prst="rect">
            <a:avLst/>
          </a:prstGeom>
          <a:noFill/>
        </p:spPr>
        <p:txBody>
          <a:bodyPr wrap="square" lIns="0" rIns="0" tIns="0" bIns="0" anchor="t">
            <a:spAutoFit/>
          </a:bodyPr>
          <a:lstStyle/>
          <a:p>
            <a:pPr algn="l"/>
            <a:r>
              <a:rPr sz="2200" b="1" i="0">
                <a:solidFill>
                  <a:srgbClr val="151B23"/>
                </a:solidFill>
                <a:latin typeface="Inter"/>
              </a:rPr>
              <a:t>valid</a:t>
            </a:r>
          </a:p>
        </p:txBody>
      </p:sp>
      <p:sp>
        <p:nvSpPr>
          <p:cNvPr id="26" name="TextBox 25"/>
          <p:cNvSpPr txBox="1"/>
          <p:nvPr/>
        </p:nvSpPr>
        <p:spPr>
          <a:xfrm>
            <a:off x="9052560" y="5074920"/>
            <a:ext cx="2651760" cy="365760"/>
          </a:xfrm>
          <a:prstGeom prst="rect">
            <a:avLst/>
          </a:prstGeom>
          <a:noFill/>
        </p:spPr>
        <p:txBody>
          <a:bodyPr wrap="square" lIns="0" rIns="0" tIns="0" bIns="0" anchor="t">
            <a:spAutoFit/>
          </a:bodyPr>
          <a:lstStyle/>
          <a:p>
            <a:pPr algn="l"/>
            <a:r>
              <a:rPr sz="1300" b="0" i="0">
                <a:solidFill>
                  <a:srgbClr val="4B5563"/>
                </a:solidFill>
                <a:latin typeface="Inter"/>
              </a:rPr>
              <a:t>PageRank, Leiden, co-citation</a:t>
            </a:r>
          </a:p>
        </p:txBody>
      </p:sp>
      <p:sp>
        <p:nvSpPr>
          <p:cNvPr id="27" name="TextBox 26"/>
          <p:cNvSpPr txBox="1"/>
          <p:nvPr/>
        </p:nvSpPr>
        <p:spPr>
          <a:xfrm>
            <a:off x="457200" y="6126480"/>
            <a:ext cx="11247120" cy="365760"/>
          </a:xfrm>
          <a:prstGeom prst="rect">
            <a:avLst/>
          </a:prstGeom>
          <a:noFill/>
        </p:spPr>
        <p:txBody>
          <a:bodyPr wrap="square" lIns="0" rIns="0" tIns="0" bIns="0" anchor="t">
            <a:spAutoFit/>
          </a:bodyPr>
          <a:lstStyle/>
          <a:p>
            <a:pPr algn="ctr"/>
            <a:r>
              <a:rPr sz="1300" b="0" i="1">
                <a:solidFill>
                  <a:srgbClr val="6B7280"/>
                </a:solidFill>
                <a:latin typeface="Inter"/>
              </a:rPr>
              <a:t>Only 1 connected component exceeds 100 nodes — the giant component itself.</a:t>
            </a:r>
          </a:p>
        </p:txBody>
      </p:sp>
      <p:sp>
        <p:nvSpPr>
          <p:cNvPr id="28" name="TextBox 27"/>
          <p:cNvSpPr txBox="1"/>
          <p:nvPr/>
        </p:nvSpPr>
        <p:spPr>
          <a:xfrm>
            <a:off x="457200" y="6492240"/>
            <a:ext cx="9144000" cy="274320"/>
          </a:xfrm>
          <a:prstGeom prst="rect">
            <a:avLst/>
          </a:prstGeom>
          <a:noFill/>
        </p:spPr>
        <p:txBody>
          <a:bodyPr wrap="square" lIns="0" rIns="0" tIns="0" bIns="0" anchor="t">
            <a:spAutoFit/>
          </a:bodyPr>
          <a:lstStyle/>
          <a:p>
            <a:pPr algn="l"/>
            <a:r>
              <a:rPr sz="1000" b="0" i="0">
                <a:solidFill>
                  <a:srgbClr val="6B7280"/>
                </a:solidFill>
                <a:latin typeface="Inter"/>
              </a:rPr>
              <a:t>Stephanie Jarmak  ·  MLOps Community  ·  Making Scientific Knowledge Navigable for Agents</a:t>
            </a:r>
          </a:p>
        </p:txBody>
      </p:sp>
      <p:sp>
        <p:nvSpPr>
          <p:cNvPr id="29" name="TextBox 28"/>
          <p:cNvSpPr txBox="1"/>
          <p:nvPr/>
        </p:nvSpPr>
        <p:spPr>
          <a:xfrm>
            <a:off x="11247120" y="6492240"/>
            <a:ext cx="731520" cy="274320"/>
          </a:xfrm>
          <a:prstGeom prst="rect">
            <a:avLst/>
          </a:prstGeom>
          <a:noFill/>
        </p:spPr>
        <p:txBody>
          <a:bodyPr wrap="square" lIns="0" rIns="0" tIns="0" bIns="0" anchor="t">
            <a:spAutoFit/>
          </a:bodyPr>
          <a:lstStyle/>
          <a:p>
            <a:pPr algn="r"/>
            <a:r>
              <a:rPr sz="1000" b="0" i="0">
                <a:solidFill>
                  <a:srgbClr val="6B7280"/>
                </a:solidFill>
                <a:latin typeface="Inter"/>
              </a:rPr>
              <a:t>9 / 30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1247120" cy="731520"/>
          </a:xfrm>
          <a:prstGeom prst="rect">
            <a:avLst/>
          </a:prstGeom>
          <a:noFill/>
        </p:spPr>
        <p:txBody>
          <a:bodyPr wrap="square" lIns="0" rIns="0" tIns="0" bIns="0" anchor="t">
            <a:spAutoFit/>
          </a:bodyPr>
          <a:lstStyle/>
          <a:p>
            <a:pPr algn="l"/>
            <a:r>
              <a:rPr sz="3200" b="1" i="0">
                <a:solidFill>
                  <a:srgbClr val="151B23"/>
                </a:solidFill>
                <a:latin typeface="Inter"/>
              </a:rPr>
              <a:t>Takeaway: corpus completeness is a retrieval-quality axis</a:t>
            </a:r>
          </a:p>
        </p:txBody>
      </p:sp>
      <p:sp>
        <p:nvSpPr>
          <p:cNvPr id="4" name="Rectangle 3"/>
          <p:cNvSpPr/>
          <p:nvPr/>
        </p:nvSpPr>
        <p:spPr>
          <a:xfrm>
            <a:off x="457200" y="1234440"/>
            <a:ext cx="731520" cy="25400"/>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11247120" cy="457200"/>
          </a:xfrm>
          <a:prstGeom prst="rect">
            <a:avLst/>
          </a:prstGeom>
          <a:noFill/>
        </p:spPr>
        <p:txBody>
          <a:bodyPr wrap="square" lIns="0" rIns="0" tIns="0" bIns="0" anchor="t">
            <a:spAutoFit/>
          </a:bodyPr>
          <a:lstStyle/>
          <a:p>
            <a:pPr algn="l"/>
            <a:r>
              <a:rPr sz="1600" b="0" i="1">
                <a:solidFill>
                  <a:srgbClr val="4B5563"/>
                </a:solidFill>
                <a:latin typeface="Inter"/>
              </a:rPr>
              <a:t>Not a "nice to have" — a prerequisite for agentic graph reasoning</a:t>
            </a:r>
          </a:p>
        </p:txBody>
      </p:sp>
      <p:sp>
        <p:nvSpPr>
          <p:cNvPr id="6" name="Rounded Rectangle 5"/>
          <p:cNvSpPr/>
          <p:nvPr/>
        </p:nvSpPr>
        <p:spPr>
          <a:xfrm>
            <a:off x="457200" y="2011680"/>
            <a:ext cx="3657600" cy="3931920"/>
          </a:xfrm>
          <a:prstGeom prst="roundRect">
            <a:avLst/>
          </a:prstGeom>
          <a:solidFill>
            <a:srgbClr val="F5F8FD"/>
          </a:solidFill>
          <a:ln w="15240">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286000"/>
            <a:ext cx="3200400" cy="640080"/>
          </a:xfrm>
          <a:prstGeom prst="rect">
            <a:avLst/>
          </a:prstGeom>
          <a:noFill/>
        </p:spPr>
        <p:txBody>
          <a:bodyPr wrap="square" lIns="0" rIns="0" tIns="0" bIns="0" anchor="t">
            <a:spAutoFit/>
          </a:bodyPr>
          <a:lstStyle/>
          <a:p>
            <a:pPr algn="l"/>
            <a:r>
              <a:rPr sz="1800" b="1" i="0">
                <a:solidFill>
                  <a:srgbClr val="0B4A9E"/>
                </a:solidFill>
                <a:latin typeface="Inter"/>
              </a:rPr>
              <a:t>Rolling-window bias</a:t>
            </a:r>
          </a:p>
        </p:txBody>
      </p:sp>
      <p:sp>
        <p:nvSpPr>
          <p:cNvPr id="8" name="TextBox 7"/>
          <p:cNvSpPr txBox="1"/>
          <p:nvPr/>
        </p:nvSpPr>
        <p:spPr>
          <a:xfrm>
            <a:off x="731520" y="3108960"/>
            <a:ext cx="3200400" cy="2468880"/>
          </a:xfrm>
          <a:prstGeom prst="rect">
            <a:avLst/>
          </a:prstGeom>
          <a:noFill/>
        </p:spPr>
        <p:txBody>
          <a:bodyPr wrap="square" lIns="0" rIns="0" tIns="0" bIns="0" anchor="t">
            <a:spAutoFit/>
          </a:bodyPr>
          <a:lstStyle/>
          <a:p>
            <a:pPr algn="l"/>
            <a:r>
              <a:rPr sz="1400" b="0" i="0">
                <a:solidFill>
                  <a:srgbClr val="151B23"/>
                </a:solidFill>
                <a:latin typeface="Inter"/>
              </a:rPr>
              <a:t>Recent papers cite older papers. A rolling window systematically excludes the very papers its contents reference.</a:t>
            </a:r>
          </a:p>
        </p:txBody>
      </p:sp>
      <p:sp>
        <p:nvSpPr>
          <p:cNvPr id="9" name="Rounded Rectangle 8"/>
          <p:cNvSpPr/>
          <p:nvPr/>
        </p:nvSpPr>
        <p:spPr>
          <a:xfrm>
            <a:off x="4389120" y="2011680"/>
            <a:ext cx="3657600" cy="3931920"/>
          </a:xfrm>
          <a:prstGeom prst="roundRect">
            <a:avLst/>
          </a:prstGeom>
          <a:solidFill>
            <a:srgbClr val="F5F8FD"/>
          </a:solidFill>
          <a:ln w="15240">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63440" y="2286000"/>
            <a:ext cx="3200400" cy="640080"/>
          </a:xfrm>
          <a:prstGeom prst="rect">
            <a:avLst/>
          </a:prstGeom>
          <a:noFill/>
        </p:spPr>
        <p:txBody>
          <a:bodyPr wrap="square" lIns="0" rIns="0" tIns="0" bIns="0" anchor="t">
            <a:spAutoFit/>
          </a:bodyPr>
          <a:lstStyle/>
          <a:p>
            <a:pPr algn="l"/>
            <a:r>
              <a:rPr sz="1800" b="1" i="0">
                <a:solidFill>
                  <a:srgbClr val="0B4A9E"/>
                </a:solidFill>
                <a:latin typeface="Inter"/>
              </a:rPr>
              <a:t>Full-corpus ingest</a:t>
            </a:r>
          </a:p>
        </p:txBody>
      </p:sp>
      <p:sp>
        <p:nvSpPr>
          <p:cNvPr id="11" name="TextBox 10"/>
          <p:cNvSpPr txBox="1"/>
          <p:nvPr/>
        </p:nvSpPr>
        <p:spPr>
          <a:xfrm>
            <a:off x="4663440" y="3108960"/>
            <a:ext cx="3200400" cy="2468880"/>
          </a:xfrm>
          <a:prstGeom prst="rect">
            <a:avLst/>
          </a:prstGeom>
          <a:noFill/>
        </p:spPr>
        <p:txBody>
          <a:bodyPr wrap="square" lIns="0" rIns="0" tIns="0" bIns="0" anchor="t">
            <a:spAutoFit/>
          </a:bodyPr>
          <a:lstStyle/>
          <a:p>
            <a:pPr algn="l"/>
            <a:r>
              <a:rPr sz="1400" b="0" i="0">
                <a:solidFill>
                  <a:srgbClr val="151B23"/>
                </a:solidFill>
                <a:latin typeface="Inter"/>
              </a:rPr>
              <a:t>Feasible. 32.4M papers into PostgreSQL via COPY in ~4 hours on a single machine. No excuse.</a:t>
            </a:r>
          </a:p>
        </p:txBody>
      </p:sp>
      <p:sp>
        <p:nvSpPr>
          <p:cNvPr id="12" name="Rounded Rectangle 11"/>
          <p:cNvSpPr/>
          <p:nvPr/>
        </p:nvSpPr>
        <p:spPr>
          <a:xfrm>
            <a:off x="8321040" y="2011680"/>
            <a:ext cx="3657600" cy="3931920"/>
          </a:xfrm>
          <a:prstGeom prst="roundRect">
            <a:avLst/>
          </a:prstGeom>
          <a:solidFill>
            <a:srgbClr val="F5F8FD"/>
          </a:solidFill>
          <a:ln w="15240">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2286000"/>
            <a:ext cx="3200400" cy="640080"/>
          </a:xfrm>
          <a:prstGeom prst="rect">
            <a:avLst/>
          </a:prstGeom>
          <a:noFill/>
        </p:spPr>
        <p:txBody>
          <a:bodyPr wrap="square" lIns="0" rIns="0" tIns="0" bIns="0" anchor="t">
            <a:spAutoFit/>
          </a:bodyPr>
          <a:lstStyle/>
          <a:p>
            <a:pPr algn="l"/>
            <a:r>
              <a:rPr sz="1800" b="1" i="0">
                <a:solidFill>
                  <a:srgbClr val="0B4A9E"/>
                </a:solidFill>
                <a:latin typeface="Inter"/>
              </a:rPr>
              <a:t>Copilot design</a:t>
            </a:r>
          </a:p>
        </p:txBody>
      </p:sp>
      <p:sp>
        <p:nvSpPr>
          <p:cNvPr id="14" name="TextBox 13"/>
          <p:cNvSpPr txBox="1"/>
          <p:nvPr/>
        </p:nvSpPr>
        <p:spPr>
          <a:xfrm>
            <a:off x="8595360" y="3108960"/>
            <a:ext cx="3200400" cy="2468880"/>
          </a:xfrm>
          <a:prstGeom prst="rect">
            <a:avLst/>
          </a:prstGeom>
          <a:noFill/>
        </p:spPr>
        <p:txBody>
          <a:bodyPr wrap="square" lIns="0" rIns="0" tIns="0" bIns="0" anchor="t">
            <a:spAutoFit/>
          </a:bodyPr>
          <a:lstStyle/>
          <a:p>
            <a:pPr algn="l"/>
            <a:r>
              <a:rPr sz="1400" b="0" i="0">
                <a:solidFill>
                  <a:srgbClr val="151B23"/>
                </a:solidFill>
                <a:latin typeface="Inter"/>
              </a:rPr>
              <a:t>Treat your corpus boundary as a product decision, not an operational one. It shapes what the agent can reason about.</a:t>
            </a:r>
          </a:p>
        </p:txBody>
      </p:sp>
      <p:sp>
        <p:nvSpPr>
          <p:cNvPr id="15" name="TextBox 14"/>
          <p:cNvSpPr txBox="1"/>
          <p:nvPr/>
        </p:nvSpPr>
        <p:spPr>
          <a:xfrm>
            <a:off x="457200" y="6492240"/>
            <a:ext cx="9144000" cy="274320"/>
          </a:xfrm>
          <a:prstGeom prst="rect">
            <a:avLst/>
          </a:prstGeom>
          <a:noFill/>
        </p:spPr>
        <p:txBody>
          <a:bodyPr wrap="square" lIns="0" rIns="0" tIns="0" bIns="0" anchor="t">
            <a:spAutoFit/>
          </a:bodyPr>
          <a:lstStyle/>
          <a:p>
            <a:pPr algn="l"/>
            <a:r>
              <a:rPr sz="1000" b="0" i="0">
                <a:solidFill>
                  <a:srgbClr val="6B7280"/>
                </a:solidFill>
                <a:latin typeface="Inter"/>
              </a:rPr>
              <a:t>Stephanie Jarmak  ·  MLOps Community  ·  Making Scientific Knowledge Navigable for Agents</a:t>
            </a:r>
          </a:p>
        </p:txBody>
      </p:sp>
      <p:sp>
        <p:nvSpPr>
          <p:cNvPr id="16" name="TextBox 15"/>
          <p:cNvSpPr txBox="1"/>
          <p:nvPr/>
        </p:nvSpPr>
        <p:spPr>
          <a:xfrm>
            <a:off x="11247120" y="6492240"/>
            <a:ext cx="731520" cy="274320"/>
          </a:xfrm>
          <a:prstGeom prst="rect">
            <a:avLst/>
          </a:prstGeom>
          <a:noFill/>
        </p:spPr>
        <p:txBody>
          <a:bodyPr wrap="square" lIns="0" rIns="0" tIns="0" bIns="0" anchor="t">
            <a:spAutoFit/>
          </a:bodyPr>
          <a:lstStyle/>
          <a:p>
            <a:pPr algn="r"/>
            <a:r>
              <a:rPr sz="1000" b="0" i="0">
                <a:solidFill>
                  <a:srgbClr val="6B7280"/>
                </a:solidFill>
                <a:latin typeface="Inter"/>
              </a:rPr>
              <a:t>10 / 30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1247120" cy="731520"/>
          </a:xfrm>
          <a:prstGeom prst="rect">
            <a:avLst/>
          </a:prstGeom>
          <a:noFill/>
        </p:spPr>
        <p:txBody>
          <a:bodyPr wrap="square" lIns="0" rIns="0" tIns="0" bIns="0" anchor="t">
            <a:spAutoFit/>
          </a:bodyPr>
          <a:lstStyle/>
          <a:p>
            <a:pPr algn="l"/>
            <a:r>
              <a:rPr sz="3200" b="1" i="0">
                <a:solidFill>
                  <a:srgbClr val="151B23"/>
                </a:solidFill>
                <a:latin typeface="Inter"/>
              </a:rPr>
              <a:t>Architecture: one PostgreSQL box, three layers, one MCP server</a:t>
            </a:r>
          </a:p>
        </p:txBody>
      </p:sp>
      <p:sp>
        <p:nvSpPr>
          <p:cNvPr id="4" name="Rectangle 3"/>
          <p:cNvSpPr/>
          <p:nvPr/>
        </p:nvSpPr>
        <p:spPr>
          <a:xfrm>
            <a:off x="457200" y="1234440"/>
            <a:ext cx="731520" cy="25400"/>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rchitecture.png"/>
          <p:cNvPicPr>
            <a:picLocks noChangeAspect="1"/>
          </p:cNvPicPr>
          <p:nvPr/>
        </p:nvPicPr>
        <p:blipFill>
          <a:blip r:embed="rId2"/>
          <a:stretch>
            <a:fillRect/>
          </a:stretch>
        </p:blipFill>
        <p:spPr>
          <a:xfrm>
            <a:off x="365760" y="1554480"/>
            <a:ext cx="11430000" cy="5476989"/>
          </a:xfrm>
          <a:prstGeom prst="rect">
            <a:avLst/>
          </a:prstGeom>
        </p:spPr>
      </p:pic>
      <p:sp>
        <p:nvSpPr>
          <p:cNvPr id="6" name="TextBox 5"/>
          <p:cNvSpPr txBox="1"/>
          <p:nvPr/>
        </p:nvSpPr>
        <p:spPr>
          <a:xfrm>
            <a:off x="457200" y="6217920"/>
            <a:ext cx="11247120" cy="365760"/>
          </a:xfrm>
          <a:prstGeom prst="rect">
            <a:avLst/>
          </a:prstGeom>
          <a:noFill/>
        </p:spPr>
        <p:txBody>
          <a:bodyPr wrap="square" lIns="0" rIns="0" tIns="0" bIns="0" anchor="t">
            <a:spAutoFit/>
          </a:bodyPr>
          <a:lstStyle/>
          <a:p>
            <a:pPr algn="ctr"/>
            <a:r>
              <a:rPr sz="1300" b="0" i="1">
                <a:solidFill>
                  <a:srgbClr val="4B5563"/>
                </a:solidFill>
                <a:latin typeface="Inter"/>
              </a:rPr>
              <a:t>Deliberate simplicity: no Elasticsearch, no separate vector DB, no orchestrator. Postgres + pgvector does it all.</a:t>
            </a:r>
          </a:p>
        </p:txBody>
      </p:sp>
      <p:sp>
        <p:nvSpPr>
          <p:cNvPr id="7" name="TextBox 6"/>
          <p:cNvSpPr txBox="1"/>
          <p:nvPr/>
        </p:nvSpPr>
        <p:spPr>
          <a:xfrm>
            <a:off x="457200" y="6492240"/>
            <a:ext cx="9144000" cy="274320"/>
          </a:xfrm>
          <a:prstGeom prst="rect">
            <a:avLst/>
          </a:prstGeom>
          <a:noFill/>
        </p:spPr>
        <p:txBody>
          <a:bodyPr wrap="square" lIns="0" rIns="0" tIns="0" bIns="0" anchor="t">
            <a:spAutoFit/>
          </a:bodyPr>
          <a:lstStyle/>
          <a:p>
            <a:pPr algn="l"/>
            <a:r>
              <a:rPr sz="1000" b="0" i="0">
                <a:solidFill>
                  <a:srgbClr val="6B7280"/>
                </a:solidFill>
                <a:latin typeface="Inter"/>
              </a:rPr>
              <a:t>Stephanie Jarmak  ·  MLOps Community  ·  Making Scientific Knowledge Navigable for Agents</a:t>
            </a:r>
          </a:p>
        </p:txBody>
      </p:sp>
      <p:sp>
        <p:nvSpPr>
          <p:cNvPr id="8" name="TextBox 7"/>
          <p:cNvSpPr txBox="1"/>
          <p:nvPr/>
        </p:nvSpPr>
        <p:spPr>
          <a:xfrm>
            <a:off x="11247120" y="6492240"/>
            <a:ext cx="731520" cy="274320"/>
          </a:xfrm>
          <a:prstGeom prst="rect">
            <a:avLst/>
          </a:prstGeom>
          <a:noFill/>
        </p:spPr>
        <p:txBody>
          <a:bodyPr wrap="square" lIns="0" rIns="0" tIns="0" bIns="0" anchor="t">
            <a:spAutoFit/>
          </a:bodyPr>
          <a:lstStyle/>
          <a:p>
            <a:pPr algn="r"/>
            <a:r>
              <a:rPr sz="1000" b="0" i="0">
                <a:solidFill>
                  <a:srgbClr val="6B7280"/>
                </a:solidFill>
                <a:latin typeface="Inter"/>
              </a:rPr>
              <a:t>11 / 30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1247120" cy="731520"/>
          </a:xfrm>
          <a:prstGeom prst="rect">
            <a:avLst/>
          </a:prstGeom>
          <a:noFill/>
        </p:spPr>
        <p:txBody>
          <a:bodyPr wrap="square" lIns="0" rIns="0" tIns="0" bIns="0" anchor="t">
            <a:spAutoFit/>
          </a:bodyPr>
          <a:lstStyle/>
          <a:p>
            <a:pPr algn="l"/>
            <a:r>
              <a:rPr sz="3200" b="1" i="0">
                <a:solidFill>
                  <a:srgbClr val="151B23"/>
                </a:solidFill>
                <a:latin typeface="Inter"/>
              </a:rPr>
              <a:t>Retrieval stack: three signals, reciprocal rank fusion</a:t>
            </a:r>
          </a:p>
        </p:txBody>
      </p:sp>
      <p:sp>
        <p:nvSpPr>
          <p:cNvPr id="4" name="Rectangle 3"/>
          <p:cNvSpPr/>
          <p:nvPr/>
        </p:nvSpPr>
        <p:spPr>
          <a:xfrm>
            <a:off x="457200" y="1234440"/>
            <a:ext cx="731520" cy="25400"/>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11247120" cy="457200"/>
          </a:xfrm>
          <a:prstGeom prst="rect">
            <a:avLst/>
          </a:prstGeom>
          <a:noFill/>
        </p:spPr>
        <p:txBody>
          <a:bodyPr wrap="square" lIns="0" rIns="0" tIns="0" bIns="0" anchor="t">
            <a:spAutoFit/>
          </a:bodyPr>
          <a:lstStyle/>
          <a:p>
            <a:pPr algn="l"/>
            <a:r>
              <a:rPr sz="1600" b="0" i="1">
                <a:solidFill>
                  <a:srgbClr val="4B5563"/>
                </a:solidFill>
                <a:latin typeface="Inter"/>
              </a:rPr>
              <a:t>Dense (domain) + dense (query-doc) + lexical (BM25)</a:t>
            </a:r>
          </a:p>
        </p:txBody>
      </p:sp>
      <p:sp>
        <p:nvSpPr>
          <p:cNvPr id="6" name="Rounded Rectangle 5"/>
          <p:cNvSpPr/>
          <p:nvPr/>
        </p:nvSpPr>
        <p:spPr>
          <a:xfrm>
            <a:off x="457200" y="1828800"/>
            <a:ext cx="3657600" cy="3200400"/>
          </a:xfrm>
          <a:prstGeom prst="roundRect">
            <a:avLst/>
          </a:prstGeom>
          <a:solidFill>
            <a:srgbClr val="F8FAFC"/>
          </a:solidFill>
          <a:ln w="15240">
            <a:solidFill>
              <a:srgbClr val="0B4A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011680"/>
            <a:ext cx="3383280" cy="457200"/>
          </a:xfrm>
          <a:prstGeom prst="rect">
            <a:avLst/>
          </a:prstGeom>
          <a:noFill/>
        </p:spPr>
        <p:txBody>
          <a:bodyPr wrap="square" lIns="0" rIns="0" tIns="0" bIns="0" anchor="t">
            <a:spAutoFit/>
          </a:bodyPr>
          <a:lstStyle/>
          <a:p>
            <a:pPr algn="l"/>
            <a:r>
              <a:rPr sz="1700" b="1" i="0">
                <a:solidFill>
                  <a:srgbClr val="0B4A9E"/>
                </a:solidFill>
                <a:latin typeface="Inter"/>
              </a:rPr>
              <a:t>INDUS</a:t>
            </a:r>
          </a:p>
        </p:txBody>
      </p:sp>
      <p:sp>
        <p:nvSpPr>
          <p:cNvPr id="8" name="TextBox 7"/>
          <p:cNvSpPr txBox="1"/>
          <p:nvPr/>
        </p:nvSpPr>
        <p:spPr>
          <a:xfrm>
            <a:off x="731520" y="2514600"/>
            <a:ext cx="3291840" cy="365760"/>
          </a:xfrm>
          <a:prstGeom prst="rect">
            <a:avLst/>
          </a:prstGeom>
          <a:noFill/>
        </p:spPr>
        <p:txBody>
          <a:bodyPr wrap="square" lIns="0" rIns="0" tIns="0" bIns="0" anchor="t">
            <a:spAutoFit/>
          </a:bodyPr>
          <a:lstStyle/>
          <a:p>
            <a:pPr algn="l"/>
            <a:r>
              <a:rPr sz="1300" b="0" i="0">
                <a:solidFill>
                  <a:srgbClr val="151B23"/>
                </a:solidFill>
                <a:latin typeface="Inter"/>
              </a:rPr>
              <a:t>nasa-impact/nasa-smd-ibm-st-v2</a:t>
            </a:r>
          </a:p>
        </p:txBody>
      </p:sp>
      <p:sp>
        <p:nvSpPr>
          <p:cNvPr id="9" name="TextBox 8"/>
          <p:cNvSpPr txBox="1"/>
          <p:nvPr/>
        </p:nvSpPr>
        <p:spPr>
          <a:xfrm>
            <a:off x="731520" y="2926080"/>
            <a:ext cx="3291840" cy="365760"/>
          </a:xfrm>
          <a:prstGeom prst="rect">
            <a:avLst/>
          </a:prstGeom>
          <a:noFill/>
        </p:spPr>
        <p:txBody>
          <a:bodyPr wrap="square" lIns="0" rIns="0" tIns="0" bIns="0" anchor="t">
            <a:spAutoFit/>
          </a:bodyPr>
          <a:lstStyle/>
          <a:p>
            <a:pPr algn="l"/>
            <a:r>
              <a:rPr sz="1300" b="0" i="0">
                <a:solidFill>
                  <a:srgbClr val="151B23"/>
                </a:solidFill>
                <a:latin typeface="Inter"/>
              </a:rPr>
              <a:t>768d · CLS pool on title+abstract</a:t>
            </a:r>
          </a:p>
        </p:txBody>
      </p:sp>
      <p:sp>
        <p:nvSpPr>
          <p:cNvPr id="10" name="TextBox 9"/>
          <p:cNvSpPr txBox="1"/>
          <p:nvPr/>
        </p:nvSpPr>
        <p:spPr>
          <a:xfrm>
            <a:off x="731520" y="3337560"/>
            <a:ext cx="3291840" cy="365760"/>
          </a:xfrm>
          <a:prstGeom prst="rect">
            <a:avLst/>
          </a:prstGeom>
          <a:noFill/>
        </p:spPr>
        <p:txBody>
          <a:bodyPr wrap="square" lIns="0" rIns="0" tIns="0" bIns="0" anchor="t">
            <a:spAutoFit/>
          </a:bodyPr>
          <a:lstStyle/>
          <a:p>
            <a:pPr algn="l"/>
            <a:r>
              <a:rPr sz="1300" b="0" i="0">
                <a:solidFill>
                  <a:srgbClr val="151B23"/>
                </a:solidFill>
                <a:latin typeface="Inter"/>
              </a:rPr>
              <a:t>32.4M papers embedded</a:t>
            </a:r>
          </a:p>
        </p:txBody>
      </p:sp>
      <p:sp>
        <p:nvSpPr>
          <p:cNvPr id="11" name="TextBox 10"/>
          <p:cNvSpPr txBox="1"/>
          <p:nvPr/>
        </p:nvSpPr>
        <p:spPr>
          <a:xfrm>
            <a:off x="731520" y="3749039"/>
            <a:ext cx="3291840" cy="365760"/>
          </a:xfrm>
          <a:prstGeom prst="rect">
            <a:avLst/>
          </a:prstGeom>
          <a:noFill/>
        </p:spPr>
        <p:txBody>
          <a:bodyPr wrap="square" lIns="0" rIns="0" tIns="0" bIns="0" anchor="t">
            <a:spAutoFit/>
          </a:bodyPr>
          <a:lstStyle/>
          <a:p>
            <a:pPr algn="l"/>
            <a:r>
              <a:rPr sz="1300" b="0" i="0">
                <a:solidFill>
                  <a:srgbClr val="151B23"/>
                </a:solidFill>
                <a:latin typeface="Inter"/>
              </a:rPr>
              <a:t>Domain-tuned on 2.66M ADS pairs</a:t>
            </a:r>
          </a:p>
        </p:txBody>
      </p:sp>
      <p:sp>
        <p:nvSpPr>
          <p:cNvPr id="12" name="TextBox 11"/>
          <p:cNvSpPr txBox="1"/>
          <p:nvPr/>
        </p:nvSpPr>
        <p:spPr>
          <a:xfrm>
            <a:off x="731520" y="4160520"/>
            <a:ext cx="3291840" cy="365760"/>
          </a:xfrm>
          <a:prstGeom prst="rect">
            <a:avLst/>
          </a:prstGeom>
          <a:noFill/>
        </p:spPr>
        <p:txBody>
          <a:bodyPr wrap="square" lIns="0" rIns="0" tIns="0" bIns="0" anchor="t">
            <a:spAutoFit/>
          </a:bodyPr>
          <a:lstStyle/>
          <a:p>
            <a:pPr algn="l"/>
            <a:r>
              <a:rPr sz="1300" b="0" i="0">
                <a:solidFill>
                  <a:srgbClr val="151B23"/>
                </a:solidFill>
                <a:latin typeface="Inter"/>
              </a:rPr>
              <a:t>Local, open-weight, GPU only</a:t>
            </a:r>
          </a:p>
        </p:txBody>
      </p:sp>
      <p:sp>
        <p:nvSpPr>
          <p:cNvPr id="13" name="Rounded Rectangle 12"/>
          <p:cNvSpPr/>
          <p:nvPr/>
        </p:nvSpPr>
        <p:spPr>
          <a:xfrm>
            <a:off x="4297680" y="1828800"/>
            <a:ext cx="3657600" cy="3200400"/>
          </a:xfrm>
          <a:prstGeom prst="roundRect">
            <a:avLst/>
          </a:prstGeom>
          <a:solidFill>
            <a:srgbClr val="F8FAFC"/>
          </a:solidFill>
          <a:ln w="15240">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0" y="2011680"/>
            <a:ext cx="3383280" cy="457200"/>
          </a:xfrm>
          <a:prstGeom prst="rect">
            <a:avLst/>
          </a:prstGeom>
          <a:noFill/>
        </p:spPr>
        <p:txBody>
          <a:bodyPr wrap="square" lIns="0" rIns="0" tIns="0" bIns="0" anchor="t">
            <a:spAutoFit/>
          </a:bodyPr>
          <a:lstStyle/>
          <a:p>
            <a:pPr algn="l"/>
            <a:r>
              <a:rPr sz="1700" b="1" i="0">
                <a:solidFill>
                  <a:srgbClr val="1F6FEB"/>
                </a:solidFill>
                <a:latin typeface="Inter"/>
              </a:rPr>
              <a:t>text-embedding-3-large</a:t>
            </a:r>
          </a:p>
        </p:txBody>
      </p:sp>
      <p:sp>
        <p:nvSpPr>
          <p:cNvPr id="15" name="TextBox 14"/>
          <p:cNvSpPr txBox="1"/>
          <p:nvPr/>
        </p:nvSpPr>
        <p:spPr>
          <a:xfrm>
            <a:off x="4572000" y="2514600"/>
            <a:ext cx="3291840" cy="365760"/>
          </a:xfrm>
          <a:prstGeom prst="rect">
            <a:avLst/>
          </a:prstGeom>
          <a:noFill/>
        </p:spPr>
        <p:txBody>
          <a:bodyPr wrap="square" lIns="0" rIns="0" tIns="0" bIns="0" anchor="t">
            <a:spAutoFit/>
          </a:bodyPr>
          <a:lstStyle/>
          <a:p>
            <a:pPr algn="l"/>
            <a:r>
              <a:rPr sz="1300" b="0" i="0">
                <a:solidFill>
                  <a:srgbClr val="151B23"/>
                </a:solidFill>
                <a:latin typeface="Inter"/>
              </a:rPr>
              <a:t>OpenAI, 3072d → 1024d Matryoshka</a:t>
            </a:r>
          </a:p>
        </p:txBody>
      </p:sp>
      <p:sp>
        <p:nvSpPr>
          <p:cNvPr id="16" name="TextBox 15"/>
          <p:cNvSpPr txBox="1"/>
          <p:nvPr/>
        </p:nvSpPr>
        <p:spPr>
          <a:xfrm>
            <a:off x="4572000" y="2926080"/>
            <a:ext cx="3291840" cy="365760"/>
          </a:xfrm>
          <a:prstGeom prst="rect">
            <a:avLst/>
          </a:prstGeom>
          <a:noFill/>
        </p:spPr>
        <p:txBody>
          <a:bodyPr wrap="square" lIns="0" rIns="0" tIns="0" bIns="0" anchor="t">
            <a:spAutoFit/>
          </a:bodyPr>
          <a:lstStyle/>
          <a:p>
            <a:pPr algn="l"/>
            <a:r>
              <a:rPr sz="1300" b="0" i="0">
                <a:solidFill>
                  <a:srgbClr val="151B23"/>
                </a:solidFill>
                <a:latin typeface="Inter"/>
              </a:rPr>
              <a:t>Query-to-document retrieval</a:t>
            </a:r>
          </a:p>
        </p:txBody>
      </p:sp>
      <p:sp>
        <p:nvSpPr>
          <p:cNvPr id="17" name="TextBox 16"/>
          <p:cNvSpPr txBox="1"/>
          <p:nvPr/>
        </p:nvSpPr>
        <p:spPr>
          <a:xfrm>
            <a:off x="4572000" y="3337560"/>
            <a:ext cx="3291840" cy="365760"/>
          </a:xfrm>
          <a:prstGeom prst="rect">
            <a:avLst/>
          </a:prstGeom>
          <a:noFill/>
        </p:spPr>
        <p:txBody>
          <a:bodyPr wrap="square" lIns="0" rIns="0" tIns="0" bIns="0" anchor="t">
            <a:spAutoFit/>
          </a:bodyPr>
          <a:lstStyle/>
          <a:p>
            <a:pPr algn="l"/>
            <a:r>
              <a:rPr sz="1300" b="0" i="0">
                <a:solidFill>
                  <a:srgbClr val="151B23"/>
                </a:solidFill>
                <a:latin typeface="Inter"/>
              </a:rPr>
              <a:t>Complements INDUS on NL queries</a:t>
            </a:r>
          </a:p>
        </p:txBody>
      </p:sp>
      <p:sp>
        <p:nvSpPr>
          <p:cNvPr id="18" name="TextBox 17"/>
          <p:cNvSpPr txBox="1"/>
          <p:nvPr/>
        </p:nvSpPr>
        <p:spPr>
          <a:xfrm>
            <a:off x="4572000" y="3749039"/>
            <a:ext cx="3291840" cy="365760"/>
          </a:xfrm>
          <a:prstGeom prst="rect">
            <a:avLst/>
          </a:prstGeom>
          <a:noFill/>
        </p:spPr>
        <p:txBody>
          <a:bodyPr wrap="square" lIns="0" rIns="0" tIns="0" bIns="0" anchor="t">
            <a:spAutoFit/>
          </a:bodyPr>
          <a:lstStyle/>
          <a:p>
            <a:pPr algn="l"/>
            <a:r>
              <a:rPr sz="1300" b="0" i="0">
                <a:solidFill>
                  <a:srgbClr val="151B23"/>
                </a:solidFill>
                <a:latin typeface="Inter"/>
              </a:rPr>
              <a:t>Circuit-breaker fallback</a:t>
            </a:r>
          </a:p>
        </p:txBody>
      </p:sp>
      <p:sp>
        <p:nvSpPr>
          <p:cNvPr id="19" name="TextBox 18"/>
          <p:cNvSpPr txBox="1"/>
          <p:nvPr/>
        </p:nvSpPr>
        <p:spPr>
          <a:xfrm>
            <a:off x="4572000" y="4160520"/>
            <a:ext cx="3291840" cy="365760"/>
          </a:xfrm>
          <a:prstGeom prst="rect">
            <a:avLst/>
          </a:prstGeom>
          <a:noFill/>
        </p:spPr>
        <p:txBody>
          <a:bodyPr wrap="square" lIns="0" rIns="0" tIns="0" bIns="0" anchor="t">
            <a:spAutoFit/>
          </a:bodyPr>
          <a:lstStyle/>
          <a:p>
            <a:pPr algn="l"/>
            <a:r>
              <a:rPr sz="1300" b="0" i="0">
                <a:solidFill>
                  <a:srgbClr val="151B23"/>
                </a:solidFill>
                <a:latin typeface="Inter"/>
              </a:rPr>
              <a:t>Halfvec quantization</a:t>
            </a:r>
          </a:p>
        </p:txBody>
      </p:sp>
      <p:sp>
        <p:nvSpPr>
          <p:cNvPr id="20" name="Rounded Rectangle 19"/>
          <p:cNvSpPr/>
          <p:nvPr/>
        </p:nvSpPr>
        <p:spPr>
          <a:xfrm>
            <a:off x="8138160" y="1828800"/>
            <a:ext cx="3657600" cy="3200400"/>
          </a:xfrm>
          <a:prstGeom prst="roundRect">
            <a:avLst/>
          </a:prstGeom>
          <a:solidFill>
            <a:srgbClr val="F8FAFC"/>
          </a:solidFill>
          <a:ln w="15240">
            <a:solidFill>
              <a:srgbClr val="2AA8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80" y="2011680"/>
            <a:ext cx="3383280" cy="457200"/>
          </a:xfrm>
          <a:prstGeom prst="rect">
            <a:avLst/>
          </a:prstGeom>
          <a:noFill/>
        </p:spPr>
        <p:txBody>
          <a:bodyPr wrap="square" lIns="0" rIns="0" tIns="0" bIns="0" anchor="t">
            <a:spAutoFit/>
          </a:bodyPr>
          <a:lstStyle/>
          <a:p>
            <a:pPr algn="l"/>
            <a:r>
              <a:rPr sz="1700" b="1" i="0">
                <a:solidFill>
                  <a:srgbClr val="2AA876"/>
                </a:solidFill>
                <a:latin typeface="Inter"/>
              </a:rPr>
              <a:t>BM25</a:t>
            </a:r>
          </a:p>
        </p:txBody>
      </p:sp>
      <p:sp>
        <p:nvSpPr>
          <p:cNvPr id="22" name="TextBox 21"/>
          <p:cNvSpPr txBox="1"/>
          <p:nvPr/>
        </p:nvSpPr>
        <p:spPr>
          <a:xfrm>
            <a:off x="8412480" y="2514600"/>
            <a:ext cx="3291840" cy="365760"/>
          </a:xfrm>
          <a:prstGeom prst="rect">
            <a:avLst/>
          </a:prstGeom>
          <a:noFill/>
        </p:spPr>
        <p:txBody>
          <a:bodyPr wrap="square" lIns="0" rIns="0" tIns="0" bIns="0" anchor="t">
            <a:spAutoFit/>
          </a:bodyPr>
          <a:lstStyle/>
          <a:p>
            <a:pPr algn="l"/>
            <a:r>
              <a:rPr sz="1300" b="0" i="0">
                <a:solidFill>
                  <a:srgbClr val="151B23"/>
                </a:solidFill>
                <a:latin typeface="Inter"/>
              </a:rPr>
              <a:t>tsvector on title+abstract+keywords</a:t>
            </a:r>
          </a:p>
        </p:txBody>
      </p:sp>
      <p:sp>
        <p:nvSpPr>
          <p:cNvPr id="23" name="TextBox 22"/>
          <p:cNvSpPr txBox="1"/>
          <p:nvPr/>
        </p:nvSpPr>
        <p:spPr>
          <a:xfrm>
            <a:off x="8412480" y="2926080"/>
            <a:ext cx="3291840" cy="365760"/>
          </a:xfrm>
          <a:prstGeom prst="rect">
            <a:avLst/>
          </a:prstGeom>
          <a:noFill/>
        </p:spPr>
        <p:txBody>
          <a:bodyPr wrap="square" lIns="0" rIns="0" tIns="0" bIns="0" anchor="t">
            <a:spAutoFit/>
          </a:bodyPr>
          <a:lstStyle/>
          <a:p>
            <a:pPr algn="l"/>
            <a:r>
              <a:rPr sz="1300" b="0" i="0">
                <a:solidFill>
                  <a:srgbClr val="151B23"/>
                </a:solidFill>
                <a:latin typeface="Inter"/>
              </a:rPr>
              <a:t>Native PostgreSQL GIN index</a:t>
            </a:r>
          </a:p>
        </p:txBody>
      </p:sp>
      <p:sp>
        <p:nvSpPr>
          <p:cNvPr id="24" name="TextBox 23"/>
          <p:cNvSpPr txBox="1"/>
          <p:nvPr/>
        </p:nvSpPr>
        <p:spPr>
          <a:xfrm>
            <a:off x="8412480" y="3337560"/>
            <a:ext cx="3291840" cy="365760"/>
          </a:xfrm>
          <a:prstGeom prst="rect">
            <a:avLst/>
          </a:prstGeom>
          <a:noFill/>
        </p:spPr>
        <p:txBody>
          <a:bodyPr wrap="square" lIns="0" rIns="0" tIns="0" bIns="0" anchor="t">
            <a:spAutoFit/>
          </a:bodyPr>
          <a:lstStyle/>
          <a:p>
            <a:pPr algn="l"/>
            <a:r>
              <a:rPr sz="1300" b="0" i="0">
                <a:solidFill>
                  <a:srgbClr val="151B23"/>
                </a:solidFill>
                <a:latin typeface="Inter"/>
              </a:rPr>
              <a:t>Catches specific-term queries</a:t>
            </a:r>
          </a:p>
        </p:txBody>
      </p:sp>
      <p:sp>
        <p:nvSpPr>
          <p:cNvPr id="25" name="TextBox 24"/>
          <p:cNvSpPr txBox="1"/>
          <p:nvPr/>
        </p:nvSpPr>
        <p:spPr>
          <a:xfrm>
            <a:off x="8412480" y="3749039"/>
            <a:ext cx="3291840" cy="365760"/>
          </a:xfrm>
          <a:prstGeom prst="rect">
            <a:avLst/>
          </a:prstGeom>
          <a:noFill/>
        </p:spPr>
        <p:txBody>
          <a:bodyPr wrap="square" lIns="0" rIns="0" tIns="0" bIns="0" anchor="t">
            <a:spAutoFit/>
          </a:bodyPr>
          <a:lstStyle/>
          <a:p>
            <a:pPr algn="l"/>
            <a:r>
              <a:rPr sz="1300" b="0" i="0">
                <a:solidFill>
                  <a:srgbClr val="151B23"/>
                </a:solidFill>
                <a:latin typeface="Inter"/>
              </a:rPr>
              <a:t>Cheap, interpretable</a:t>
            </a:r>
          </a:p>
        </p:txBody>
      </p:sp>
      <p:sp>
        <p:nvSpPr>
          <p:cNvPr id="26" name="TextBox 25"/>
          <p:cNvSpPr txBox="1"/>
          <p:nvPr/>
        </p:nvSpPr>
        <p:spPr>
          <a:xfrm>
            <a:off x="8412480" y="4160520"/>
            <a:ext cx="3291840" cy="365760"/>
          </a:xfrm>
          <a:prstGeom prst="rect">
            <a:avLst/>
          </a:prstGeom>
          <a:noFill/>
        </p:spPr>
        <p:txBody>
          <a:bodyPr wrap="square" lIns="0" rIns="0" tIns="0" bIns="0" anchor="t">
            <a:spAutoFit/>
          </a:bodyPr>
          <a:lstStyle/>
          <a:p>
            <a:pPr algn="l"/>
            <a:r>
              <a:rPr sz="1300" b="0" i="0">
                <a:solidFill>
                  <a:srgbClr val="151B23"/>
                </a:solidFill>
                <a:latin typeface="Inter"/>
              </a:rPr>
              <a:t>Zero infra cost</a:t>
            </a:r>
          </a:p>
        </p:txBody>
      </p:sp>
      <p:sp>
        <p:nvSpPr>
          <p:cNvPr id="27" name="Rounded Rectangle 26"/>
          <p:cNvSpPr/>
          <p:nvPr/>
        </p:nvSpPr>
        <p:spPr>
          <a:xfrm>
            <a:off x="2377440" y="5212080"/>
            <a:ext cx="7406640" cy="914400"/>
          </a:xfrm>
          <a:prstGeom prst="roundRect">
            <a:avLst/>
          </a:prstGeom>
          <a:solidFill>
            <a:srgbClr val="EAF2FE"/>
          </a:solidFill>
          <a:ln w="15240">
            <a:solidFill>
              <a:srgbClr val="0B4A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377440" y="5394960"/>
            <a:ext cx="7406640" cy="640080"/>
          </a:xfrm>
          <a:prstGeom prst="rect">
            <a:avLst/>
          </a:prstGeom>
          <a:noFill/>
        </p:spPr>
        <p:txBody>
          <a:bodyPr wrap="square" lIns="0" rIns="0" tIns="0" bIns="0" anchor="t">
            <a:spAutoFit/>
          </a:bodyPr>
          <a:lstStyle/>
          <a:p>
            <a:pPr algn="ctr"/>
            <a:r>
              <a:rPr sz="2000" b="1" i="0">
                <a:solidFill>
                  <a:srgbClr val="0B4A9E"/>
                </a:solidFill>
                <a:latin typeface="Inter"/>
              </a:rPr>
              <a:t>Reciprocal Rank Fusion (k=60)  →  hybrid_search</a:t>
            </a:r>
          </a:p>
        </p:txBody>
      </p:sp>
      <p:sp>
        <p:nvSpPr>
          <p:cNvPr id="29" name="TextBox 28"/>
          <p:cNvSpPr txBox="1"/>
          <p:nvPr/>
        </p:nvSpPr>
        <p:spPr>
          <a:xfrm>
            <a:off x="457200" y="6492240"/>
            <a:ext cx="9144000" cy="274320"/>
          </a:xfrm>
          <a:prstGeom prst="rect">
            <a:avLst/>
          </a:prstGeom>
          <a:noFill/>
        </p:spPr>
        <p:txBody>
          <a:bodyPr wrap="square" lIns="0" rIns="0" tIns="0" bIns="0" anchor="t">
            <a:spAutoFit/>
          </a:bodyPr>
          <a:lstStyle/>
          <a:p>
            <a:pPr algn="l"/>
            <a:r>
              <a:rPr sz="1000" b="0" i="0">
                <a:solidFill>
                  <a:srgbClr val="6B7280"/>
                </a:solidFill>
                <a:latin typeface="Inter"/>
              </a:rPr>
              <a:t>Stephanie Jarmak  ·  MLOps Community  ·  Making Scientific Knowledge Navigable for Agents</a:t>
            </a:r>
          </a:p>
        </p:txBody>
      </p:sp>
      <p:sp>
        <p:nvSpPr>
          <p:cNvPr id="30" name="TextBox 29"/>
          <p:cNvSpPr txBox="1"/>
          <p:nvPr/>
        </p:nvSpPr>
        <p:spPr>
          <a:xfrm>
            <a:off x="11247120" y="6492240"/>
            <a:ext cx="731520" cy="274320"/>
          </a:xfrm>
          <a:prstGeom prst="rect">
            <a:avLst/>
          </a:prstGeom>
          <a:noFill/>
        </p:spPr>
        <p:txBody>
          <a:bodyPr wrap="square" lIns="0" rIns="0" tIns="0" bIns="0" anchor="t">
            <a:spAutoFit/>
          </a:bodyPr>
          <a:lstStyle/>
          <a:p>
            <a:pPr algn="r"/>
            <a:r>
              <a:rPr sz="1000" b="0" i="0">
                <a:solidFill>
                  <a:srgbClr val="6B7280"/>
                </a:solidFill>
                <a:latin typeface="Inter"/>
              </a:rPr>
              <a:t>12 / 30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1247120" cy="731520"/>
          </a:xfrm>
          <a:prstGeom prst="rect">
            <a:avLst/>
          </a:prstGeom>
          <a:noFill/>
        </p:spPr>
        <p:txBody>
          <a:bodyPr wrap="square" lIns="0" rIns="0" tIns="0" bIns="0" anchor="t">
            <a:spAutoFit/>
          </a:bodyPr>
          <a:lstStyle/>
          <a:p>
            <a:pPr algn="l"/>
            <a:r>
              <a:rPr sz="3200" b="1" i="0">
                <a:solidFill>
                  <a:srgbClr val="151B23"/>
                </a:solidFill>
                <a:latin typeface="Inter"/>
              </a:rPr>
              <a:t>pgvector + Qdrant: complementary, not competing</a:t>
            </a:r>
          </a:p>
        </p:txBody>
      </p:sp>
      <p:sp>
        <p:nvSpPr>
          <p:cNvPr id="4" name="Rectangle 3"/>
          <p:cNvSpPr/>
          <p:nvPr/>
        </p:nvSpPr>
        <p:spPr>
          <a:xfrm>
            <a:off x="457200" y="1234440"/>
            <a:ext cx="731520" cy="25400"/>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11247120" cy="457200"/>
          </a:xfrm>
          <a:prstGeom prst="rect">
            <a:avLst/>
          </a:prstGeom>
          <a:noFill/>
        </p:spPr>
        <p:txBody>
          <a:bodyPr wrap="square" lIns="0" rIns="0" tIns="0" bIns="0" anchor="t">
            <a:spAutoFit/>
          </a:bodyPr>
          <a:lstStyle/>
          <a:p>
            <a:pPr algn="l"/>
            <a:r>
              <a:rPr sz="1600" b="0" i="1">
                <a:solidFill>
                  <a:srgbClr val="4B5563"/>
                </a:solidFill>
                <a:latin typeface="Inter"/>
              </a:rPr>
              <a:t>Same corpus, different jobs — when each wins</a:t>
            </a:r>
          </a:p>
        </p:txBody>
      </p:sp>
      <p:sp>
        <p:nvSpPr>
          <p:cNvPr id="6" name="Rounded Rectangle 5"/>
          <p:cNvSpPr/>
          <p:nvPr/>
        </p:nvSpPr>
        <p:spPr>
          <a:xfrm>
            <a:off x="457200" y="1828800"/>
            <a:ext cx="5486400" cy="4297680"/>
          </a:xfrm>
          <a:prstGeom prst="roundRect">
            <a:avLst/>
          </a:prstGeom>
          <a:solidFill>
            <a:srgbClr val="FAFBFD"/>
          </a:solidFill>
          <a:ln w="17780">
            <a:solidFill>
              <a:srgbClr val="0B4A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965960"/>
            <a:ext cx="5029200" cy="457200"/>
          </a:xfrm>
          <a:prstGeom prst="rect">
            <a:avLst/>
          </a:prstGeom>
          <a:noFill/>
        </p:spPr>
        <p:txBody>
          <a:bodyPr wrap="square" lIns="0" rIns="0" tIns="0" bIns="0" anchor="t">
            <a:spAutoFit/>
          </a:bodyPr>
          <a:lstStyle/>
          <a:p>
            <a:pPr algn="l"/>
            <a:r>
              <a:rPr sz="2000" b="1" i="0">
                <a:solidFill>
                  <a:srgbClr val="0B4A9E"/>
                </a:solidFill>
                <a:latin typeface="Inter"/>
              </a:rPr>
              <a:t>pgvector — source of truth</a:t>
            </a:r>
          </a:p>
        </p:txBody>
      </p:sp>
      <p:sp>
        <p:nvSpPr>
          <p:cNvPr id="8" name="TextBox 7"/>
          <p:cNvSpPr txBox="1"/>
          <p:nvPr/>
        </p:nvSpPr>
        <p:spPr>
          <a:xfrm>
            <a:off x="731520" y="2377440"/>
            <a:ext cx="5029200" cy="320040"/>
          </a:xfrm>
          <a:prstGeom prst="rect">
            <a:avLst/>
          </a:prstGeom>
          <a:noFill/>
        </p:spPr>
        <p:txBody>
          <a:bodyPr wrap="square" lIns="0" rIns="0" tIns="0" bIns="0" anchor="t">
            <a:spAutoFit/>
          </a:bodyPr>
          <a:lstStyle/>
          <a:p>
            <a:pPr algn="l"/>
            <a:r>
              <a:rPr sz="1200" b="0" i="1">
                <a:solidFill>
                  <a:srgbClr val="6B7280"/>
                </a:solidFill>
                <a:latin typeface="Inter"/>
              </a:rPr>
              <a:t>why it won the main path</a:t>
            </a:r>
          </a:p>
        </p:txBody>
      </p:sp>
      <p:sp>
        <p:nvSpPr>
          <p:cNvPr id="9" name="TextBox 8"/>
          <p:cNvSpPr txBox="1"/>
          <p:nvPr/>
        </p:nvSpPr>
        <p:spPr>
          <a:xfrm>
            <a:off x="731520" y="2834640"/>
            <a:ext cx="5120640" cy="457200"/>
          </a:xfrm>
          <a:prstGeom prst="rect">
            <a:avLst/>
          </a:prstGeom>
          <a:noFill/>
        </p:spPr>
        <p:txBody>
          <a:bodyPr wrap="square" lIns="0" rIns="0" tIns="0" bIns="0" anchor="t">
            <a:spAutoFit/>
          </a:bodyPr>
          <a:lstStyle/>
          <a:p>
            <a:pPr algn="l"/>
            <a:r>
              <a:rPr sz="1300" b="0" i="0">
                <a:solidFill>
                  <a:srgbClr val="151B23"/>
                </a:solidFill>
                <a:latin typeface="Inter"/>
              </a:rPr>
              <a:t>•  Same transaction as citation_edges, paper_metrics</a:t>
            </a:r>
          </a:p>
        </p:txBody>
      </p:sp>
      <p:sp>
        <p:nvSpPr>
          <p:cNvPr id="10" name="TextBox 9"/>
          <p:cNvSpPr txBox="1"/>
          <p:nvPr/>
        </p:nvSpPr>
        <p:spPr>
          <a:xfrm>
            <a:off x="731520" y="3337560"/>
            <a:ext cx="5120640" cy="457200"/>
          </a:xfrm>
          <a:prstGeom prst="rect">
            <a:avLst/>
          </a:prstGeom>
          <a:noFill/>
        </p:spPr>
        <p:txBody>
          <a:bodyPr wrap="square" lIns="0" rIns="0" tIns="0" bIns="0" anchor="t">
            <a:spAutoFit/>
          </a:bodyPr>
          <a:lstStyle/>
          <a:p>
            <a:pPr algn="l"/>
            <a:r>
              <a:rPr sz="1300" b="0" i="0">
                <a:solidFill>
                  <a:srgbClr val="151B23"/>
                </a:solidFill>
                <a:latin typeface="Inter"/>
              </a:rPr>
              <a:t>•  32M rows, 299M edges — one query plan</a:t>
            </a:r>
          </a:p>
        </p:txBody>
      </p:sp>
      <p:sp>
        <p:nvSpPr>
          <p:cNvPr id="11" name="TextBox 10"/>
          <p:cNvSpPr txBox="1"/>
          <p:nvPr/>
        </p:nvSpPr>
        <p:spPr>
          <a:xfrm>
            <a:off x="731520" y="3840480"/>
            <a:ext cx="5120640" cy="457200"/>
          </a:xfrm>
          <a:prstGeom prst="rect">
            <a:avLst/>
          </a:prstGeom>
          <a:noFill/>
        </p:spPr>
        <p:txBody>
          <a:bodyPr wrap="square" lIns="0" rIns="0" tIns="0" bIns="0" anchor="t">
            <a:spAutoFit/>
          </a:bodyPr>
          <a:lstStyle/>
          <a:p>
            <a:pPr algn="l"/>
            <a:r>
              <a:rPr sz="1300" b="0" i="0">
                <a:solidFill>
                  <a:srgbClr val="151B23"/>
                </a:solidFill>
                <a:latin typeface="Inter"/>
              </a:rPr>
              <a:t>•  No sync layer, no eventual consistency</a:t>
            </a:r>
          </a:p>
        </p:txBody>
      </p:sp>
      <p:sp>
        <p:nvSpPr>
          <p:cNvPr id="12" name="TextBox 11"/>
          <p:cNvSpPr txBox="1"/>
          <p:nvPr/>
        </p:nvSpPr>
        <p:spPr>
          <a:xfrm>
            <a:off x="731520" y="4343400"/>
            <a:ext cx="5120640" cy="457200"/>
          </a:xfrm>
          <a:prstGeom prst="rect">
            <a:avLst/>
          </a:prstGeom>
          <a:noFill/>
        </p:spPr>
        <p:txBody>
          <a:bodyPr wrap="square" lIns="0" rIns="0" tIns="0" bIns="0" anchor="t">
            <a:spAutoFit/>
          </a:bodyPr>
          <a:lstStyle/>
          <a:p>
            <a:pPr algn="l"/>
            <a:r>
              <a:rPr sz="1300" b="0" i="0">
                <a:solidFill>
                  <a:srgbClr val="151B23"/>
                </a:solidFill>
                <a:latin typeface="Inter"/>
              </a:rPr>
              <a:t>•  Halfvec + HNSW fits in one Postgres box</a:t>
            </a:r>
          </a:p>
        </p:txBody>
      </p:sp>
      <p:sp>
        <p:nvSpPr>
          <p:cNvPr id="13" name="TextBox 12"/>
          <p:cNvSpPr txBox="1"/>
          <p:nvPr/>
        </p:nvSpPr>
        <p:spPr>
          <a:xfrm>
            <a:off x="731520" y="4846320"/>
            <a:ext cx="5120640" cy="457200"/>
          </a:xfrm>
          <a:prstGeom prst="rect">
            <a:avLst/>
          </a:prstGeom>
          <a:noFill/>
        </p:spPr>
        <p:txBody>
          <a:bodyPr wrap="square" lIns="0" rIns="0" tIns="0" bIns="0" anchor="t">
            <a:spAutoFit/>
          </a:bodyPr>
          <a:lstStyle/>
          <a:p>
            <a:pPr algn="l"/>
            <a:r>
              <a:rPr sz="1300" b="0" i="0">
                <a:solidFill>
                  <a:srgbClr val="151B23"/>
                </a:solidFill>
                <a:latin typeface="Inter"/>
              </a:rPr>
              <a:t>•  Ops team already runs it</a:t>
            </a:r>
          </a:p>
        </p:txBody>
      </p:sp>
      <p:sp>
        <p:nvSpPr>
          <p:cNvPr id="14" name="Rounded Rectangle 13"/>
          <p:cNvSpPr/>
          <p:nvPr/>
        </p:nvSpPr>
        <p:spPr>
          <a:xfrm>
            <a:off x="6217920" y="1828800"/>
            <a:ext cx="5486400" cy="4297680"/>
          </a:xfrm>
          <a:prstGeom prst="roundRect">
            <a:avLst/>
          </a:prstGeom>
          <a:solidFill>
            <a:srgbClr val="FAFBFD"/>
          </a:solidFill>
          <a:ln w="17780">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1965960"/>
            <a:ext cx="5029200" cy="457200"/>
          </a:xfrm>
          <a:prstGeom prst="rect">
            <a:avLst/>
          </a:prstGeom>
          <a:noFill/>
        </p:spPr>
        <p:txBody>
          <a:bodyPr wrap="square" lIns="0" rIns="0" tIns="0" bIns="0" anchor="t">
            <a:spAutoFit/>
          </a:bodyPr>
          <a:lstStyle/>
          <a:p>
            <a:pPr algn="l"/>
            <a:r>
              <a:rPr sz="2000" b="1" i="0">
                <a:solidFill>
                  <a:srgbClr val="1F6FEB"/>
                </a:solidFill>
                <a:latin typeface="Inter"/>
              </a:rPr>
              <a:t>Qdrant — enrichment shard</a:t>
            </a:r>
          </a:p>
        </p:txBody>
      </p:sp>
      <p:sp>
        <p:nvSpPr>
          <p:cNvPr id="16" name="TextBox 15"/>
          <p:cNvSpPr txBox="1"/>
          <p:nvPr/>
        </p:nvSpPr>
        <p:spPr>
          <a:xfrm>
            <a:off x="6492240" y="2377440"/>
            <a:ext cx="5029200" cy="320040"/>
          </a:xfrm>
          <a:prstGeom prst="rect">
            <a:avLst/>
          </a:prstGeom>
          <a:noFill/>
        </p:spPr>
        <p:txBody>
          <a:bodyPr wrap="square" lIns="0" rIns="0" tIns="0" bIns="0" anchor="t">
            <a:spAutoFit/>
          </a:bodyPr>
          <a:lstStyle/>
          <a:p>
            <a:pPr algn="l"/>
            <a:r>
              <a:rPr sz="1200" b="0" i="1">
                <a:solidFill>
                  <a:srgbClr val="6B7280"/>
                </a:solidFill>
                <a:latin typeface="Inter"/>
              </a:rPr>
              <a:t>where it adds real value</a:t>
            </a:r>
          </a:p>
        </p:txBody>
      </p:sp>
      <p:sp>
        <p:nvSpPr>
          <p:cNvPr id="17" name="TextBox 16"/>
          <p:cNvSpPr txBox="1"/>
          <p:nvPr/>
        </p:nvSpPr>
        <p:spPr>
          <a:xfrm>
            <a:off x="6492240" y="2834640"/>
            <a:ext cx="5120640" cy="457200"/>
          </a:xfrm>
          <a:prstGeom prst="rect">
            <a:avLst/>
          </a:prstGeom>
          <a:noFill/>
        </p:spPr>
        <p:txBody>
          <a:bodyPr wrap="square" lIns="0" rIns="0" tIns="0" bIns="0" anchor="t">
            <a:spAutoFit/>
          </a:bodyPr>
          <a:lstStyle/>
          <a:p>
            <a:pPr algn="l"/>
            <a:r>
              <a:rPr sz="1300" b="0" i="0">
                <a:solidFill>
                  <a:srgbClr val="151B23"/>
                </a:solidFill>
                <a:latin typeface="Inter"/>
              </a:rPr>
              <a:t>•  Named multi-vectors per point (INDUS + query-doc)</a:t>
            </a:r>
          </a:p>
        </p:txBody>
      </p:sp>
      <p:sp>
        <p:nvSpPr>
          <p:cNvPr id="18" name="TextBox 17"/>
          <p:cNvSpPr txBox="1"/>
          <p:nvPr/>
        </p:nvSpPr>
        <p:spPr>
          <a:xfrm>
            <a:off x="6492240" y="3337560"/>
            <a:ext cx="5120640" cy="457200"/>
          </a:xfrm>
          <a:prstGeom prst="rect">
            <a:avLst/>
          </a:prstGeom>
          <a:noFill/>
        </p:spPr>
        <p:txBody>
          <a:bodyPr wrap="square" lIns="0" rIns="0" tIns="0" bIns="0" anchor="t">
            <a:spAutoFit/>
          </a:bodyPr>
          <a:lstStyle/>
          <a:p>
            <a:pPr algn="l"/>
            <a:r>
              <a:rPr sz="1300" b="0" i="0">
                <a:solidFill>
                  <a:srgbClr val="151B23"/>
                </a:solidFill>
                <a:latin typeface="Inter"/>
              </a:rPr>
              <a:t>•  Payload-indexed filters at HNSW speed</a:t>
            </a:r>
          </a:p>
        </p:txBody>
      </p:sp>
      <p:sp>
        <p:nvSpPr>
          <p:cNvPr id="19" name="TextBox 18"/>
          <p:cNvSpPr txBox="1"/>
          <p:nvPr/>
        </p:nvSpPr>
        <p:spPr>
          <a:xfrm>
            <a:off x="6492240" y="3840480"/>
            <a:ext cx="5120640" cy="457200"/>
          </a:xfrm>
          <a:prstGeom prst="rect">
            <a:avLst/>
          </a:prstGeom>
          <a:noFill/>
        </p:spPr>
        <p:txBody>
          <a:bodyPr wrap="square" lIns="0" rIns="0" tIns="0" bIns="0" anchor="t">
            <a:spAutoFit/>
          </a:bodyPr>
          <a:lstStyle/>
          <a:p>
            <a:pPr algn="l"/>
            <a:r>
              <a:rPr sz="1300" b="0" i="0">
                <a:solidFill>
                  <a:srgbClr val="151B23"/>
                </a:solidFill>
                <a:latin typeface="Inter"/>
              </a:rPr>
              <a:t>•  PQ / SQ / binary quantization + rerank</a:t>
            </a:r>
          </a:p>
        </p:txBody>
      </p:sp>
      <p:sp>
        <p:nvSpPr>
          <p:cNvPr id="20" name="TextBox 19"/>
          <p:cNvSpPr txBox="1"/>
          <p:nvPr/>
        </p:nvSpPr>
        <p:spPr>
          <a:xfrm>
            <a:off x="6492240" y="4343400"/>
            <a:ext cx="5120640" cy="457200"/>
          </a:xfrm>
          <a:prstGeom prst="rect">
            <a:avLst/>
          </a:prstGeom>
          <a:noFill/>
        </p:spPr>
        <p:txBody>
          <a:bodyPr wrap="square" lIns="0" rIns="0" tIns="0" bIns="0" anchor="t">
            <a:spAutoFit/>
          </a:bodyPr>
          <a:lstStyle/>
          <a:p>
            <a:pPr algn="l"/>
            <a:r>
              <a:rPr sz="1300" b="0" i="0">
                <a:solidFill>
                  <a:srgbClr val="151B23"/>
                </a:solidFill>
                <a:latin typeface="Inter"/>
              </a:rPr>
              <a:t>•  Recommendation / discovery API as a primitive</a:t>
            </a:r>
          </a:p>
        </p:txBody>
      </p:sp>
      <p:sp>
        <p:nvSpPr>
          <p:cNvPr id="21" name="TextBox 20"/>
          <p:cNvSpPr txBox="1"/>
          <p:nvPr/>
        </p:nvSpPr>
        <p:spPr>
          <a:xfrm>
            <a:off x="6492240" y="4846320"/>
            <a:ext cx="5120640" cy="457200"/>
          </a:xfrm>
          <a:prstGeom prst="rect">
            <a:avLst/>
          </a:prstGeom>
          <a:noFill/>
        </p:spPr>
        <p:txBody>
          <a:bodyPr wrap="square" lIns="0" rIns="0" tIns="0" bIns="0" anchor="t">
            <a:spAutoFit/>
          </a:bodyPr>
          <a:lstStyle/>
          <a:p>
            <a:pPr algn="l"/>
            <a:r>
              <a:rPr sz="1300" b="0" i="0">
                <a:solidFill>
                  <a:srgbClr val="151B23"/>
                </a:solidFill>
                <a:latin typeface="Inter"/>
              </a:rPr>
              <a:t>•  GPU HNSW build, per-collection snapshots</a:t>
            </a:r>
          </a:p>
        </p:txBody>
      </p:sp>
      <p:sp>
        <p:nvSpPr>
          <p:cNvPr id="22" name="TextBox 21"/>
          <p:cNvSpPr txBox="1"/>
          <p:nvPr/>
        </p:nvSpPr>
        <p:spPr>
          <a:xfrm>
            <a:off x="457200" y="6263640"/>
            <a:ext cx="11247120" cy="365760"/>
          </a:xfrm>
          <a:prstGeom prst="rect">
            <a:avLst/>
          </a:prstGeom>
          <a:noFill/>
        </p:spPr>
        <p:txBody>
          <a:bodyPr wrap="square" lIns="0" rIns="0" tIns="0" bIns="0" anchor="t">
            <a:spAutoFit/>
          </a:bodyPr>
          <a:lstStyle/>
          <a:p>
            <a:pPr algn="ctr"/>
            <a:r>
              <a:rPr sz="1200" b="0" i="1">
                <a:solidFill>
                  <a:srgbClr val="4B5563"/>
                </a:solidFill>
                <a:latin typeface="Inter"/>
              </a:rPr>
              <a:t>Pragmatic shape: Postgres = source of truth · Qdrant = additive search/discovery layer, fed by one-way upsert</a:t>
            </a:r>
          </a:p>
        </p:txBody>
      </p:sp>
      <p:sp>
        <p:nvSpPr>
          <p:cNvPr id="23" name="TextBox 22"/>
          <p:cNvSpPr txBox="1"/>
          <p:nvPr/>
        </p:nvSpPr>
        <p:spPr>
          <a:xfrm>
            <a:off x="457200" y="6492240"/>
            <a:ext cx="9144000" cy="274320"/>
          </a:xfrm>
          <a:prstGeom prst="rect">
            <a:avLst/>
          </a:prstGeom>
          <a:noFill/>
        </p:spPr>
        <p:txBody>
          <a:bodyPr wrap="square" lIns="0" rIns="0" tIns="0" bIns="0" anchor="t">
            <a:spAutoFit/>
          </a:bodyPr>
          <a:lstStyle/>
          <a:p>
            <a:pPr algn="l"/>
            <a:r>
              <a:rPr sz="1000" b="0" i="0">
                <a:solidFill>
                  <a:srgbClr val="6B7280"/>
                </a:solidFill>
                <a:latin typeface="Inter"/>
              </a:rPr>
              <a:t>Stephanie Jarmak  ·  MLOps Community  ·  Making Scientific Knowledge Navigable for Agents</a:t>
            </a:r>
          </a:p>
        </p:txBody>
      </p:sp>
      <p:sp>
        <p:nvSpPr>
          <p:cNvPr id="24" name="TextBox 23"/>
          <p:cNvSpPr txBox="1"/>
          <p:nvPr/>
        </p:nvSpPr>
        <p:spPr>
          <a:xfrm>
            <a:off x="11247120" y="6492240"/>
            <a:ext cx="731520" cy="274320"/>
          </a:xfrm>
          <a:prstGeom prst="rect">
            <a:avLst/>
          </a:prstGeom>
          <a:noFill/>
        </p:spPr>
        <p:txBody>
          <a:bodyPr wrap="square" lIns="0" rIns="0" tIns="0" bIns="0" anchor="t">
            <a:spAutoFit/>
          </a:bodyPr>
          <a:lstStyle/>
          <a:p>
            <a:pPr algn="r"/>
            <a:r>
              <a:rPr sz="1000" b="0" i="0">
                <a:solidFill>
                  <a:srgbClr val="6B7280"/>
                </a:solidFill>
                <a:latin typeface="Inter"/>
              </a:rPr>
              <a:t>13 / 30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1247120" cy="731520"/>
          </a:xfrm>
          <a:prstGeom prst="rect">
            <a:avLst/>
          </a:prstGeom>
          <a:noFill/>
        </p:spPr>
        <p:txBody>
          <a:bodyPr wrap="square" lIns="0" rIns="0" tIns="0" bIns="0" anchor="t">
            <a:spAutoFit/>
          </a:bodyPr>
          <a:lstStyle/>
          <a:p>
            <a:pPr algn="l"/>
            <a:r>
              <a:rPr sz="3200" b="1" i="0">
                <a:solidFill>
                  <a:srgbClr val="151B23"/>
                </a:solidFill>
                <a:latin typeface="Inter"/>
              </a:rPr>
              <a:t>Prototype: find_similar_by_examples (14th MCP tool)</a:t>
            </a:r>
          </a:p>
        </p:txBody>
      </p:sp>
      <p:sp>
        <p:nvSpPr>
          <p:cNvPr id="4" name="Rectangle 3"/>
          <p:cNvSpPr/>
          <p:nvPr/>
        </p:nvSpPr>
        <p:spPr>
          <a:xfrm>
            <a:off x="457200" y="1234440"/>
            <a:ext cx="731520" cy="25400"/>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11247120" cy="457200"/>
          </a:xfrm>
          <a:prstGeom prst="rect">
            <a:avLst/>
          </a:prstGeom>
          <a:noFill/>
        </p:spPr>
        <p:txBody>
          <a:bodyPr wrap="square" lIns="0" rIns="0" tIns="0" bIns="0" anchor="t">
            <a:spAutoFit/>
          </a:bodyPr>
          <a:lstStyle/>
          <a:p>
            <a:pPr algn="l"/>
            <a:r>
              <a:rPr sz="1600" b="0" i="1">
                <a:solidFill>
                  <a:srgbClr val="4B5563"/>
                </a:solidFill>
                <a:latin typeface="Inter"/>
              </a:rPr>
              <a:t>"More like these papers, less like those" — optionally filtered</a:t>
            </a:r>
          </a:p>
        </p:txBody>
      </p:sp>
      <p:sp>
        <p:nvSpPr>
          <p:cNvPr id="6" name="Rectangle 5"/>
          <p:cNvSpPr/>
          <p:nvPr/>
        </p:nvSpPr>
        <p:spPr>
          <a:xfrm>
            <a:off x="457200" y="1783080"/>
            <a:ext cx="5394960" cy="2834640"/>
          </a:xfrm>
          <a:prstGeom prst="rect">
            <a:avLst/>
          </a:prstGeom>
          <a:solidFill>
            <a:srgbClr val="F8FAFC"/>
          </a:solidFill>
          <a:ln w="1270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874519"/>
            <a:ext cx="5029200" cy="320040"/>
          </a:xfrm>
          <a:prstGeom prst="rect">
            <a:avLst/>
          </a:prstGeom>
          <a:noFill/>
        </p:spPr>
        <p:txBody>
          <a:bodyPr wrap="square" lIns="0" rIns="0" tIns="0" bIns="0" anchor="t">
            <a:spAutoFit/>
          </a:bodyPr>
          <a:lstStyle/>
          <a:p>
            <a:pPr algn="l"/>
            <a:r>
              <a:rPr sz="1300" b="1" i="0">
                <a:solidFill>
                  <a:srgbClr val="0B4A9E"/>
                </a:solidFill>
                <a:latin typeface="Menlo"/>
              </a:rPr>
              <a:t>find_similar_by_examples(</a:t>
            </a:r>
          </a:p>
        </p:txBody>
      </p:sp>
      <p:sp>
        <p:nvSpPr>
          <p:cNvPr id="8" name="TextBox 7"/>
          <p:cNvSpPr txBox="1"/>
          <p:nvPr/>
        </p:nvSpPr>
        <p:spPr>
          <a:xfrm>
            <a:off x="640080" y="2194560"/>
            <a:ext cx="5029200" cy="274320"/>
          </a:xfrm>
          <a:prstGeom prst="rect">
            <a:avLst/>
          </a:prstGeom>
          <a:noFill/>
        </p:spPr>
        <p:txBody>
          <a:bodyPr wrap="square" lIns="0" rIns="0" tIns="0" bIns="0" anchor="t">
            <a:spAutoFit/>
          </a:bodyPr>
          <a:lstStyle/>
          <a:p>
            <a:pPr algn="l"/>
            <a:r>
              <a:rPr sz="1200" b="0" i="0">
                <a:solidFill>
                  <a:srgbClr val="151B23"/>
                </a:solidFill>
                <a:latin typeface="Menlo"/>
              </a:rPr>
              <a:t>    positive_bibcodes: list[str],</a:t>
            </a:r>
          </a:p>
        </p:txBody>
      </p:sp>
      <p:sp>
        <p:nvSpPr>
          <p:cNvPr id="9" name="TextBox 8"/>
          <p:cNvSpPr txBox="1"/>
          <p:nvPr/>
        </p:nvSpPr>
        <p:spPr>
          <a:xfrm>
            <a:off x="640080" y="2468879"/>
            <a:ext cx="5029200" cy="274320"/>
          </a:xfrm>
          <a:prstGeom prst="rect">
            <a:avLst/>
          </a:prstGeom>
          <a:noFill/>
        </p:spPr>
        <p:txBody>
          <a:bodyPr wrap="square" lIns="0" rIns="0" tIns="0" bIns="0" anchor="t">
            <a:spAutoFit/>
          </a:bodyPr>
          <a:lstStyle/>
          <a:p>
            <a:pPr algn="l"/>
            <a:r>
              <a:rPr sz="1200" b="0" i="0">
                <a:solidFill>
                  <a:srgbClr val="151B23"/>
                </a:solidFill>
                <a:latin typeface="Menlo"/>
              </a:rPr>
              <a:t>    negative_bibcodes: list[str] = [],</a:t>
            </a:r>
          </a:p>
        </p:txBody>
      </p:sp>
      <p:sp>
        <p:nvSpPr>
          <p:cNvPr id="10" name="TextBox 9"/>
          <p:cNvSpPr txBox="1"/>
          <p:nvPr/>
        </p:nvSpPr>
        <p:spPr>
          <a:xfrm>
            <a:off x="640080" y="2743200"/>
            <a:ext cx="5029200" cy="274320"/>
          </a:xfrm>
          <a:prstGeom prst="rect">
            <a:avLst/>
          </a:prstGeom>
          <a:noFill/>
        </p:spPr>
        <p:txBody>
          <a:bodyPr wrap="square" lIns="0" rIns="0" tIns="0" bIns="0" anchor="t">
            <a:spAutoFit/>
          </a:bodyPr>
          <a:lstStyle/>
          <a:p>
            <a:pPr algn="l"/>
            <a:r>
              <a:rPr sz="1200" b="0" i="0">
                <a:solidFill>
                  <a:srgbClr val="151B23"/>
                </a:solidFill>
                <a:latin typeface="Menlo"/>
              </a:rPr>
              <a:t>    limit: int = 10,</a:t>
            </a:r>
          </a:p>
        </p:txBody>
      </p:sp>
      <p:sp>
        <p:nvSpPr>
          <p:cNvPr id="11" name="TextBox 10"/>
          <p:cNvSpPr txBox="1"/>
          <p:nvPr/>
        </p:nvSpPr>
        <p:spPr>
          <a:xfrm>
            <a:off x="640080" y="3017520"/>
            <a:ext cx="5029200" cy="274320"/>
          </a:xfrm>
          <a:prstGeom prst="rect">
            <a:avLst/>
          </a:prstGeom>
          <a:noFill/>
        </p:spPr>
        <p:txBody>
          <a:bodyPr wrap="square" lIns="0" rIns="0" tIns="0" bIns="0" anchor="t">
            <a:spAutoFit/>
          </a:bodyPr>
          <a:lstStyle/>
          <a:p>
            <a:pPr algn="l"/>
            <a:r>
              <a:rPr sz="1200" b="0" i="0">
                <a:solidFill>
                  <a:srgbClr val="151B23"/>
                </a:solidFill>
                <a:latin typeface="Menlo"/>
              </a:rPr>
              <a:t>    year_min / year_max: int | None,</a:t>
            </a:r>
          </a:p>
        </p:txBody>
      </p:sp>
      <p:sp>
        <p:nvSpPr>
          <p:cNvPr id="12" name="TextBox 11"/>
          <p:cNvSpPr txBox="1"/>
          <p:nvPr/>
        </p:nvSpPr>
        <p:spPr>
          <a:xfrm>
            <a:off x="640080" y="3291839"/>
            <a:ext cx="5029200" cy="274320"/>
          </a:xfrm>
          <a:prstGeom prst="rect">
            <a:avLst/>
          </a:prstGeom>
          <a:noFill/>
        </p:spPr>
        <p:txBody>
          <a:bodyPr wrap="square" lIns="0" rIns="0" tIns="0" bIns="0" anchor="t">
            <a:spAutoFit/>
          </a:bodyPr>
          <a:lstStyle/>
          <a:p>
            <a:pPr algn="l"/>
            <a:r>
              <a:rPr sz="1200" b="0" i="0">
                <a:solidFill>
                  <a:srgbClr val="151B23"/>
                </a:solidFill>
                <a:latin typeface="Menlo"/>
              </a:rPr>
              <a:t>    doctype: list[str] | None,</a:t>
            </a:r>
          </a:p>
        </p:txBody>
      </p:sp>
      <p:sp>
        <p:nvSpPr>
          <p:cNvPr id="13" name="TextBox 12"/>
          <p:cNvSpPr txBox="1"/>
          <p:nvPr/>
        </p:nvSpPr>
        <p:spPr>
          <a:xfrm>
            <a:off x="640080" y="3566160"/>
            <a:ext cx="5029200" cy="274320"/>
          </a:xfrm>
          <a:prstGeom prst="rect">
            <a:avLst/>
          </a:prstGeom>
          <a:noFill/>
        </p:spPr>
        <p:txBody>
          <a:bodyPr wrap="square" lIns="0" rIns="0" tIns="0" bIns="0" anchor="t">
            <a:spAutoFit/>
          </a:bodyPr>
          <a:lstStyle/>
          <a:p>
            <a:pPr algn="l"/>
            <a:r>
              <a:rPr sz="1200" b="0" i="0">
                <a:solidFill>
                  <a:srgbClr val="151B23"/>
                </a:solidFill>
                <a:latin typeface="Menlo"/>
              </a:rPr>
              <a:t>    community_semantic: int | None,</a:t>
            </a:r>
          </a:p>
        </p:txBody>
      </p:sp>
      <p:sp>
        <p:nvSpPr>
          <p:cNvPr id="14" name="TextBox 13"/>
          <p:cNvSpPr txBox="1"/>
          <p:nvPr/>
        </p:nvSpPr>
        <p:spPr>
          <a:xfrm>
            <a:off x="640080" y="3840479"/>
            <a:ext cx="5029200" cy="274320"/>
          </a:xfrm>
          <a:prstGeom prst="rect">
            <a:avLst/>
          </a:prstGeom>
          <a:noFill/>
        </p:spPr>
        <p:txBody>
          <a:bodyPr wrap="square" lIns="0" rIns="0" tIns="0" bIns="0" anchor="t">
            <a:spAutoFit/>
          </a:bodyPr>
          <a:lstStyle/>
          <a:p>
            <a:pPr algn="l"/>
            <a:r>
              <a:rPr sz="1200" b="0" i="0">
                <a:solidFill>
                  <a:srgbClr val="151B23"/>
                </a:solidFill>
                <a:latin typeface="Menlo"/>
              </a:rPr>
              <a:t>    arxiv_class: list[str] | None,</a:t>
            </a:r>
          </a:p>
        </p:txBody>
      </p:sp>
      <p:sp>
        <p:nvSpPr>
          <p:cNvPr id="15" name="TextBox 14"/>
          <p:cNvSpPr txBox="1"/>
          <p:nvPr/>
        </p:nvSpPr>
        <p:spPr>
          <a:xfrm>
            <a:off x="640080" y="4114800"/>
            <a:ext cx="5029200" cy="274320"/>
          </a:xfrm>
          <a:prstGeom prst="rect">
            <a:avLst/>
          </a:prstGeom>
          <a:noFill/>
        </p:spPr>
        <p:txBody>
          <a:bodyPr wrap="square" lIns="0" rIns="0" tIns="0" bIns="0" anchor="t">
            <a:spAutoFit/>
          </a:bodyPr>
          <a:lstStyle/>
          <a:p>
            <a:pPr algn="l"/>
            <a:r>
              <a:rPr sz="1200" b="0" i="0">
                <a:solidFill>
                  <a:srgbClr val="151B23"/>
                </a:solidFill>
                <a:latin typeface="Menlo"/>
              </a:rPr>
              <a:t>)</a:t>
            </a:r>
          </a:p>
        </p:txBody>
      </p:sp>
      <p:sp>
        <p:nvSpPr>
          <p:cNvPr id="16" name="TextBox 15"/>
          <p:cNvSpPr txBox="1"/>
          <p:nvPr/>
        </p:nvSpPr>
        <p:spPr>
          <a:xfrm>
            <a:off x="457200" y="4709160"/>
            <a:ext cx="5394960" cy="365760"/>
          </a:xfrm>
          <a:prstGeom prst="rect">
            <a:avLst/>
          </a:prstGeom>
          <a:noFill/>
        </p:spPr>
        <p:txBody>
          <a:bodyPr wrap="square" lIns="0" rIns="0" tIns="0" bIns="0" anchor="t">
            <a:spAutoFit/>
          </a:bodyPr>
          <a:lstStyle/>
          <a:p>
            <a:pPr algn="l"/>
            <a:r>
              <a:rPr sz="1500" b="1" i="0">
                <a:solidFill>
                  <a:srgbClr val="0B4A9E"/>
                </a:solidFill>
                <a:latin typeface="Inter"/>
              </a:rPr>
              <a:t>Pilot state</a:t>
            </a:r>
          </a:p>
        </p:txBody>
      </p:sp>
      <p:sp>
        <p:nvSpPr>
          <p:cNvPr id="17" name="TextBox 16"/>
          <p:cNvSpPr txBox="1"/>
          <p:nvPr/>
        </p:nvSpPr>
        <p:spPr>
          <a:xfrm>
            <a:off x="640080" y="5074920"/>
            <a:ext cx="2011680" cy="274320"/>
          </a:xfrm>
          <a:prstGeom prst="rect">
            <a:avLst/>
          </a:prstGeom>
          <a:noFill/>
        </p:spPr>
        <p:txBody>
          <a:bodyPr wrap="square" lIns="0" rIns="0" tIns="0" bIns="0" anchor="t">
            <a:spAutoFit/>
          </a:bodyPr>
          <a:lstStyle/>
          <a:p>
            <a:pPr algn="l"/>
            <a:r>
              <a:rPr sz="1200" b="1" i="0">
                <a:solidFill>
                  <a:srgbClr val="151B23"/>
                </a:solidFill>
                <a:latin typeface="Menlo"/>
              </a:rPr>
              <a:t>400,000 points</a:t>
            </a:r>
          </a:p>
        </p:txBody>
      </p:sp>
      <p:sp>
        <p:nvSpPr>
          <p:cNvPr id="18" name="TextBox 17"/>
          <p:cNvSpPr txBox="1"/>
          <p:nvPr/>
        </p:nvSpPr>
        <p:spPr>
          <a:xfrm>
            <a:off x="2743200" y="5074920"/>
            <a:ext cx="3017520" cy="274320"/>
          </a:xfrm>
          <a:prstGeom prst="rect">
            <a:avLst/>
          </a:prstGeom>
          <a:noFill/>
        </p:spPr>
        <p:txBody>
          <a:bodyPr wrap="square" lIns="0" rIns="0" tIns="0" bIns="0" anchor="t">
            <a:spAutoFit/>
          </a:bodyPr>
          <a:lstStyle/>
          <a:p>
            <a:pPr algn="l"/>
            <a:r>
              <a:rPr sz="1100" b="0" i="1">
                <a:solidFill>
                  <a:srgbClr val="4B5563"/>
                </a:solidFill>
                <a:latin typeface="Inter"/>
              </a:rPr>
              <a:t>top-PageRank, rich payload</a:t>
            </a:r>
          </a:p>
        </p:txBody>
      </p:sp>
      <p:sp>
        <p:nvSpPr>
          <p:cNvPr id="19" name="TextBox 18"/>
          <p:cNvSpPr txBox="1"/>
          <p:nvPr/>
        </p:nvSpPr>
        <p:spPr>
          <a:xfrm>
            <a:off x="640080" y="5394959"/>
            <a:ext cx="2011680" cy="274320"/>
          </a:xfrm>
          <a:prstGeom prst="rect">
            <a:avLst/>
          </a:prstGeom>
          <a:noFill/>
        </p:spPr>
        <p:txBody>
          <a:bodyPr wrap="square" lIns="0" rIns="0" tIns="0" bIns="0" anchor="t">
            <a:spAutoFit/>
          </a:bodyPr>
          <a:lstStyle/>
          <a:p>
            <a:pPr algn="l"/>
            <a:r>
              <a:rPr sz="1200" b="1" i="0">
                <a:solidFill>
                  <a:srgbClr val="151B23"/>
                </a:solidFill>
                <a:latin typeface="Menlo"/>
              </a:rPr>
              <a:t>INDUS 768d</a:t>
            </a:r>
          </a:p>
        </p:txBody>
      </p:sp>
      <p:sp>
        <p:nvSpPr>
          <p:cNvPr id="20" name="TextBox 19"/>
          <p:cNvSpPr txBox="1"/>
          <p:nvPr/>
        </p:nvSpPr>
        <p:spPr>
          <a:xfrm>
            <a:off x="2743200" y="5394959"/>
            <a:ext cx="3017520" cy="274320"/>
          </a:xfrm>
          <a:prstGeom prst="rect">
            <a:avLst/>
          </a:prstGeom>
          <a:noFill/>
        </p:spPr>
        <p:txBody>
          <a:bodyPr wrap="square" lIns="0" rIns="0" tIns="0" bIns="0" anchor="t">
            <a:spAutoFit/>
          </a:bodyPr>
          <a:lstStyle/>
          <a:p>
            <a:pPr algn="l"/>
            <a:r>
              <a:rPr sz="1100" b="0" i="1">
                <a:solidFill>
                  <a:srgbClr val="4B5563"/>
                </a:solidFill>
                <a:latin typeface="Inter"/>
              </a:rPr>
              <a:t>cosine similarity, HNSW</a:t>
            </a:r>
          </a:p>
        </p:txBody>
      </p:sp>
      <p:sp>
        <p:nvSpPr>
          <p:cNvPr id="21" name="TextBox 20"/>
          <p:cNvSpPr txBox="1"/>
          <p:nvPr/>
        </p:nvSpPr>
        <p:spPr>
          <a:xfrm>
            <a:off x="640080" y="5715000"/>
            <a:ext cx="2011680" cy="274320"/>
          </a:xfrm>
          <a:prstGeom prst="rect">
            <a:avLst/>
          </a:prstGeom>
          <a:noFill/>
        </p:spPr>
        <p:txBody>
          <a:bodyPr wrap="square" lIns="0" rIns="0" tIns="0" bIns="0" anchor="t">
            <a:spAutoFit/>
          </a:bodyPr>
          <a:lstStyle/>
          <a:p>
            <a:pPr algn="l"/>
            <a:r>
              <a:rPr sz="1200" b="1" i="0">
                <a:solidFill>
                  <a:srgbClr val="151B23"/>
                </a:solidFill>
                <a:latin typeface="Menlo"/>
              </a:rPr>
              <a:t>~676 pts/s</a:t>
            </a:r>
          </a:p>
        </p:txBody>
      </p:sp>
      <p:sp>
        <p:nvSpPr>
          <p:cNvPr id="22" name="TextBox 21"/>
          <p:cNvSpPr txBox="1"/>
          <p:nvPr/>
        </p:nvSpPr>
        <p:spPr>
          <a:xfrm>
            <a:off x="2743200" y="5715000"/>
            <a:ext cx="3017520" cy="274320"/>
          </a:xfrm>
          <a:prstGeom prst="rect">
            <a:avLst/>
          </a:prstGeom>
          <a:noFill/>
        </p:spPr>
        <p:txBody>
          <a:bodyPr wrap="square" lIns="0" rIns="0" tIns="0" bIns="0" anchor="t">
            <a:spAutoFit/>
          </a:bodyPr>
          <a:lstStyle/>
          <a:p>
            <a:pPr algn="l"/>
            <a:r>
              <a:rPr sz="1100" b="0" i="1">
                <a:solidFill>
                  <a:srgbClr val="4B5563"/>
                </a:solidFill>
                <a:latin typeface="Inter"/>
              </a:rPr>
              <a:t>upsert from Postgres</a:t>
            </a:r>
          </a:p>
        </p:txBody>
      </p:sp>
      <p:sp>
        <p:nvSpPr>
          <p:cNvPr id="23" name="TextBox 22"/>
          <p:cNvSpPr txBox="1"/>
          <p:nvPr/>
        </p:nvSpPr>
        <p:spPr>
          <a:xfrm>
            <a:off x="640080" y="6035040"/>
            <a:ext cx="2011680" cy="274320"/>
          </a:xfrm>
          <a:prstGeom prst="rect">
            <a:avLst/>
          </a:prstGeom>
          <a:noFill/>
        </p:spPr>
        <p:txBody>
          <a:bodyPr wrap="square" lIns="0" rIns="0" tIns="0" bIns="0" anchor="t">
            <a:spAutoFit/>
          </a:bodyPr>
          <a:lstStyle/>
          <a:p>
            <a:pPr algn="l"/>
            <a:r>
              <a:rPr sz="1200" b="1" i="0">
                <a:solidFill>
                  <a:srgbClr val="151B23"/>
                </a:solidFill>
                <a:latin typeface="Menlo"/>
              </a:rPr>
              <a:t>2.6 GB on disk</a:t>
            </a:r>
          </a:p>
        </p:txBody>
      </p:sp>
      <p:sp>
        <p:nvSpPr>
          <p:cNvPr id="24" name="TextBox 23"/>
          <p:cNvSpPr txBox="1"/>
          <p:nvPr/>
        </p:nvSpPr>
        <p:spPr>
          <a:xfrm>
            <a:off x="2743200" y="6035040"/>
            <a:ext cx="3017520" cy="274320"/>
          </a:xfrm>
          <a:prstGeom prst="rect">
            <a:avLst/>
          </a:prstGeom>
          <a:noFill/>
        </p:spPr>
        <p:txBody>
          <a:bodyPr wrap="square" lIns="0" rIns="0" tIns="0" bIns="0" anchor="t">
            <a:spAutoFit/>
          </a:bodyPr>
          <a:lstStyle/>
          <a:p>
            <a:pPr algn="l"/>
            <a:r>
              <a:rPr sz="1100" b="0" i="1">
                <a:solidFill>
                  <a:srgbClr val="4B5563"/>
                </a:solidFill>
                <a:latin typeface="Inter"/>
              </a:rPr>
              <a:t>one Docker container</a:t>
            </a:r>
          </a:p>
        </p:txBody>
      </p:sp>
      <p:sp>
        <p:nvSpPr>
          <p:cNvPr id="25" name="TextBox 24"/>
          <p:cNvSpPr txBox="1"/>
          <p:nvPr/>
        </p:nvSpPr>
        <p:spPr>
          <a:xfrm>
            <a:off x="6126480" y="1828800"/>
            <a:ext cx="5760720" cy="365760"/>
          </a:xfrm>
          <a:prstGeom prst="rect">
            <a:avLst/>
          </a:prstGeom>
          <a:noFill/>
        </p:spPr>
        <p:txBody>
          <a:bodyPr wrap="square" lIns="0" rIns="0" tIns="0" bIns="0" anchor="t">
            <a:spAutoFit/>
          </a:bodyPr>
          <a:lstStyle/>
          <a:p>
            <a:pPr algn="l"/>
            <a:r>
              <a:rPr sz="1300" b="1" i="0">
                <a:solidFill>
                  <a:srgbClr val="0B4A9E"/>
                </a:solidFill>
                <a:latin typeface="Inter"/>
              </a:rPr>
              <a:t>Live demo — seed: two graphene/terahertz papers</a:t>
            </a:r>
          </a:p>
        </p:txBody>
      </p:sp>
      <p:sp>
        <p:nvSpPr>
          <p:cNvPr id="26" name="TextBox 25"/>
          <p:cNvSpPr txBox="1"/>
          <p:nvPr/>
        </p:nvSpPr>
        <p:spPr>
          <a:xfrm>
            <a:off x="6126480" y="2240280"/>
            <a:ext cx="5760720" cy="274320"/>
          </a:xfrm>
          <a:prstGeom prst="rect">
            <a:avLst/>
          </a:prstGeom>
          <a:noFill/>
        </p:spPr>
        <p:txBody>
          <a:bodyPr wrap="square" lIns="0" rIns="0" tIns="0" bIns="0" anchor="t">
            <a:spAutoFit/>
          </a:bodyPr>
          <a:lstStyle/>
          <a:p>
            <a:pPr algn="l"/>
            <a:r>
              <a:rPr sz="1100" b="1" i="0">
                <a:solidFill>
                  <a:srgbClr val="151B23"/>
                </a:solidFill>
                <a:latin typeface="Menlo"/>
              </a:rPr>
              <a:t>1. 2012NJPh...14k8001T  c=11  physics.optics       s=0.721</a:t>
            </a:r>
          </a:p>
        </p:txBody>
      </p:sp>
      <p:sp>
        <p:nvSpPr>
          <p:cNvPr id="27" name="TextBox 26"/>
          <p:cNvSpPr txBox="1"/>
          <p:nvPr/>
        </p:nvSpPr>
        <p:spPr>
          <a:xfrm>
            <a:off x="6126480" y="2496312"/>
            <a:ext cx="5760720" cy="274320"/>
          </a:xfrm>
          <a:prstGeom prst="rect">
            <a:avLst/>
          </a:prstGeom>
          <a:noFill/>
        </p:spPr>
        <p:txBody>
          <a:bodyPr wrap="square" lIns="0" rIns="0" tIns="0" bIns="0" anchor="t">
            <a:spAutoFit/>
          </a:bodyPr>
          <a:lstStyle/>
          <a:p>
            <a:pPr algn="l"/>
            <a:r>
              <a:rPr sz="1100" b="0" i="0">
                <a:solidFill>
                  <a:srgbClr val="4B5563"/>
                </a:solidFill>
                <a:latin typeface="Menlo"/>
              </a:rPr>
              <a:t>   Comment on 'Encoding many channels on the same</a:t>
            </a:r>
          </a:p>
        </p:txBody>
      </p:sp>
      <p:sp>
        <p:nvSpPr>
          <p:cNvPr id="28" name="TextBox 27"/>
          <p:cNvSpPr txBox="1"/>
          <p:nvPr/>
        </p:nvSpPr>
        <p:spPr>
          <a:xfrm>
            <a:off x="6126480" y="2752344"/>
            <a:ext cx="5760720" cy="274320"/>
          </a:xfrm>
          <a:prstGeom prst="rect">
            <a:avLst/>
          </a:prstGeom>
          <a:noFill/>
        </p:spPr>
        <p:txBody>
          <a:bodyPr wrap="square" lIns="0" rIns="0" tIns="0" bIns="0" anchor="t">
            <a:spAutoFit/>
          </a:bodyPr>
          <a:lstStyle/>
          <a:p>
            <a:pPr algn="l"/>
            <a:r>
              <a:rPr sz="1100" b="0" i="0">
                <a:solidFill>
                  <a:srgbClr val="4B5563"/>
                </a:solidFill>
                <a:latin typeface="Menlo"/>
              </a:rPr>
              <a:t>   frequency through radio vorticity...'</a:t>
            </a:r>
          </a:p>
        </p:txBody>
      </p:sp>
      <p:sp>
        <p:nvSpPr>
          <p:cNvPr id="29" name="TextBox 28"/>
          <p:cNvSpPr txBox="1"/>
          <p:nvPr/>
        </p:nvSpPr>
        <p:spPr>
          <a:xfrm>
            <a:off x="6126480" y="3008376"/>
            <a:ext cx="5760720" cy="274320"/>
          </a:xfrm>
          <a:prstGeom prst="rect">
            <a:avLst/>
          </a:prstGeom>
          <a:noFill/>
        </p:spPr>
        <p:txBody>
          <a:bodyPr wrap="square" lIns="0" rIns="0" tIns="0" bIns="0" anchor="t">
            <a:spAutoFit/>
          </a:bodyPr>
          <a:lstStyle/>
          <a:p>
            <a:pPr algn="l"/>
            <a:r>
              <a:rPr sz="1100" b="1" i="0">
                <a:solidFill>
                  <a:srgbClr val="151B23"/>
                </a:solidFill>
                <a:latin typeface="Menlo"/>
              </a:rPr>
              <a:t>2. 2010ACSNa...4.1889F  c=5   cond-mat.mes-hall   s=0.676</a:t>
            </a:r>
          </a:p>
        </p:txBody>
      </p:sp>
      <p:sp>
        <p:nvSpPr>
          <p:cNvPr id="30" name="TextBox 29"/>
          <p:cNvSpPr txBox="1"/>
          <p:nvPr/>
        </p:nvSpPr>
        <p:spPr>
          <a:xfrm>
            <a:off x="6126480" y="3264408"/>
            <a:ext cx="5760720" cy="274320"/>
          </a:xfrm>
          <a:prstGeom prst="rect">
            <a:avLst/>
          </a:prstGeom>
          <a:noFill/>
        </p:spPr>
        <p:txBody>
          <a:bodyPr wrap="square" lIns="0" rIns="0" tIns="0" bIns="0" anchor="t">
            <a:spAutoFit/>
          </a:bodyPr>
          <a:lstStyle/>
          <a:p>
            <a:pPr algn="l"/>
            <a:r>
              <a:rPr sz="1100" b="0" i="0">
                <a:solidFill>
                  <a:srgbClr val="4B5563"/>
                </a:solidFill>
                <a:latin typeface="Menlo"/>
              </a:rPr>
              <a:t>   Thermal Conductivity of Graphene in Corbino</a:t>
            </a:r>
          </a:p>
        </p:txBody>
      </p:sp>
      <p:sp>
        <p:nvSpPr>
          <p:cNvPr id="31" name="TextBox 30"/>
          <p:cNvSpPr txBox="1"/>
          <p:nvPr/>
        </p:nvSpPr>
        <p:spPr>
          <a:xfrm>
            <a:off x="6126480" y="3520440"/>
            <a:ext cx="5760720" cy="274320"/>
          </a:xfrm>
          <a:prstGeom prst="rect">
            <a:avLst/>
          </a:prstGeom>
          <a:noFill/>
        </p:spPr>
        <p:txBody>
          <a:bodyPr wrap="square" lIns="0" rIns="0" tIns="0" bIns="0" anchor="t">
            <a:spAutoFit/>
          </a:bodyPr>
          <a:lstStyle/>
          <a:p>
            <a:pPr algn="l"/>
            <a:r>
              <a:rPr sz="1100" b="0" i="0">
                <a:solidFill>
                  <a:srgbClr val="4B5563"/>
                </a:solidFill>
                <a:latin typeface="Menlo"/>
              </a:rPr>
              <a:t>   Membrane Geometry</a:t>
            </a:r>
          </a:p>
        </p:txBody>
      </p:sp>
      <p:sp>
        <p:nvSpPr>
          <p:cNvPr id="32" name="TextBox 31"/>
          <p:cNvSpPr txBox="1"/>
          <p:nvPr/>
        </p:nvSpPr>
        <p:spPr>
          <a:xfrm>
            <a:off x="6126480" y="3776472"/>
            <a:ext cx="5760720" cy="274320"/>
          </a:xfrm>
          <a:prstGeom prst="rect">
            <a:avLst/>
          </a:prstGeom>
          <a:noFill/>
        </p:spPr>
        <p:txBody>
          <a:bodyPr wrap="square" lIns="0" rIns="0" tIns="0" bIns="0" anchor="t">
            <a:spAutoFit/>
          </a:bodyPr>
          <a:lstStyle/>
          <a:p>
            <a:pPr algn="l"/>
            <a:r>
              <a:rPr sz="1100" b="1" i="0">
                <a:solidFill>
                  <a:srgbClr val="151B23"/>
                </a:solidFill>
                <a:latin typeface="Menlo"/>
              </a:rPr>
              <a:t>3. 2012NatMa..11..865V  c=15  cond-mat.mes-hall   s=0.659</a:t>
            </a:r>
          </a:p>
        </p:txBody>
      </p:sp>
      <p:sp>
        <p:nvSpPr>
          <p:cNvPr id="33" name="TextBox 32"/>
          <p:cNvSpPr txBox="1"/>
          <p:nvPr/>
        </p:nvSpPr>
        <p:spPr>
          <a:xfrm>
            <a:off x="6126480" y="4032504"/>
            <a:ext cx="5760720" cy="274320"/>
          </a:xfrm>
          <a:prstGeom prst="rect">
            <a:avLst/>
          </a:prstGeom>
          <a:noFill/>
        </p:spPr>
        <p:txBody>
          <a:bodyPr wrap="square" lIns="0" rIns="0" tIns="0" bIns="0" anchor="t">
            <a:spAutoFit/>
          </a:bodyPr>
          <a:lstStyle/>
          <a:p>
            <a:pPr algn="l"/>
            <a:r>
              <a:rPr sz="1100" b="0" i="0">
                <a:solidFill>
                  <a:srgbClr val="4B5563"/>
                </a:solidFill>
                <a:latin typeface="Menlo"/>
              </a:rPr>
              <a:t>   Graphene FETs as room-temperature</a:t>
            </a:r>
          </a:p>
        </p:txBody>
      </p:sp>
      <p:sp>
        <p:nvSpPr>
          <p:cNvPr id="34" name="TextBox 33"/>
          <p:cNvSpPr txBox="1"/>
          <p:nvPr/>
        </p:nvSpPr>
        <p:spPr>
          <a:xfrm>
            <a:off x="6126480" y="4288536"/>
            <a:ext cx="5760720" cy="274320"/>
          </a:xfrm>
          <a:prstGeom prst="rect">
            <a:avLst/>
          </a:prstGeom>
          <a:noFill/>
        </p:spPr>
        <p:txBody>
          <a:bodyPr wrap="square" lIns="0" rIns="0" tIns="0" bIns="0" anchor="t">
            <a:spAutoFit/>
          </a:bodyPr>
          <a:lstStyle/>
          <a:p>
            <a:pPr algn="l"/>
            <a:r>
              <a:rPr sz="1100" b="0" i="0">
                <a:solidFill>
                  <a:srgbClr val="4B5563"/>
                </a:solidFill>
                <a:latin typeface="Menlo"/>
              </a:rPr>
              <a:t>   terahertz detectors</a:t>
            </a:r>
          </a:p>
        </p:txBody>
      </p:sp>
      <p:sp>
        <p:nvSpPr>
          <p:cNvPr id="35" name="TextBox 34"/>
          <p:cNvSpPr txBox="1"/>
          <p:nvPr/>
        </p:nvSpPr>
        <p:spPr>
          <a:xfrm>
            <a:off x="6126480" y="4544568"/>
            <a:ext cx="5760720" cy="274320"/>
          </a:xfrm>
          <a:prstGeom prst="rect">
            <a:avLst/>
          </a:prstGeom>
          <a:noFill/>
        </p:spPr>
        <p:txBody>
          <a:bodyPr wrap="square" lIns="0" rIns="0" tIns="0" bIns="0" anchor="t">
            <a:spAutoFit/>
          </a:bodyPr>
          <a:lstStyle/>
          <a:p>
            <a:pPr algn="l"/>
            <a:r>
              <a:rPr sz="1100" b="1" i="0">
                <a:solidFill>
                  <a:srgbClr val="151B23"/>
                </a:solidFill>
                <a:latin typeface="Menlo"/>
              </a:rPr>
              <a:t>4. 2015NatNa..10..437T  c=15  cond-mat.mes-hall   s=0.658</a:t>
            </a:r>
          </a:p>
        </p:txBody>
      </p:sp>
      <p:sp>
        <p:nvSpPr>
          <p:cNvPr id="36" name="TextBox 35"/>
          <p:cNvSpPr txBox="1"/>
          <p:nvPr/>
        </p:nvSpPr>
        <p:spPr>
          <a:xfrm>
            <a:off x="6126480" y="4800600"/>
            <a:ext cx="5760720" cy="274320"/>
          </a:xfrm>
          <a:prstGeom prst="rect">
            <a:avLst/>
          </a:prstGeom>
          <a:noFill/>
        </p:spPr>
        <p:txBody>
          <a:bodyPr wrap="square" lIns="0" rIns="0" tIns="0" bIns="0" anchor="t">
            <a:spAutoFit/>
          </a:bodyPr>
          <a:lstStyle/>
          <a:p>
            <a:pPr algn="l"/>
            <a:r>
              <a:rPr sz="1100" b="0" i="0">
                <a:solidFill>
                  <a:srgbClr val="4B5563"/>
                </a:solidFill>
                <a:latin typeface="Menlo"/>
              </a:rPr>
              <a:t>   Photovoltage in graphene on a</a:t>
            </a:r>
          </a:p>
        </p:txBody>
      </p:sp>
      <p:sp>
        <p:nvSpPr>
          <p:cNvPr id="37" name="TextBox 36"/>
          <p:cNvSpPr txBox="1"/>
          <p:nvPr/>
        </p:nvSpPr>
        <p:spPr>
          <a:xfrm>
            <a:off x="6126480" y="5056632"/>
            <a:ext cx="5760720" cy="274320"/>
          </a:xfrm>
          <a:prstGeom prst="rect">
            <a:avLst/>
          </a:prstGeom>
          <a:noFill/>
        </p:spPr>
        <p:txBody>
          <a:bodyPr wrap="square" lIns="0" rIns="0" tIns="0" bIns="0" anchor="t">
            <a:spAutoFit/>
          </a:bodyPr>
          <a:lstStyle/>
          <a:p>
            <a:pPr algn="l"/>
            <a:r>
              <a:rPr sz="1100" b="0" i="0">
                <a:solidFill>
                  <a:srgbClr val="4B5563"/>
                </a:solidFill>
                <a:latin typeface="Menlo"/>
              </a:rPr>
              <a:t>   femtosecond timescale</a:t>
            </a:r>
          </a:p>
        </p:txBody>
      </p:sp>
      <p:sp>
        <p:nvSpPr>
          <p:cNvPr id="38" name="TextBox 37"/>
          <p:cNvSpPr txBox="1"/>
          <p:nvPr/>
        </p:nvSpPr>
        <p:spPr>
          <a:xfrm>
            <a:off x="457200" y="6263640"/>
            <a:ext cx="11247120" cy="457200"/>
          </a:xfrm>
          <a:prstGeom prst="rect">
            <a:avLst/>
          </a:prstGeom>
          <a:noFill/>
        </p:spPr>
        <p:txBody>
          <a:bodyPr wrap="square" lIns="0" rIns="0" tIns="0" bIns="0" anchor="t">
            <a:spAutoFit/>
          </a:bodyPr>
          <a:lstStyle/>
          <a:p>
            <a:pPr algn="ctr"/>
            <a:r>
              <a:rPr sz="1100" b="0" i="1">
                <a:solidFill>
                  <a:srgbClr val="4B5563"/>
                </a:solidFill>
                <a:latin typeface="Inter"/>
              </a:rPr>
              <a:t>community_semantic=15 filter → restrict to graphene/cond-mat cluster.   Negative example → push results away from that direction.   All three modes, one tool call.</a:t>
            </a:r>
          </a:p>
        </p:txBody>
      </p:sp>
      <p:sp>
        <p:nvSpPr>
          <p:cNvPr id="39" name="TextBox 38"/>
          <p:cNvSpPr txBox="1"/>
          <p:nvPr/>
        </p:nvSpPr>
        <p:spPr>
          <a:xfrm>
            <a:off x="457200" y="6492240"/>
            <a:ext cx="9144000" cy="274320"/>
          </a:xfrm>
          <a:prstGeom prst="rect">
            <a:avLst/>
          </a:prstGeom>
          <a:noFill/>
        </p:spPr>
        <p:txBody>
          <a:bodyPr wrap="square" lIns="0" rIns="0" tIns="0" bIns="0" anchor="t">
            <a:spAutoFit/>
          </a:bodyPr>
          <a:lstStyle/>
          <a:p>
            <a:pPr algn="l"/>
            <a:r>
              <a:rPr sz="1000" b="0" i="0">
                <a:solidFill>
                  <a:srgbClr val="6B7280"/>
                </a:solidFill>
                <a:latin typeface="Inter"/>
              </a:rPr>
              <a:t>Stephanie Jarmak  ·  MLOps Community  ·  Making Scientific Knowledge Navigable for Agents</a:t>
            </a:r>
          </a:p>
        </p:txBody>
      </p:sp>
      <p:sp>
        <p:nvSpPr>
          <p:cNvPr id="40" name="TextBox 39"/>
          <p:cNvSpPr txBox="1"/>
          <p:nvPr/>
        </p:nvSpPr>
        <p:spPr>
          <a:xfrm>
            <a:off x="11247120" y="6492240"/>
            <a:ext cx="731520" cy="274320"/>
          </a:xfrm>
          <a:prstGeom prst="rect">
            <a:avLst/>
          </a:prstGeom>
          <a:noFill/>
        </p:spPr>
        <p:txBody>
          <a:bodyPr wrap="square" lIns="0" rIns="0" tIns="0" bIns="0" anchor="t">
            <a:spAutoFit/>
          </a:bodyPr>
          <a:lstStyle/>
          <a:p>
            <a:pPr algn="r"/>
            <a:r>
              <a:rPr sz="1000" b="0" i="0">
                <a:solidFill>
                  <a:srgbClr val="6B7280"/>
                </a:solidFill>
                <a:latin typeface="Inter"/>
              </a:rPr>
              <a:t>14 / 30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1247120" cy="731520"/>
          </a:xfrm>
          <a:prstGeom prst="rect">
            <a:avLst/>
          </a:prstGeom>
          <a:noFill/>
        </p:spPr>
        <p:txBody>
          <a:bodyPr wrap="square" lIns="0" rIns="0" tIns="0" bIns="0" anchor="t">
            <a:spAutoFit/>
          </a:bodyPr>
          <a:lstStyle/>
          <a:p>
            <a:pPr algn="l"/>
            <a:r>
              <a:rPr sz="3200" b="1" i="0">
                <a:solidFill>
                  <a:srgbClr val="151B23"/>
                </a:solidFill>
                <a:latin typeface="Inter"/>
              </a:rPr>
              <a:t>Graph intelligence: topology, communities, multi-hop moves</a:t>
            </a:r>
          </a:p>
        </p:txBody>
      </p:sp>
      <p:sp>
        <p:nvSpPr>
          <p:cNvPr id="4" name="Rectangle 3"/>
          <p:cNvSpPr/>
          <p:nvPr/>
        </p:nvSpPr>
        <p:spPr>
          <a:xfrm>
            <a:off x="457200" y="1234440"/>
            <a:ext cx="731520" cy="25400"/>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11247120" cy="457200"/>
          </a:xfrm>
          <a:prstGeom prst="rect">
            <a:avLst/>
          </a:prstGeom>
          <a:noFill/>
        </p:spPr>
        <p:txBody>
          <a:bodyPr wrap="square" lIns="0" rIns="0" tIns="0" bIns="0" anchor="t">
            <a:spAutoFit/>
          </a:bodyPr>
          <a:lstStyle/>
          <a:p>
            <a:pPr algn="l"/>
            <a:r>
              <a:rPr sz="1600" b="0" i="1">
                <a:solidFill>
                  <a:srgbClr val="4B5563"/>
                </a:solidFill>
                <a:latin typeface="Inter"/>
              </a:rPr>
              <a:t>Computed once on the full graph — served as columns on paper records</a:t>
            </a:r>
          </a:p>
        </p:txBody>
      </p:sp>
      <p:sp>
        <p:nvSpPr>
          <p:cNvPr id="6" name="TextBox 5"/>
          <p:cNvSpPr txBox="1"/>
          <p:nvPr/>
        </p:nvSpPr>
        <p:spPr>
          <a:xfrm>
            <a:off x="457200" y="1828800"/>
            <a:ext cx="3657600" cy="457200"/>
          </a:xfrm>
          <a:prstGeom prst="rect">
            <a:avLst/>
          </a:prstGeom>
          <a:noFill/>
        </p:spPr>
        <p:txBody>
          <a:bodyPr wrap="square" lIns="0" rIns="0" tIns="0" bIns="0" anchor="t">
            <a:spAutoFit/>
          </a:bodyPr>
          <a:lstStyle/>
          <a:p>
            <a:pPr algn="l"/>
            <a:r>
              <a:rPr sz="1800" b="1" i="0">
                <a:solidFill>
                  <a:srgbClr val="0B4A9E"/>
                </a:solidFill>
                <a:latin typeface="Inter"/>
              </a:rPr>
              <a:t>Per-paper metrics</a:t>
            </a:r>
          </a:p>
        </p:txBody>
      </p:sp>
      <p:sp>
        <p:nvSpPr>
          <p:cNvPr id="7" name="Rectangle 6"/>
          <p:cNvSpPr/>
          <p:nvPr/>
        </p:nvSpPr>
        <p:spPr>
          <a:xfrm>
            <a:off x="457200" y="2331720"/>
            <a:ext cx="457200" cy="25400"/>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651760"/>
            <a:ext cx="3657600" cy="457200"/>
          </a:xfrm>
          <a:prstGeom prst="rect">
            <a:avLst/>
          </a:prstGeom>
          <a:noFill/>
        </p:spPr>
        <p:txBody>
          <a:bodyPr wrap="square" lIns="0" rIns="0" tIns="0" bIns="0" anchor="t">
            <a:spAutoFit/>
          </a:bodyPr>
          <a:lstStyle/>
          <a:p>
            <a:pPr algn="l"/>
            <a:r>
              <a:rPr sz="1300" b="0" i="0">
                <a:solidFill>
                  <a:srgbClr val="151B23"/>
                </a:solidFill>
                <a:latin typeface="Inter"/>
              </a:rPr>
              <a:t>• PageRank on 32.4M nodes</a:t>
            </a:r>
          </a:p>
        </p:txBody>
      </p:sp>
      <p:sp>
        <p:nvSpPr>
          <p:cNvPr id="9" name="TextBox 8"/>
          <p:cNvSpPr txBox="1"/>
          <p:nvPr/>
        </p:nvSpPr>
        <p:spPr>
          <a:xfrm>
            <a:off x="457200" y="3154680"/>
            <a:ext cx="3657600" cy="457200"/>
          </a:xfrm>
          <a:prstGeom prst="rect">
            <a:avLst/>
          </a:prstGeom>
          <a:noFill/>
        </p:spPr>
        <p:txBody>
          <a:bodyPr wrap="square" lIns="0" rIns="0" tIns="0" bIns="0" anchor="t">
            <a:spAutoFit/>
          </a:bodyPr>
          <a:lstStyle/>
          <a:p>
            <a:pPr algn="l"/>
            <a:r>
              <a:rPr sz="1300" b="0" i="0">
                <a:solidFill>
                  <a:srgbClr val="151B23"/>
                </a:solidFill>
                <a:latin typeface="Inter"/>
              </a:rPr>
              <a:t>• HITS hub / authority</a:t>
            </a:r>
          </a:p>
        </p:txBody>
      </p:sp>
      <p:sp>
        <p:nvSpPr>
          <p:cNvPr id="10" name="TextBox 9"/>
          <p:cNvSpPr txBox="1"/>
          <p:nvPr/>
        </p:nvSpPr>
        <p:spPr>
          <a:xfrm>
            <a:off x="457200" y="3657600"/>
            <a:ext cx="3657600" cy="457200"/>
          </a:xfrm>
          <a:prstGeom prst="rect">
            <a:avLst/>
          </a:prstGeom>
          <a:noFill/>
        </p:spPr>
        <p:txBody>
          <a:bodyPr wrap="square" lIns="0" rIns="0" tIns="0" bIns="0" anchor="t">
            <a:spAutoFit/>
          </a:bodyPr>
          <a:lstStyle/>
          <a:p>
            <a:pPr algn="l"/>
            <a:r>
              <a:rPr sz="1300" b="0" i="0">
                <a:solidFill>
                  <a:srgbClr val="151B23"/>
                </a:solidFill>
                <a:latin typeface="Inter"/>
              </a:rPr>
              <a:t>• Three Leiden resolutions</a:t>
            </a:r>
          </a:p>
        </p:txBody>
      </p:sp>
      <p:sp>
        <p:nvSpPr>
          <p:cNvPr id="11" name="TextBox 10"/>
          <p:cNvSpPr txBox="1"/>
          <p:nvPr/>
        </p:nvSpPr>
        <p:spPr>
          <a:xfrm>
            <a:off x="457200" y="4160520"/>
            <a:ext cx="3657600" cy="457200"/>
          </a:xfrm>
          <a:prstGeom prst="rect">
            <a:avLst/>
          </a:prstGeom>
          <a:noFill/>
        </p:spPr>
        <p:txBody>
          <a:bodyPr wrap="square" lIns="0" rIns="0" tIns="0" bIns="0" anchor="t">
            <a:spAutoFit/>
          </a:bodyPr>
          <a:lstStyle/>
          <a:p>
            <a:pPr algn="l"/>
            <a:r>
              <a:rPr sz="1300" b="0" i="0">
                <a:solidFill>
                  <a:srgbClr val="151B23"/>
                </a:solidFill>
                <a:latin typeface="Inter"/>
              </a:rPr>
              <a:t>• Computed weekly, ~10 min</a:t>
            </a:r>
          </a:p>
        </p:txBody>
      </p:sp>
      <p:sp>
        <p:nvSpPr>
          <p:cNvPr id="12" name="TextBox 11"/>
          <p:cNvSpPr txBox="1"/>
          <p:nvPr/>
        </p:nvSpPr>
        <p:spPr>
          <a:xfrm>
            <a:off x="457200" y="4663440"/>
            <a:ext cx="3657600" cy="457200"/>
          </a:xfrm>
          <a:prstGeom prst="rect">
            <a:avLst/>
          </a:prstGeom>
          <a:noFill/>
        </p:spPr>
        <p:txBody>
          <a:bodyPr wrap="square" lIns="0" rIns="0" tIns="0" bIns="0" anchor="t">
            <a:spAutoFit/>
          </a:bodyPr>
          <a:lstStyle/>
          <a:p>
            <a:pPr algn="l"/>
            <a:r>
              <a:rPr sz="1300" b="0" i="0">
                <a:solidFill>
                  <a:srgbClr val="151B23"/>
                </a:solidFill>
                <a:latin typeface="Inter"/>
              </a:rPr>
              <a:t>• Stored as columns, not offline</a:t>
            </a:r>
          </a:p>
        </p:txBody>
      </p:sp>
      <p:sp>
        <p:nvSpPr>
          <p:cNvPr id="13" name="TextBox 12"/>
          <p:cNvSpPr txBox="1"/>
          <p:nvPr/>
        </p:nvSpPr>
        <p:spPr>
          <a:xfrm>
            <a:off x="4389120" y="1828800"/>
            <a:ext cx="3657600" cy="457200"/>
          </a:xfrm>
          <a:prstGeom prst="rect">
            <a:avLst/>
          </a:prstGeom>
          <a:noFill/>
        </p:spPr>
        <p:txBody>
          <a:bodyPr wrap="square" lIns="0" rIns="0" tIns="0" bIns="0" anchor="t">
            <a:spAutoFit/>
          </a:bodyPr>
          <a:lstStyle/>
          <a:p>
            <a:pPr algn="l"/>
            <a:r>
              <a:rPr sz="1800" b="1" i="0">
                <a:solidFill>
                  <a:srgbClr val="0B4A9E"/>
                </a:solidFill>
                <a:latin typeface="Inter"/>
              </a:rPr>
              <a:t>Three community lenses</a:t>
            </a:r>
          </a:p>
        </p:txBody>
      </p:sp>
      <p:sp>
        <p:nvSpPr>
          <p:cNvPr id="14" name="Rectangle 13"/>
          <p:cNvSpPr/>
          <p:nvPr/>
        </p:nvSpPr>
        <p:spPr>
          <a:xfrm>
            <a:off x="4389120" y="2331720"/>
            <a:ext cx="457200" cy="25400"/>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89120" y="2651760"/>
            <a:ext cx="3657600" cy="457200"/>
          </a:xfrm>
          <a:prstGeom prst="rect">
            <a:avLst/>
          </a:prstGeom>
          <a:noFill/>
        </p:spPr>
        <p:txBody>
          <a:bodyPr wrap="square" lIns="0" rIns="0" tIns="0" bIns="0" anchor="t">
            <a:spAutoFit/>
          </a:bodyPr>
          <a:lstStyle/>
          <a:p>
            <a:pPr algn="l"/>
            <a:r>
              <a:rPr sz="1300" b="0" i="0">
                <a:solidFill>
                  <a:srgbClr val="151B23"/>
                </a:solidFill>
                <a:latin typeface="Inter"/>
              </a:rPr>
              <a:t>• Citation (Leiden) — who cites whom</a:t>
            </a:r>
          </a:p>
        </p:txBody>
      </p:sp>
      <p:sp>
        <p:nvSpPr>
          <p:cNvPr id="16" name="TextBox 15"/>
          <p:cNvSpPr txBox="1"/>
          <p:nvPr/>
        </p:nvSpPr>
        <p:spPr>
          <a:xfrm>
            <a:off x="4389120" y="3154680"/>
            <a:ext cx="3657600" cy="457200"/>
          </a:xfrm>
          <a:prstGeom prst="rect">
            <a:avLst/>
          </a:prstGeom>
          <a:noFill/>
        </p:spPr>
        <p:txBody>
          <a:bodyPr wrap="square" lIns="0" rIns="0" tIns="0" bIns="0" anchor="t">
            <a:spAutoFit/>
          </a:bodyPr>
          <a:lstStyle/>
          <a:p>
            <a:pPr algn="l"/>
            <a:r>
              <a:rPr sz="1300" b="0" i="0">
                <a:solidFill>
                  <a:srgbClr val="151B23"/>
                </a:solidFill>
                <a:latin typeface="Inter"/>
              </a:rPr>
              <a:t>• Semantic (k-means on INDUS) — similar content</a:t>
            </a:r>
          </a:p>
        </p:txBody>
      </p:sp>
      <p:sp>
        <p:nvSpPr>
          <p:cNvPr id="17" name="TextBox 16"/>
          <p:cNvSpPr txBox="1"/>
          <p:nvPr/>
        </p:nvSpPr>
        <p:spPr>
          <a:xfrm>
            <a:off x="4389120" y="3657600"/>
            <a:ext cx="3657600" cy="457200"/>
          </a:xfrm>
          <a:prstGeom prst="rect">
            <a:avLst/>
          </a:prstGeom>
          <a:noFill/>
        </p:spPr>
        <p:txBody>
          <a:bodyPr wrap="square" lIns="0" rIns="0" tIns="0" bIns="0" anchor="t">
            <a:spAutoFit/>
          </a:bodyPr>
          <a:lstStyle/>
          <a:p>
            <a:pPr algn="l"/>
            <a:r>
              <a:rPr sz="1300" b="0" i="0">
                <a:solidFill>
                  <a:srgbClr val="151B23"/>
                </a:solidFill>
                <a:latin typeface="Inter"/>
              </a:rPr>
              <a:t>• Taxonomic (arXiv / UAT) — same field</a:t>
            </a:r>
          </a:p>
        </p:txBody>
      </p:sp>
      <p:sp>
        <p:nvSpPr>
          <p:cNvPr id="18" name="TextBox 17"/>
          <p:cNvSpPr txBox="1"/>
          <p:nvPr/>
        </p:nvSpPr>
        <p:spPr>
          <a:xfrm>
            <a:off x="4389120" y="4160520"/>
            <a:ext cx="3657600" cy="457200"/>
          </a:xfrm>
          <a:prstGeom prst="rect">
            <a:avLst/>
          </a:prstGeom>
          <a:noFill/>
        </p:spPr>
        <p:txBody>
          <a:bodyPr wrap="square" lIns="0" rIns="0" tIns="0" bIns="0" anchor="t">
            <a:spAutoFit/>
          </a:bodyPr>
          <a:lstStyle/>
          <a:p>
            <a:pPr algn="l"/>
            <a:r>
              <a:rPr sz="1300" b="0" i="0">
                <a:solidFill>
                  <a:srgbClr val="151B23"/>
                </a:solidFill>
                <a:latin typeface="Inter"/>
              </a:rPr>
              <a:t>• Disagreements are informative</a:t>
            </a:r>
          </a:p>
        </p:txBody>
      </p:sp>
      <p:sp>
        <p:nvSpPr>
          <p:cNvPr id="19" name="TextBox 18"/>
          <p:cNvSpPr txBox="1"/>
          <p:nvPr/>
        </p:nvSpPr>
        <p:spPr>
          <a:xfrm>
            <a:off x="4389120" y="4663440"/>
            <a:ext cx="3657600" cy="457200"/>
          </a:xfrm>
          <a:prstGeom prst="rect">
            <a:avLst/>
          </a:prstGeom>
          <a:noFill/>
        </p:spPr>
        <p:txBody>
          <a:bodyPr wrap="square" lIns="0" rIns="0" tIns="0" bIns="0" anchor="t">
            <a:spAutoFit/>
          </a:bodyPr>
          <a:lstStyle/>
          <a:p>
            <a:pPr algn="l"/>
            <a:r>
              <a:rPr sz="1300" b="0" i="0">
                <a:solidFill>
                  <a:srgbClr val="151B23"/>
                </a:solidFill>
                <a:latin typeface="Inter"/>
              </a:rPr>
              <a:t>• Agent picks the lens</a:t>
            </a:r>
          </a:p>
        </p:txBody>
      </p:sp>
      <p:sp>
        <p:nvSpPr>
          <p:cNvPr id="20" name="TextBox 19"/>
          <p:cNvSpPr txBox="1"/>
          <p:nvPr/>
        </p:nvSpPr>
        <p:spPr>
          <a:xfrm>
            <a:off x="8229600" y="1828800"/>
            <a:ext cx="3657600" cy="457200"/>
          </a:xfrm>
          <a:prstGeom prst="rect">
            <a:avLst/>
          </a:prstGeom>
          <a:noFill/>
        </p:spPr>
        <p:txBody>
          <a:bodyPr wrap="square" lIns="0" rIns="0" tIns="0" bIns="0" anchor="t">
            <a:spAutoFit/>
          </a:bodyPr>
          <a:lstStyle/>
          <a:p>
            <a:pPr algn="l"/>
            <a:r>
              <a:rPr sz="1800" b="1" i="0">
                <a:solidFill>
                  <a:srgbClr val="0B4A9E"/>
                </a:solidFill>
                <a:latin typeface="Inter"/>
              </a:rPr>
              <a:t>Multi-hop tools</a:t>
            </a:r>
          </a:p>
        </p:txBody>
      </p:sp>
      <p:sp>
        <p:nvSpPr>
          <p:cNvPr id="21" name="Rectangle 20"/>
          <p:cNvSpPr/>
          <p:nvPr/>
        </p:nvSpPr>
        <p:spPr>
          <a:xfrm>
            <a:off x="8229600" y="2331720"/>
            <a:ext cx="457200" cy="25400"/>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2651760"/>
            <a:ext cx="3657600" cy="457200"/>
          </a:xfrm>
          <a:prstGeom prst="rect">
            <a:avLst/>
          </a:prstGeom>
          <a:noFill/>
        </p:spPr>
        <p:txBody>
          <a:bodyPr wrap="square" lIns="0" rIns="0" tIns="0" bIns="0" anchor="t">
            <a:spAutoFit/>
          </a:bodyPr>
          <a:lstStyle/>
          <a:p>
            <a:pPr algn="l"/>
            <a:r>
              <a:rPr sz="1300" b="0" i="0">
                <a:solidFill>
                  <a:srgbClr val="151B23"/>
                </a:solidFill>
                <a:latin typeface="Inter"/>
              </a:rPr>
              <a:t>• citation_chain (shortest path)</a:t>
            </a:r>
          </a:p>
        </p:txBody>
      </p:sp>
      <p:sp>
        <p:nvSpPr>
          <p:cNvPr id="23" name="TextBox 22"/>
          <p:cNvSpPr txBox="1"/>
          <p:nvPr/>
        </p:nvSpPr>
        <p:spPr>
          <a:xfrm>
            <a:off x="8229600" y="3154680"/>
            <a:ext cx="3657600" cy="457200"/>
          </a:xfrm>
          <a:prstGeom prst="rect">
            <a:avLst/>
          </a:prstGeom>
          <a:noFill/>
        </p:spPr>
        <p:txBody>
          <a:bodyPr wrap="square" lIns="0" rIns="0" tIns="0" bIns="0" anchor="t">
            <a:spAutoFit/>
          </a:bodyPr>
          <a:lstStyle/>
          <a:p>
            <a:pPr algn="l"/>
            <a:r>
              <a:rPr sz="1300" b="0" i="0">
                <a:solidFill>
                  <a:srgbClr val="151B23"/>
                </a:solidFill>
                <a:latin typeface="Inter"/>
              </a:rPr>
              <a:t>• citation_similarity (co-cite / biblio-couple)</a:t>
            </a:r>
          </a:p>
        </p:txBody>
      </p:sp>
      <p:sp>
        <p:nvSpPr>
          <p:cNvPr id="24" name="TextBox 23"/>
          <p:cNvSpPr txBox="1"/>
          <p:nvPr/>
        </p:nvSpPr>
        <p:spPr>
          <a:xfrm>
            <a:off x="8229600" y="3657600"/>
            <a:ext cx="3657600" cy="457200"/>
          </a:xfrm>
          <a:prstGeom prst="rect">
            <a:avLst/>
          </a:prstGeom>
          <a:noFill/>
        </p:spPr>
        <p:txBody>
          <a:bodyPr wrap="square" lIns="0" rIns="0" tIns="0" bIns="0" anchor="t">
            <a:spAutoFit/>
          </a:bodyPr>
          <a:lstStyle/>
          <a:p>
            <a:pPr algn="l"/>
            <a:r>
              <a:rPr sz="1300" b="0" i="0">
                <a:solidFill>
                  <a:srgbClr val="151B23"/>
                </a:solidFill>
                <a:latin typeface="Inter"/>
              </a:rPr>
              <a:t>• temporal_evolution</a:t>
            </a:r>
          </a:p>
        </p:txBody>
      </p:sp>
      <p:sp>
        <p:nvSpPr>
          <p:cNvPr id="25" name="TextBox 24"/>
          <p:cNvSpPr txBox="1"/>
          <p:nvPr/>
        </p:nvSpPr>
        <p:spPr>
          <a:xfrm>
            <a:off x="8229600" y="4160520"/>
            <a:ext cx="3657600" cy="457200"/>
          </a:xfrm>
          <a:prstGeom prst="rect">
            <a:avLst/>
          </a:prstGeom>
          <a:noFill/>
        </p:spPr>
        <p:txBody>
          <a:bodyPr wrap="square" lIns="0" rIns="0" tIns="0" bIns="0" anchor="t">
            <a:spAutoFit/>
          </a:bodyPr>
          <a:lstStyle/>
          <a:p>
            <a:pPr algn="l"/>
            <a:r>
              <a:rPr sz="1300" b="0" i="0">
                <a:solidFill>
                  <a:srgbClr val="151B23"/>
                </a:solidFill>
                <a:latin typeface="Inter"/>
              </a:rPr>
              <a:t>• find_gaps (bridge papers)</a:t>
            </a:r>
          </a:p>
        </p:txBody>
      </p:sp>
      <p:sp>
        <p:nvSpPr>
          <p:cNvPr id="26" name="TextBox 25"/>
          <p:cNvSpPr txBox="1"/>
          <p:nvPr/>
        </p:nvSpPr>
        <p:spPr>
          <a:xfrm>
            <a:off x="8229600" y="4663440"/>
            <a:ext cx="3657600" cy="457200"/>
          </a:xfrm>
          <a:prstGeom prst="rect">
            <a:avLst/>
          </a:prstGeom>
          <a:noFill/>
        </p:spPr>
        <p:txBody>
          <a:bodyPr wrap="square" lIns="0" rIns="0" tIns="0" bIns="0" anchor="t">
            <a:spAutoFit/>
          </a:bodyPr>
          <a:lstStyle/>
          <a:p>
            <a:pPr algn="l"/>
            <a:r>
              <a:rPr sz="1300" b="0" i="0">
                <a:solidFill>
                  <a:srgbClr val="151B23"/>
                </a:solidFill>
                <a:latin typeface="Inter"/>
              </a:rPr>
              <a:t>• graph_context (neighborhood)</a:t>
            </a:r>
          </a:p>
        </p:txBody>
      </p:sp>
      <p:sp>
        <p:nvSpPr>
          <p:cNvPr id="27" name="TextBox 26"/>
          <p:cNvSpPr txBox="1"/>
          <p:nvPr/>
        </p:nvSpPr>
        <p:spPr>
          <a:xfrm>
            <a:off x="457200" y="6492240"/>
            <a:ext cx="9144000" cy="274320"/>
          </a:xfrm>
          <a:prstGeom prst="rect">
            <a:avLst/>
          </a:prstGeom>
          <a:noFill/>
        </p:spPr>
        <p:txBody>
          <a:bodyPr wrap="square" lIns="0" rIns="0" tIns="0" bIns="0" anchor="t">
            <a:spAutoFit/>
          </a:bodyPr>
          <a:lstStyle/>
          <a:p>
            <a:pPr algn="l"/>
            <a:r>
              <a:rPr sz="1000" b="0" i="0">
                <a:solidFill>
                  <a:srgbClr val="6B7280"/>
                </a:solidFill>
                <a:latin typeface="Inter"/>
              </a:rPr>
              <a:t>Stephanie Jarmak  ·  MLOps Community  ·  Making Scientific Knowledge Navigable for Agents</a:t>
            </a:r>
          </a:p>
        </p:txBody>
      </p:sp>
      <p:sp>
        <p:nvSpPr>
          <p:cNvPr id="28" name="TextBox 27"/>
          <p:cNvSpPr txBox="1"/>
          <p:nvPr/>
        </p:nvSpPr>
        <p:spPr>
          <a:xfrm>
            <a:off x="11247120" y="6492240"/>
            <a:ext cx="731520" cy="274320"/>
          </a:xfrm>
          <a:prstGeom prst="rect">
            <a:avLst/>
          </a:prstGeom>
          <a:noFill/>
        </p:spPr>
        <p:txBody>
          <a:bodyPr wrap="square" lIns="0" rIns="0" tIns="0" bIns="0" anchor="t">
            <a:spAutoFit/>
          </a:bodyPr>
          <a:lstStyle/>
          <a:p>
            <a:pPr algn="r"/>
            <a:r>
              <a:rPr sz="1000" b="0" i="0">
                <a:solidFill>
                  <a:srgbClr val="6B7280"/>
                </a:solidFill>
                <a:latin typeface="Inter"/>
              </a:rPr>
              <a:t>15 / 30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1247120" cy="731520"/>
          </a:xfrm>
          <a:prstGeom prst="rect">
            <a:avLst/>
          </a:prstGeom>
          <a:noFill/>
        </p:spPr>
        <p:txBody>
          <a:bodyPr wrap="square" lIns="0" rIns="0" tIns="0" bIns="0" anchor="t">
            <a:spAutoFit/>
          </a:bodyPr>
          <a:lstStyle/>
          <a:p>
            <a:pPr algn="l"/>
            <a:r>
              <a:rPr sz="3200" b="1" i="0">
                <a:solidFill>
                  <a:srgbClr val="151B23"/>
                </a:solidFill>
                <a:latin typeface="Inter"/>
              </a:rPr>
              <a:t>13 MCP tools, down from 22</a:t>
            </a:r>
          </a:p>
        </p:txBody>
      </p:sp>
      <p:sp>
        <p:nvSpPr>
          <p:cNvPr id="4" name="Rectangle 3"/>
          <p:cNvSpPr/>
          <p:nvPr/>
        </p:nvSpPr>
        <p:spPr>
          <a:xfrm>
            <a:off x="457200" y="1234440"/>
            <a:ext cx="731520" cy="25400"/>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11247120" cy="457200"/>
          </a:xfrm>
          <a:prstGeom prst="rect">
            <a:avLst/>
          </a:prstGeom>
          <a:noFill/>
        </p:spPr>
        <p:txBody>
          <a:bodyPr wrap="square" lIns="0" rIns="0" tIns="0" bIns="0" anchor="t">
            <a:spAutoFit/>
          </a:bodyPr>
          <a:lstStyle/>
          <a:p>
            <a:pPr algn="l"/>
            <a:r>
              <a:rPr sz="1600" b="0" i="1">
                <a:solidFill>
                  <a:srgbClr val="4B5563"/>
                </a:solidFill>
                <a:latin typeface="Inter"/>
              </a:rPr>
              <a:t>Premortem: &gt;15 tools degrades agent selection accuracy</a:t>
            </a:r>
          </a:p>
        </p:txBody>
      </p:sp>
      <p:pic>
        <p:nvPicPr>
          <p:cNvPr id="6" name="Picture 5" descr="tool_count.png"/>
          <p:cNvPicPr>
            <a:picLocks noChangeAspect="1"/>
          </p:cNvPicPr>
          <p:nvPr/>
        </p:nvPicPr>
        <p:blipFill>
          <a:blip r:embed="rId2"/>
          <a:stretch>
            <a:fillRect/>
          </a:stretch>
        </p:blipFill>
        <p:spPr>
          <a:xfrm>
            <a:off x="1828800" y="1828800"/>
            <a:ext cx="8503920" cy="5523478"/>
          </a:xfrm>
          <a:prstGeom prst="rect">
            <a:avLst/>
          </a:prstGeom>
        </p:spPr>
      </p:pic>
      <p:sp>
        <p:nvSpPr>
          <p:cNvPr id="7" name="TextBox 6"/>
          <p:cNvSpPr txBox="1"/>
          <p:nvPr/>
        </p:nvSpPr>
        <p:spPr>
          <a:xfrm>
            <a:off x="457200" y="6035040"/>
            <a:ext cx="11247120" cy="640080"/>
          </a:xfrm>
          <a:prstGeom prst="rect">
            <a:avLst/>
          </a:prstGeom>
          <a:noFill/>
        </p:spPr>
        <p:txBody>
          <a:bodyPr wrap="square" lIns="0" rIns="0" tIns="0" bIns="0" anchor="t">
            <a:spAutoFit/>
          </a:bodyPr>
          <a:lstStyle/>
          <a:p>
            <a:pPr algn="ctr"/>
            <a:r>
              <a:rPr sz="1100" b="0" i="1">
                <a:solidFill>
                  <a:srgbClr val="6B7280"/>
                </a:solidFill>
                <a:latin typeface="Inter"/>
              </a:rPr>
              <a:t>search · concept_search · get_paper · read_paper · citation_graph · citation_similarity · citation_chain · entity · entity_context · graph_context · find_gaps · temporal_evolution · facet_counts</a:t>
            </a:r>
          </a:p>
        </p:txBody>
      </p:sp>
      <p:sp>
        <p:nvSpPr>
          <p:cNvPr id="8" name="TextBox 7"/>
          <p:cNvSpPr txBox="1"/>
          <p:nvPr/>
        </p:nvSpPr>
        <p:spPr>
          <a:xfrm>
            <a:off x="457200" y="6492240"/>
            <a:ext cx="9144000" cy="274320"/>
          </a:xfrm>
          <a:prstGeom prst="rect">
            <a:avLst/>
          </a:prstGeom>
          <a:noFill/>
        </p:spPr>
        <p:txBody>
          <a:bodyPr wrap="square" lIns="0" rIns="0" tIns="0" bIns="0" anchor="t">
            <a:spAutoFit/>
          </a:bodyPr>
          <a:lstStyle/>
          <a:p>
            <a:pPr algn="l"/>
            <a:r>
              <a:rPr sz="1000" b="0" i="0">
                <a:solidFill>
                  <a:srgbClr val="6B7280"/>
                </a:solidFill>
                <a:latin typeface="Inter"/>
              </a:rPr>
              <a:t>Stephanie Jarmak  ·  MLOps Community  ·  Making Scientific Knowledge Navigable for Agents</a:t>
            </a:r>
          </a:p>
        </p:txBody>
      </p:sp>
      <p:sp>
        <p:nvSpPr>
          <p:cNvPr id="9" name="TextBox 8"/>
          <p:cNvSpPr txBox="1"/>
          <p:nvPr/>
        </p:nvSpPr>
        <p:spPr>
          <a:xfrm>
            <a:off x="11247120" y="6492240"/>
            <a:ext cx="731520" cy="274320"/>
          </a:xfrm>
          <a:prstGeom prst="rect">
            <a:avLst/>
          </a:prstGeom>
          <a:noFill/>
        </p:spPr>
        <p:txBody>
          <a:bodyPr wrap="square" lIns="0" rIns="0" tIns="0" bIns="0" anchor="t">
            <a:spAutoFit/>
          </a:bodyPr>
          <a:lstStyle/>
          <a:p>
            <a:pPr algn="r"/>
            <a:r>
              <a:rPr sz="1000" b="0" i="0">
                <a:solidFill>
                  <a:srgbClr val="6B7280"/>
                </a:solidFill>
                <a:latin typeface="Inter"/>
              </a:rPr>
              <a:t>16 / 30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1247120" cy="731520"/>
          </a:xfrm>
          <a:prstGeom prst="rect">
            <a:avLst/>
          </a:prstGeom>
          <a:noFill/>
        </p:spPr>
        <p:txBody>
          <a:bodyPr wrap="square" lIns="0" rIns="0" tIns="0" bIns="0" anchor="t">
            <a:spAutoFit/>
          </a:bodyPr>
          <a:lstStyle/>
          <a:p>
            <a:pPr algn="l"/>
            <a:r>
              <a:rPr sz="3200" b="1" i="0">
                <a:solidFill>
                  <a:srgbClr val="151B23"/>
                </a:solidFill>
                <a:latin typeface="Inter"/>
              </a:rPr>
              <a:t>Tool design for agents ≠ tool design for humans</a:t>
            </a:r>
          </a:p>
        </p:txBody>
      </p:sp>
      <p:sp>
        <p:nvSpPr>
          <p:cNvPr id="4" name="Rectangle 3"/>
          <p:cNvSpPr/>
          <p:nvPr/>
        </p:nvSpPr>
        <p:spPr>
          <a:xfrm>
            <a:off x="457200" y="1234440"/>
            <a:ext cx="731520" cy="25400"/>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11247120" cy="457200"/>
          </a:xfrm>
          <a:prstGeom prst="rect">
            <a:avLst/>
          </a:prstGeom>
          <a:noFill/>
        </p:spPr>
        <p:txBody>
          <a:bodyPr wrap="square" lIns="0" rIns="0" tIns="0" bIns="0" anchor="t">
            <a:spAutoFit/>
          </a:bodyPr>
          <a:lstStyle/>
          <a:p>
            <a:pPr algn="l"/>
            <a:r>
              <a:rPr sz="1600" b="0" i="1">
                <a:solidFill>
                  <a:srgbClr val="4B5563"/>
                </a:solidFill>
                <a:latin typeface="Inter"/>
              </a:rPr>
              <a:t>Five principles from watching Claude burn context unnecessarily</a:t>
            </a:r>
          </a:p>
        </p:txBody>
      </p:sp>
      <p:sp>
        <p:nvSpPr>
          <p:cNvPr id="6" name="TextBox 5"/>
          <p:cNvSpPr txBox="1"/>
          <p:nvPr/>
        </p:nvSpPr>
        <p:spPr>
          <a:xfrm>
            <a:off x="548640" y="1828800"/>
            <a:ext cx="3931920" cy="457200"/>
          </a:xfrm>
          <a:prstGeom prst="rect">
            <a:avLst/>
          </a:prstGeom>
          <a:noFill/>
        </p:spPr>
        <p:txBody>
          <a:bodyPr wrap="square" lIns="0" rIns="0" tIns="0" bIns="0" anchor="t">
            <a:spAutoFit/>
          </a:bodyPr>
          <a:lstStyle/>
          <a:p>
            <a:pPr algn="l"/>
            <a:r>
              <a:rPr sz="1700" b="1" i="0">
                <a:solidFill>
                  <a:srgbClr val="0B4A9E"/>
                </a:solidFill>
                <a:latin typeface="Inter"/>
              </a:rPr>
              <a:t>Return compact stubs</a:t>
            </a:r>
          </a:p>
        </p:txBody>
      </p:sp>
      <p:sp>
        <p:nvSpPr>
          <p:cNvPr id="7" name="TextBox 6"/>
          <p:cNvSpPr txBox="1"/>
          <p:nvPr/>
        </p:nvSpPr>
        <p:spPr>
          <a:xfrm>
            <a:off x="4572000" y="1874520"/>
            <a:ext cx="7132320" cy="822960"/>
          </a:xfrm>
          <a:prstGeom prst="rect">
            <a:avLst/>
          </a:prstGeom>
          <a:noFill/>
        </p:spPr>
        <p:txBody>
          <a:bodyPr wrap="square" lIns="0" rIns="0" tIns="0" bIns="0" anchor="t">
            <a:spAutoFit/>
          </a:bodyPr>
          <a:lstStyle/>
          <a:p>
            <a:pPr algn="l"/>
            <a:r>
              <a:rPr sz="1400" b="0" i="0">
                <a:solidFill>
                  <a:srgbClr val="151B23"/>
                </a:solidFill>
                <a:latin typeface="Inter"/>
              </a:rPr>
              <a:t>bibcode · title · first_author · year · citation_count · snippet. Full paper via read_paper only when needed.</a:t>
            </a:r>
          </a:p>
        </p:txBody>
      </p:sp>
      <p:sp>
        <p:nvSpPr>
          <p:cNvPr id="8" name="TextBox 7"/>
          <p:cNvSpPr txBox="1"/>
          <p:nvPr/>
        </p:nvSpPr>
        <p:spPr>
          <a:xfrm>
            <a:off x="548640" y="2697480"/>
            <a:ext cx="3931920" cy="457200"/>
          </a:xfrm>
          <a:prstGeom prst="rect">
            <a:avLst/>
          </a:prstGeom>
          <a:noFill/>
        </p:spPr>
        <p:txBody>
          <a:bodyPr wrap="square" lIns="0" rIns="0" tIns="0" bIns="0" anchor="t">
            <a:spAutoFit/>
          </a:bodyPr>
          <a:lstStyle/>
          <a:p>
            <a:pPr algn="l"/>
            <a:r>
              <a:rPr sz="1700" b="1" i="0">
                <a:solidFill>
                  <a:srgbClr val="0B4A9E"/>
                </a:solidFill>
                <a:latin typeface="Inter"/>
              </a:rPr>
              <a:t>Stable, typed interfaces</a:t>
            </a:r>
          </a:p>
        </p:txBody>
      </p:sp>
      <p:sp>
        <p:nvSpPr>
          <p:cNvPr id="9" name="TextBox 8"/>
          <p:cNvSpPr txBox="1"/>
          <p:nvPr/>
        </p:nvSpPr>
        <p:spPr>
          <a:xfrm>
            <a:off x="4572000" y="2743200"/>
            <a:ext cx="7132320" cy="822960"/>
          </a:xfrm>
          <a:prstGeom prst="rect">
            <a:avLst/>
          </a:prstGeom>
          <a:noFill/>
        </p:spPr>
        <p:txBody>
          <a:bodyPr wrap="square" lIns="0" rIns="0" tIns="0" bIns="0" anchor="t">
            <a:spAutoFit/>
          </a:bodyPr>
          <a:lstStyle/>
          <a:p>
            <a:pPr algn="l"/>
            <a:r>
              <a:rPr sz="1400" b="0" i="0">
                <a:solidFill>
                  <a:srgbClr val="151B23"/>
                </a:solidFill>
                <a:latin typeface="Inter"/>
              </a:rPr>
              <a:t>JSON schema. No free-text fields. Every response parses.</a:t>
            </a:r>
          </a:p>
        </p:txBody>
      </p:sp>
      <p:sp>
        <p:nvSpPr>
          <p:cNvPr id="10" name="TextBox 9"/>
          <p:cNvSpPr txBox="1"/>
          <p:nvPr/>
        </p:nvSpPr>
        <p:spPr>
          <a:xfrm>
            <a:off x="548640" y="3566160"/>
            <a:ext cx="3931920" cy="457200"/>
          </a:xfrm>
          <a:prstGeom prst="rect">
            <a:avLst/>
          </a:prstGeom>
          <a:noFill/>
        </p:spPr>
        <p:txBody>
          <a:bodyPr wrap="square" lIns="0" rIns="0" tIns="0" bIns="0" anchor="t">
            <a:spAutoFit/>
          </a:bodyPr>
          <a:lstStyle/>
          <a:p>
            <a:pPr algn="l"/>
            <a:r>
              <a:rPr sz="1700" b="1" i="0">
                <a:solidFill>
                  <a:srgbClr val="0B4A9E"/>
                </a:solidFill>
                <a:latin typeface="Inter"/>
              </a:rPr>
              <a:t>Include provenance</a:t>
            </a:r>
          </a:p>
        </p:txBody>
      </p:sp>
      <p:sp>
        <p:nvSpPr>
          <p:cNvPr id="11" name="TextBox 10"/>
          <p:cNvSpPr txBox="1"/>
          <p:nvPr/>
        </p:nvSpPr>
        <p:spPr>
          <a:xfrm>
            <a:off x="4572000" y="3611880"/>
            <a:ext cx="7132320" cy="822960"/>
          </a:xfrm>
          <a:prstGeom prst="rect">
            <a:avLst/>
          </a:prstGeom>
          <a:noFill/>
        </p:spPr>
        <p:txBody>
          <a:bodyPr wrap="square" lIns="0" rIns="0" tIns="0" bIns="0" anchor="t">
            <a:spAutoFit/>
          </a:bodyPr>
          <a:lstStyle/>
          <a:p>
            <a:pPr algn="l"/>
            <a:r>
              <a:rPr sz="1400" b="0" i="0">
                <a:solidFill>
                  <a:srgbClr val="151B23"/>
                </a:solidFill>
                <a:latin typeface="Inter"/>
              </a:rPr>
              <a:t>Which tool returned this? Which query? Agent can reason about its own trail.</a:t>
            </a:r>
          </a:p>
        </p:txBody>
      </p:sp>
      <p:sp>
        <p:nvSpPr>
          <p:cNvPr id="12" name="TextBox 11"/>
          <p:cNvSpPr txBox="1"/>
          <p:nvPr/>
        </p:nvSpPr>
        <p:spPr>
          <a:xfrm>
            <a:off x="548640" y="4434840"/>
            <a:ext cx="3931920" cy="457200"/>
          </a:xfrm>
          <a:prstGeom prst="rect">
            <a:avLst/>
          </a:prstGeom>
          <a:noFill/>
        </p:spPr>
        <p:txBody>
          <a:bodyPr wrap="square" lIns="0" rIns="0" tIns="0" bIns="0" anchor="t">
            <a:spAutoFit/>
          </a:bodyPr>
          <a:lstStyle/>
          <a:p>
            <a:pPr algn="l"/>
            <a:r>
              <a:rPr sz="1700" b="1" i="0">
                <a:solidFill>
                  <a:srgbClr val="0B4A9E"/>
                </a:solidFill>
                <a:latin typeface="Inter"/>
              </a:rPr>
              <a:t>Idempotent reads</a:t>
            </a:r>
          </a:p>
        </p:txBody>
      </p:sp>
      <p:sp>
        <p:nvSpPr>
          <p:cNvPr id="13" name="TextBox 12"/>
          <p:cNvSpPr txBox="1"/>
          <p:nvPr/>
        </p:nvSpPr>
        <p:spPr>
          <a:xfrm>
            <a:off x="4572000" y="4480560"/>
            <a:ext cx="7132320" cy="822960"/>
          </a:xfrm>
          <a:prstGeom prst="rect">
            <a:avLst/>
          </a:prstGeom>
          <a:noFill/>
        </p:spPr>
        <p:txBody>
          <a:bodyPr wrap="square" lIns="0" rIns="0" tIns="0" bIns="0" anchor="t">
            <a:spAutoFit/>
          </a:bodyPr>
          <a:lstStyle/>
          <a:p>
            <a:pPr algn="l"/>
            <a:r>
              <a:rPr sz="1400" b="0" i="0">
                <a:solidFill>
                  <a:srgbClr val="151B23"/>
                </a:solidFill>
                <a:latin typeface="Inter"/>
              </a:rPr>
              <a:t>Same inputs → same outputs. Caching is trivial.</a:t>
            </a:r>
          </a:p>
        </p:txBody>
      </p:sp>
      <p:sp>
        <p:nvSpPr>
          <p:cNvPr id="14" name="TextBox 13"/>
          <p:cNvSpPr txBox="1"/>
          <p:nvPr/>
        </p:nvSpPr>
        <p:spPr>
          <a:xfrm>
            <a:off x="548640" y="5303520"/>
            <a:ext cx="3931920" cy="457200"/>
          </a:xfrm>
          <a:prstGeom prst="rect">
            <a:avLst/>
          </a:prstGeom>
          <a:noFill/>
        </p:spPr>
        <p:txBody>
          <a:bodyPr wrap="square" lIns="0" rIns="0" tIns="0" bIns="0" anchor="t">
            <a:spAutoFit/>
          </a:bodyPr>
          <a:lstStyle/>
          <a:p>
            <a:pPr algn="l"/>
            <a:r>
              <a:rPr sz="1700" b="1" i="0">
                <a:solidFill>
                  <a:srgbClr val="0B4A9E"/>
                </a:solidFill>
                <a:latin typeface="Inter"/>
              </a:rPr>
              <a:t>Cursor-based pagination</a:t>
            </a:r>
          </a:p>
        </p:txBody>
      </p:sp>
      <p:sp>
        <p:nvSpPr>
          <p:cNvPr id="15" name="TextBox 14"/>
          <p:cNvSpPr txBox="1"/>
          <p:nvPr/>
        </p:nvSpPr>
        <p:spPr>
          <a:xfrm>
            <a:off x="4572000" y="5349240"/>
            <a:ext cx="7132320" cy="822960"/>
          </a:xfrm>
          <a:prstGeom prst="rect">
            <a:avLst/>
          </a:prstGeom>
          <a:noFill/>
        </p:spPr>
        <p:txBody>
          <a:bodyPr wrap="square" lIns="0" rIns="0" tIns="0" bIns="0" anchor="t">
            <a:spAutoFit/>
          </a:bodyPr>
          <a:lstStyle/>
          <a:p>
            <a:pPr algn="l"/>
            <a:r>
              <a:rPr sz="1400" b="0" i="0">
                <a:solidFill>
                  <a:srgbClr val="151B23"/>
                </a:solidFill>
                <a:latin typeface="Inter"/>
              </a:rPr>
              <a:t>Big result sets return a cursor, not 10,000 bibcodes.</a:t>
            </a:r>
          </a:p>
        </p:txBody>
      </p:sp>
      <p:sp>
        <p:nvSpPr>
          <p:cNvPr id="16" name="TextBox 15"/>
          <p:cNvSpPr txBox="1"/>
          <p:nvPr/>
        </p:nvSpPr>
        <p:spPr>
          <a:xfrm>
            <a:off x="457200" y="6492240"/>
            <a:ext cx="9144000" cy="274320"/>
          </a:xfrm>
          <a:prstGeom prst="rect">
            <a:avLst/>
          </a:prstGeom>
          <a:noFill/>
        </p:spPr>
        <p:txBody>
          <a:bodyPr wrap="square" lIns="0" rIns="0" tIns="0" bIns="0" anchor="t">
            <a:spAutoFit/>
          </a:bodyPr>
          <a:lstStyle/>
          <a:p>
            <a:pPr algn="l"/>
            <a:r>
              <a:rPr sz="1000" b="0" i="0">
                <a:solidFill>
                  <a:srgbClr val="6B7280"/>
                </a:solidFill>
                <a:latin typeface="Inter"/>
              </a:rPr>
              <a:t>Stephanie Jarmak  ·  MLOps Community  ·  Making Scientific Knowledge Navigable for Agents</a:t>
            </a:r>
          </a:p>
        </p:txBody>
      </p:sp>
      <p:sp>
        <p:nvSpPr>
          <p:cNvPr id="17" name="TextBox 16"/>
          <p:cNvSpPr txBox="1"/>
          <p:nvPr/>
        </p:nvSpPr>
        <p:spPr>
          <a:xfrm>
            <a:off x="11247120" y="6492240"/>
            <a:ext cx="731520" cy="274320"/>
          </a:xfrm>
          <a:prstGeom prst="rect">
            <a:avLst/>
          </a:prstGeom>
          <a:noFill/>
        </p:spPr>
        <p:txBody>
          <a:bodyPr wrap="square" lIns="0" rIns="0" tIns="0" bIns="0" anchor="t">
            <a:spAutoFit/>
          </a:bodyPr>
          <a:lstStyle/>
          <a:p>
            <a:pPr algn="r"/>
            <a:r>
              <a:rPr sz="1000" b="0" i="0">
                <a:solidFill>
                  <a:srgbClr val="6B7280"/>
                </a:solidFill>
                <a:latin typeface="Inter"/>
              </a:rPr>
              <a:t>17 / 30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1247120" cy="731520"/>
          </a:xfrm>
          <a:prstGeom prst="rect">
            <a:avLst/>
          </a:prstGeom>
          <a:noFill/>
        </p:spPr>
        <p:txBody>
          <a:bodyPr wrap="square" lIns="0" rIns="0" tIns="0" bIns="0" anchor="t">
            <a:spAutoFit/>
          </a:bodyPr>
          <a:lstStyle/>
          <a:p>
            <a:pPr algn="l"/>
            <a:r>
              <a:rPr sz="3200" b="1" i="0">
                <a:solidFill>
                  <a:srgbClr val="151B23"/>
                </a:solidFill>
                <a:latin typeface="Inter"/>
              </a:rPr>
              <a:t>Session state: the agent's short-term memory</a:t>
            </a:r>
          </a:p>
        </p:txBody>
      </p:sp>
      <p:sp>
        <p:nvSpPr>
          <p:cNvPr id="4" name="Rectangle 3"/>
          <p:cNvSpPr/>
          <p:nvPr/>
        </p:nvSpPr>
        <p:spPr>
          <a:xfrm>
            <a:off x="457200" y="1234440"/>
            <a:ext cx="731520" cy="25400"/>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11247120" cy="457200"/>
          </a:xfrm>
          <a:prstGeom prst="rect">
            <a:avLst/>
          </a:prstGeom>
          <a:noFill/>
        </p:spPr>
        <p:txBody>
          <a:bodyPr wrap="square" lIns="0" rIns="0" tIns="0" bIns="0" anchor="t">
            <a:spAutoFit/>
          </a:bodyPr>
          <a:lstStyle/>
          <a:p>
            <a:pPr algn="l"/>
            <a:r>
              <a:rPr sz="1600" b="0" i="1">
                <a:solidFill>
                  <a:srgbClr val="4B5563"/>
                </a:solidFill>
                <a:latin typeface="Inter"/>
              </a:rPr>
              <a:t>In-memory working set per MCP connection — not in the prompt, not in a DB</a:t>
            </a:r>
          </a:p>
        </p:txBody>
      </p:sp>
      <p:sp>
        <p:nvSpPr>
          <p:cNvPr id="6" name="Rectangle 5"/>
          <p:cNvSpPr/>
          <p:nvPr/>
        </p:nvSpPr>
        <p:spPr>
          <a:xfrm>
            <a:off x="548640" y="1828800"/>
            <a:ext cx="5852160" cy="4206240"/>
          </a:xfrm>
          <a:prstGeom prst="rect">
            <a:avLst/>
          </a:prstGeom>
          <a:solidFill>
            <a:srgbClr val="F8FAFC"/>
          </a:solidFill>
          <a:ln w="1270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011680"/>
            <a:ext cx="5486400" cy="4023360"/>
          </a:xfrm>
          <a:prstGeom prst="rect">
            <a:avLst/>
          </a:prstGeom>
          <a:noFill/>
        </p:spPr>
        <p:txBody>
          <a:bodyPr wrap="square" lIns="0" rIns="0" tIns="0" bIns="0" anchor="t">
            <a:spAutoFit/>
          </a:bodyPr>
          <a:lstStyle/>
          <a:p>
            <a:pPr algn="l"/>
            <a:r>
              <a:rPr sz="1300" b="0" i="0">
                <a:solidFill>
                  <a:srgbClr val="151B23"/>
                </a:solidFill>
                <a:latin typeface="Menlo"/>
              </a:rPr>
              <a:t>WorkingSetEntry(</a:t>
            </a:r>
          </a:p>
          <a:p>
            <a:pPr algn="l"/>
            <a:r>
              <a:rPr sz="1300" b="0" i="0">
                <a:solidFill>
                  <a:srgbClr val="151B23"/>
                </a:solidFill>
                <a:latin typeface="Menlo"/>
              </a:rPr>
              <a:t>    bibcode="2019A&amp;A...622A...2P",</a:t>
            </a:r>
          </a:p>
          <a:p>
            <a:pPr algn="l"/>
            <a:r>
              <a:rPr sz="1300" b="0" i="0">
                <a:solidFill>
                  <a:srgbClr val="151B23"/>
                </a:solidFill>
                <a:latin typeface="Menlo"/>
              </a:rPr>
              <a:t>    source_tool="hybrid_search",</a:t>
            </a:r>
          </a:p>
          <a:p>
            <a:pPr algn="l"/>
            <a:r>
              <a:rPr sz="1300" b="0" i="0">
                <a:solidFill>
                  <a:srgbClr val="151B23"/>
                </a:solidFill>
                <a:latin typeface="Menlo"/>
              </a:rPr>
              <a:t>    source_context={</a:t>
            </a:r>
          </a:p>
          <a:p>
            <a:pPr algn="l"/>
            <a:r>
              <a:rPr sz="1300" b="0" i="0">
                <a:solidFill>
                  <a:srgbClr val="151B23"/>
                </a:solidFill>
                <a:latin typeface="Menlo"/>
              </a:rPr>
              <a:t>        "query": "exoplanet atmospheres",</a:t>
            </a:r>
          </a:p>
          <a:p>
            <a:pPr algn="l"/>
            <a:r>
              <a:rPr sz="1300" b="0" i="0">
                <a:solidFill>
                  <a:srgbClr val="151B23"/>
                </a:solidFill>
                <a:latin typeface="Menlo"/>
              </a:rPr>
              <a:t>        "rank": 3,</a:t>
            </a:r>
          </a:p>
          <a:p>
            <a:pPr algn="l"/>
            <a:r>
              <a:rPr sz="1300" b="0" i="0">
                <a:solidFill>
                  <a:srgbClr val="151B23"/>
                </a:solidFill>
                <a:latin typeface="Menlo"/>
              </a:rPr>
              <a:t>        "community": "coarse_14"</a:t>
            </a:r>
          </a:p>
          <a:p>
            <a:pPr algn="l"/>
            <a:r>
              <a:rPr sz="1300" b="0" i="0">
                <a:solidFill>
                  <a:srgbClr val="151B23"/>
                </a:solidFill>
                <a:latin typeface="Menlo"/>
              </a:rPr>
              <a:t>    },</a:t>
            </a:r>
          </a:p>
          <a:p>
            <a:pPr algn="l"/>
            <a:r>
              <a:rPr sz="1300" b="0" i="0">
                <a:solidFill>
                  <a:srgbClr val="151B23"/>
                </a:solidFill>
                <a:latin typeface="Menlo"/>
              </a:rPr>
              <a:t>    tags=["foundational", "review"],</a:t>
            </a:r>
          </a:p>
          <a:p>
            <a:pPr algn="l"/>
            <a:r>
              <a:rPr sz="1300" b="0" i="0">
                <a:solidFill>
                  <a:srgbClr val="151B23"/>
                </a:solidFill>
                <a:latin typeface="Menlo"/>
              </a:rPr>
              <a:t>    added_at="2026-04-22T14:03:19Z",</a:t>
            </a:r>
          </a:p>
          <a:p>
            <a:pPr algn="l"/>
            <a:r>
              <a:rPr sz="1300" b="0" i="0">
                <a:solidFill>
                  <a:srgbClr val="151B23"/>
                </a:solidFill>
                <a:latin typeface="Menlo"/>
              </a:rPr>
              <a:t>)</a:t>
            </a:r>
          </a:p>
        </p:txBody>
      </p:sp>
      <p:sp>
        <p:nvSpPr>
          <p:cNvPr id="8" name="TextBox 7"/>
          <p:cNvSpPr txBox="1"/>
          <p:nvPr/>
        </p:nvSpPr>
        <p:spPr>
          <a:xfrm>
            <a:off x="6766560" y="1828800"/>
            <a:ext cx="4937760" cy="457200"/>
          </a:xfrm>
          <a:prstGeom prst="rect">
            <a:avLst/>
          </a:prstGeom>
          <a:noFill/>
        </p:spPr>
        <p:txBody>
          <a:bodyPr wrap="square" lIns="0" rIns="0" tIns="0" bIns="0" anchor="t">
            <a:spAutoFit/>
          </a:bodyPr>
          <a:lstStyle/>
          <a:p>
            <a:pPr algn="l"/>
            <a:r>
              <a:rPr sz="1800" b="1" i="0">
                <a:solidFill>
                  <a:srgbClr val="0B4A9E"/>
                </a:solidFill>
                <a:latin typeface="Inter"/>
              </a:rPr>
              <a:t>What it unlocks</a:t>
            </a:r>
          </a:p>
        </p:txBody>
      </p:sp>
      <p:sp>
        <p:nvSpPr>
          <p:cNvPr id="9" name="Rectangle 8"/>
          <p:cNvSpPr/>
          <p:nvPr/>
        </p:nvSpPr>
        <p:spPr>
          <a:xfrm>
            <a:off x="6766560" y="2331720"/>
            <a:ext cx="457200" cy="25400"/>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66560" y="2651760"/>
            <a:ext cx="4937760" cy="320040"/>
          </a:xfrm>
          <a:prstGeom prst="rect">
            <a:avLst/>
          </a:prstGeom>
          <a:noFill/>
        </p:spPr>
        <p:txBody>
          <a:bodyPr wrap="square" lIns="0" rIns="0" tIns="0" bIns="0" anchor="t">
            <a:spAutoFit/>
          </a:bodyPr>
          <a:lstStyle/>
          <a:p>
            <a:pPr algn="l"/>
            <a:r>
              <a:rPr sz="1500" b="1" i="0">
                <a:solidFill>
                  <a:srgbClr val="151B23"/>
                </a:solidFill>
                <a:latin typeface="Inter"/>
              </a:rPr>
              <a:t>find_gaps</a:t>
            </a:r>
          </a:p>
        </p:txBody>
      </p:sp>
      <p:sp>
        <p:nvSpPr>
          <p:cNvPr id="11" name="TextBox 10"/>
          <p:cNvSpPr txBox="1"/>
          <p:nvPr/>
        </p:nvSpPr>
        <p:spPr>
          <a:xfrm>
            <a:off x="6766560" y="2971800"/>
            <a:ext cx="4937760" cy="457200"/>
          </a:xfrm>
          <a:prstGeom prst="rect">
            <a:avLst/>
          </a:prstGeom>
          <a:noFill/>
        </p:spPr>
        <p:txBody>
          <a:bodyPr wrap="square" lIns="0" rIns="0" tIns="0" bIns="0" anchor="t">
            <a:spAutoFit/>
          </a:bodyPr>
          <a:lstStyle/>
          <a:p>
            <a:pPr algn="l"/>
            <a:r>
              <a:rPr sz="1200" b="0" i="0">
                <a:solidFill>
                  <a:srgbClr val="4B5563"/>
                </a:solidFill>
                <a:latin typeface="Inter"/>
              </a:rPr>
              <a:t>Bridge papers between working-set communities not yet in the set</a:t>
            </a:r>
          </a:p>
        </p:txBody>
      </p:sp>
      <p:sp>
        <p:nvSpPr>
          <p:cNvPr id="12" name="TextBox 11"/>
          <p:cNvSpPr txBox="1"/>
          <p:nvPr/>
        </p:nvSpPr>
        <p:spPr>
          <a:xfrm>
            <a:off x="6766560" y="3474720"/>
            <a:ext cx="4937760" cy="320040"/>
          </a:xfrm>
          <a:prstGeom prst="rect">
            <a:avLst/>
          </a:prstGeom>
          <a:noFill/>
        </p:spPr>
        <p:txBody>
          <a:bodyPr wrap="square" lIns="0" rIns="0" tIns="0" bIns="0" anchor="t">
            <a:spAutoFit/>
          </a:bodyPr>
          <a:lstStyle/>
          <a:p>
            <a:pPr algn="l"/>
            <a:r>
              <a:rPr sz="1500" b="1" i="0">
                <a:solidFill>
                  <a:srgbClr val="151B23"/>
                </a:solidFill>
                <a:latin typeface="Inter"/>
              </a:rPr>
              <a:t>get_session_summary</a:t>
            </a:r>
          </a:p>
        </p:txBody>
      </p:sp>
      <p:sp>
        <p:nvSpPr>
          <p:cNvPr id="13" name="TextBox 12"/>
          <p:cNvSpPr txBox="1"/>
          <p:nvPr/>
        </p:nvSpPr>
        <p:spPr>
          <a:xfrm>
            <a:off x="6766560" y="3794760"/>
            <a:ext cx="4937760" cy="457200"/>
          </a:xfrm>
          <a:prstGeom prst="rect">
            <a:avLst/>
          </a:prstGeom>
          <a:noFill/>
        </p:spPr>
        <p:txBody>
          <a:bodyPr wrap="square" lIns="0" rIns="0" tIns="0" bIns="0" anchor="t">
            <a:spAutoFit/>
          </a:bodyPr>
          <a:lstStyle/>
          <a:p>
            <a:pPr algn="l"/>
            <a:r>
              <a:rPr sz="1200" b="0" i="0">
                <a:solidFill>
                  <a:srgbClr val="4B5563"/>
                </a:solidFill>
                <a:latin typeface="Inter"/>
              </a:rPr>
              <a:t>What the agent knows so far, grouped by community</a:t>
            </a:r>
          </a:p>
        </p:txBody>
      </p:sp>
      <p:sp>
        <p:nvSpPr>
          <p:cNvPr id="14" name="TextBox 13"/>
          <p:cNvSpPr txBox="1"/>
          <p:nvPr/>
        </p:nvSpPr>
        <p:spPr>
          <a:xfrm>
            <a:off x="6766560" y="4297680"/>
            <a:ext cx="4937760" cy="320040"/>
          </a:xfrm>
          <a:prstGeom prst="rect">
            <a:avLst/>
          </a:prstGeom>
          <a:noFill/>
        </p:spPr>
        <p:txBody>
          <a:bodyPr wrap="square" lIns="0" rIns="0" tIns="0" bIns="0" anchor="t">
            <a:spAutoFit/>
          </a:bodyPr>
          <a:lstStyle/>
          <a:p>
            <a:pPr algn="l"/>
            <a:r>
              <a:rPr sz="1500" b="1" i="0">
                <a:solidFill>
                  <a:srgbClr val="151B23"/>
                </a:solidFill>
                <a:latin typeface="Inter"/>
              </a:rPr>
              <a:t>Dedup and provenance</a:t>
            </a:r>
          </a:p>
        </p:txBody>
      </p:sp>
      <p:sp>
        <p:nvSpPr>
          <p:cNvPr id="15" name="TextBox 14"/>
          <p:cNvSpPr txBox="1"/>
          <p:nvPr/>
        </p:nvSpPr>
        <p:spPr>
          <a:xfrm>
            <a:off x="6766560" y="4617720"/>
            <a:ext cx="4937760" cy="457200"/>
          </a:xfrm>
          <a:prstGeom prst="rect">
            <a:avLst/>
          </a:prstGeom>
          <a:noFill/>
        </p:spPr>
        <p:txBody>
          <a:bodyPr wrap="square" lIns="0" rIns="0" tIns="0" bIns="0" anchor="t">
            <a:spAutoFit/>
          </a:bodyPr>
          <a:lstStyle/>
          <a:p>
            <a:pPr algn="l"/>
            <a:r>
              <a:rPr sz="1200" b="0" i="0">
                <a:solidFill>
                  <a:srgbClr val="4B5563"/>
                </a:solidFill>
                <a:latin typeface="Inter"/>
              </a:rPr>
              <a:t>Don't re-add. Remember how we found this.</a:t>
            </a:r>
          </a:p>
        </p:txBody>
      </p:sp>
      <p:sp>
        <p:nvSpPr>
          <p:cNvPr id="16" name="TextBox 15"/>
          <p:cNvSpPr txBox="1"/>
          <p:nvPr/>
        </p:nvSpPr>
        <p:spPr>
          <a:xfrm>
            <a:off x="6766560" y="5120640"/>
            <a:ext cx="4937760" cy="320040"/>
          </a:xfrm>
          <a:prstGeom prst="rect">
            <a:avLst/>
          </a:prstGeom>
          <a:noFill/>
        </p:spPr>
        <p:txBody>
          <a:bodyPr wrap="square" lIns="0" rIns="0" tIns="0" bIns="0" anchor="t">
            <a:spAutoFit/>
          </a:bodyPr>
          <a:lstStyle/>
          <a:p>
            <a:pPr algn="l"/>
            <a:r>
              <a:rPr sz="1500" b="1" i="0">
                <a:solidFill>
                  <a:srgbClr val="151B23"/>
                </a:solidFill>
                <a:latin typeface="Inter"/>
              </a:rPr>
              <a:t>Cross-tool reasoning</a:t>
            </a:r>
          </a:p>
        </p:txBody>
      </p:sp>
      <p:sp>
        <p:nvSpPr>
          <p:cNvPr id="17" name="TextBox 16"/>
          <p:cNvSpPr txBox="1"/>
          <p:nvPr/>
        </p:nvSpPr>
        <p:spPr>
          <a:xfrm>
            <a:off x="6766560" y="5440680"/>
            <a:ext cx="4937760" cy="457200"/>
          </a:xfrm>
          <a:prstGeom prst="rect">
            <a:avLst/>
          </a:prstGeom>
          <a:noFill/>
        </p:spPr>
        <p:txBody>
          <a:bodyPr wrap="square" lIns="0" rIns="0" tIns="0" bIns="0" anchor="t">
            <a:spAutoFit/>
          </a:bodyPr>
          <a:lstStyle/>
          <a:p>
            <a:pPr algn="l"/>
            <a:r>
              <a:rPr sz="1200" b="0" i="0">
                <a:solidFill>
                  <a:srgbClr val="4B5563"/>
                </a:solidFill>
                <a:latin typeface="Inter"/>
              </a:rPr>
              <a:t>Combine a hybrid_search result with a citation_chain hit</a:t>
            </a:r>
          </a:p>
        </p:txBody>
      </p:sp>
      <p:sp>
        <p:nvSpPr>
          <p:cNvPr id="18" name="TextBox 17"/>
          <p:cNvSpPr txBox="1"/>
          <p:nvPr/>
        </p:nvSpPr>
        <p:spPr>
          <a:xfrm>
            <a:off x="457200" y="6492240"/>
            <a:ext cx="9144000" cy="274320"/>
          </a:xfrm>
          <a:prstGeom prst="rect">
            <a:avLst/>
          </a:prstGeom>
          <a:noFill/>
        </p:spPr>
        <p:txBody>
          <a:bodyPr wrap="square" lIns="0" rIns="0" tIns="0" bIns="0" anchor="t">
            <a:spAutoFit/>
          </a:bodyPr>
          <a:lstStyle/>
          <a:p>
            <a:pPr algn="l"/>
            <a:r>
              <a:rPr sz="1000" b="0" i="0">
                <a:solidFill>
                  <a:srgbClr val="6B7280"/>
                </a:solidFill>
                <a:latin typeface="Inter"/>
              </a:rPr>
              <a:t>Stephanie Jarmak  ·  MLOps Community  ·  Making Scientific Knowledge Navigable for Agents</a:t>
            </a:r>
          </a:p>
        </p:txBody>
      </p:sp>
      <p:sp>
        <p:nvSpPr>
          <p:cNvPr id="19" name="TextBox 18"/>
          <p:cNvSpPr txBox="1"/>
          <p:nvPr/>
        </p:nvSpPr>
        <p:spPr>
          <a:xfrm>
            <a:off x="11247120" y="6492240"/>
            <a:ext cx="731520" cy="274320"/>
          </a:xfrm>
          <a:prstGeom prst="rect">
            <a:avLst/>
          </a:prstGeom>
          <a:noFill/>
        </p:spPr>
        <p:txBody>
          <a:bodyPr wrap="square" lIns="0" rIns="0" tIns="0" bIns="0" anchor="t">
            <a:spAutoFit/>
          </a:bodyPr>
          <a:lstStyle/>
          <a:p>
            <a:pPr algn="r"/>
            <a:r>
              <a:rPr sz="1000" b="0" i="0">
                <a:solidFill>
                  <a:srgbClr val="6B7280"/>
                </a:solidFill>
                <a:latin typeface="Inter"/>
              </a:rPr>
              <a:t>18 / 30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1247120" cy="731520"/>
          </a:xfrm>
          <a:prstGeom prst="rect">
            <a:avLst/>
          </a:prstGeom>
          <a:noFill/>
        </p:spPr>
        <p:txBody>
          <a:bodyPr wrap="square" lIns="0" rIns="0" tIns="0" bIns="0" anchor="t">
            <a:spAutoFit/>
          </a:bodyPr>
          <a:lstStyle/>
          <a:p>
            <a:pPr algn="l"/>
            <a:r>
              <a:rPr sz="3200" b="1" i="0">
                <a:solidFill>
                  <a:srgbClr val="151B23"/>
                </a:solidFill>
                <a:latin typeface="Inter"/>
              </a:rPr>
              <a:t>Three community lenses — and their informative disagreements</a:t>
            </a:r>
          </a:p>
        </p:txBody>
      </p:sp>
      <p:sp>
        <p:nvSpPr>
          <p:cNvPr id="4" name="Rectangle 3"/>
          <p:cNvSpPr/>
          <p:nvPr/>
        </p:nvSpPr>
        <p:spPr>
          <a:xfrm>
            <a:off x="457200" y="1234440"/>
            <a:ext cx="731520" cy="25400"/>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11247120" cy="457200"/>
          </a:xfrm>
          <a:prstGeom prst="rect">
            <a:avLst/>
          </a:prstGeom>
          <a:noFill/>
        </p:spPr>
        <p:txBody>
          <a:bodyPr wrap="square" lIns="0" rIns="0" tIns="0" bIns="0" anchor="t">
            <a:spAutoFit/>
          </a:bodyPr>
          <a:lstStyle/>
          <a:p>
            <a:pPr algn="l"/>
            <a:r>
              <a:rPr sz="1600" b="0" i="1">
                <a:solidFill>
                  <a:srgbClr val="4B5563"/>
                </a:solidFill>
                <a:latin typeface="Inter"/>
              </a:rPr>
              <a:t>Each lens has clean semantics. The agent picks.</a:t>
            </a:r>
          </a:p>
        </p:txBody>
      </p:sp>
      <p:sp>
        <p:nvSpPr>
          <p:cNvPr id="6" name="Rounded Rectangle 5"/>
          <p:cNvSpPr/>
          <p:nvPr/>
        </p:nvSpPr>
        <p:spPr>
          <a:xfrm>
            <a:off x="457200" y="1828800"/>
            <a:ext cx="3657600" cy="4114800"/>
          </a:xfrm>
          <a:prstGeom prst="roundRect">
            <a:avLst/>
          </a:prstGeom>
          <a:solidFill>
            <a:srgbClr val="FAFBFD"/>
          </a:solidFill>
          <a:ln w="15240">
            <a:solidFill>
              <a:srgbClr val="0B4A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965960"/>
            <a:ext cx="3383280" cy="365760"/>
          </a:xfrm>
          <a:prstGeom prst="rect">
            <a:avLst/>
          </a:prstGeom>
          <a:noFill/>
        </p:spPr>
        <p:txBody>
          <a:bodyPr wrap="square" lIns="0" rIns="0" tIns="0" bIns="0" anchor="t">
            <a:spAutoFit/>
          </a:bodyPr>
          <a:lstStyle/>
          <a:p>
            <a:pPr algn="l"/>
            <a:r>
              <a:rPr sz="1800" b="1" i="0">
                <a:solidFill>
                  <a:srgbClr val="0B4A9E"/>
                </a:solidFill>
                <a:latin typeface="Inter"/>
              </a:rPr>
              <a:t>Citation</a:t>
            </a:r>
          </a:p>
        </p:txBody>
      </p:sp>
      <p:sp>
        <p:nvSpPr>
          <p:cNvPr id="8" name="TextBox 7"/>
          <p:cNvSpPr txBox="1"/>
          <p:nvPr/>
        </p:nvSpPr>
        <p:spPr>
          <a:xfrm>
            <a:off x="731520" y="2331720"/>
            <a:ext cx="3383280" cy="274320"/>
          </a:xfrm>
          <a:prstGeom prst="rect">
            <a:avLst/>
          </a:prstGeom>
          <a:noFill/>
        </p:spPr>
        <p:txBody>
          <a:bodyPr wrap="square" lIns="0" rIns="0" tIns="0" bIns="0" anchor="t">
            <a:spAutoFit/>
          </a:bodyPr>
          <a:lstStyle/>
          <a:p>
            <a:pPr algn="l"/>
            <a:r>
              <a:rPr sz="1100" b="0" i="1">
                <a:solidFill>
                  <a:srgbClr val="6B7280"/>
                </a:solidFill>
                <a:latin typeface="Inter"/>
              </a:rPr>
              <a:t>behavioral affinity</a:t>
            </a:r>
          </a:p>
        </p:txBody>
      </p:sp>
      <p:sp>
        <p:nvSpPr>
          <p:cNvPr id="9" name="TextBox 8"/>
          <p:cNvSpPr txBox="1"/>
          <p:nvPr/>
        </p:nvSpPr>
        <p:spPr>
          <a:xfrm>
            <a:off x="731520" y="2788920"/>
            <a:ext cx="3383280" cy="365760"/>
          </a:xfrm>
          <a:prstGeom prst="rect">
            <a:avLst/>
          </a:prstGeom>
          <a:noFill/>
        </p:spPr>
        <p:txBody>
          <a:bodyPr wrap="square" lIns="0" rIns="0" tIns="0" bIns="0" anchor="t">
            <a:spAutoFit/>
          </a:bodyPr>
          <a:lstStyle/>
          <a:p>
            <a:pPr algn="l"/>
            <a:r>
              <a:rPr sz="1300" b="0" i="0">
                <a:solidFill>
                  <a:srgbClr val="151B23"/>
                </a:solidFill>
                <a:latin typeface="Inter"/>
              </a:rPr>
              <a:t>•  Leiden on giant component</a:t>
            </a:r>
          </a:p>
        </p:txBody>
      </p:sp>
      <p:sp>
        <p:nvSpPr>
          <p:cNvPr id="10" name="TextBox 9"/>
          <p:cNvSpPr txBox="1"/>
          <p:nvPr/>
        </p:nvSpPr>
        <p:spPr>
          <a:xfrm>
            <a:off x="731520" y="3227832"/>
            <a:ext cx="3383280" cy="365760"/>
          </a:xfrm>
          <a:prstGeom prst="rect">
            <a:avLst/>
          </a:prstGeom>
          <a:noFill/>
        </p:spPr>
        <p:txBody>
          <a:bodyPr wrap="square" lIns="0" rIns="0" tIns="0" bIns="0" anchor="t">
            <a:spAutoFit/>
          </a:bodyPr>
          <a:lstStyle/>
          <a:p>
            <a:pPr algn="l"/>
            <a:r>
              <a:rPr sz="1300" b="0" i="0">
                <a:solidFill>
                  <a:srgbClr val="151B23"/>
                </a:solidFill>
                <a:latin typeface="Inter"/>
              </a:rPr>
              <a:t>•  3 resolutions: ~20 · ~200 · ~2000</a:t>
            </a:r>
          </a:p>
        </p:txBody>
      </p:sp>
      <p:sp>
        <p:nvSpPr>
          <p:cNvPr id="11" name="TextBox 10"/>
          <p:cNvSpPr txBox="1"/>
          <p:nvPr/>
        </p:nvSpPr>
        <p:spPr>
          <a:xfrm>
            <a:off x="731520" y="3666744"/>
            <a:ext cx="3383280" cy="365760"/>
          </a:xfrm>
          <a:prstGeom prst="rect">
            <a:avLst/>
          </a:prstGeom>
          <a:noFill/>
        </p:spPr>
        <p:txBody>
          <a:bodyPr wrap="square" lIns="0" rIns="0" tIns="0" bIns="0" anchor="t">
            <a:spAutoFit/>
          </a:bodyPr>
          <a:lstStyle/>
          <a:p>
            <a:pPr algn="l"/>
            <a:r>
              <a:rPr sz="1300" b="0" i="0">
                <a:solidFill>
                  <a:srgbClr val="151B23"/>
                </a:solidFill>
                <a:latin typeface="Inter"/>
              </a:rPr>
              <a:t>•  Coverage: 62% of papers</a:t>
            </a:r>
          </a:p>
        </p:txBody>
      </p:sp>
      <p:sp>
        <p:nvSpPr>
          <p:cNvPr id="12" name="TextBox 11"/>
          <p:cNvSpPr txBox="1"/>
          <p:nvPr/>
        </p:nvSpPr>
        <p:spPr>
          <a:xfrm>
            <a:off x="731520" y="4105656"/>
            <a:ext cx="3383280" cy="365760"/>
          </a:xfrm>
          <a:prstGeom prst="rect">
            <a:avLst/>
          </a:prstGeom>
          <a:noFill/>
        </p:spPr>
        <p:txBody>
          <a:bodyPr wrap="square" lIns="0" rIns="0" tIns="0" bIns="0" anchor="t">
            <a:spAutoFit/>
          </a:bodyPr>
          <a:lstStyle/>
          <a:p>
            <a:pPr algn="l"/>
            <a:r>
              <a:rPr sz="1300" b="0" i="0">
                <a:solidFill>
                  <a:srgbClr val="151B23"/>
                </a:solidFill>
                <a:latin typeface="Inter"/>
              </a:rPr>
              <a:t>•  "Papers that cite each other"</a:t>
            </a:r>
          </a:p>
        </p:txBody>
      </p:sp>
      <p:sp>
        <p:nvSpPr>
          <p:cNvPr id="13" name="TextBox 12"/>
          <p:cNvSpPr txBox="1"/>
          <p:nvPr/>
        </p:nvSpPr>
        <p:spPr>
          <a:xfrm>
            <a:off x="731520" y="4544568"/>
            <a:ext cx="3383280" cy="365760"/>
          </a:xfrm>
          <a:prstGeom prst="rect">
            <a:avLst/>
          </a:prstGeom>
          <a:noFill/>
        </p:spPr>
        <p:txBody>
          <a:bodyPr wrap="square" lIns="0" rIns="0" tIns="0" bIns="0" anchor="t">
            <a:spAutoFit/>
          </a:bodyPr>
          <a:lstStyle/>
          <a:p>
            <a:pPr algn="l"/>
            <a:r>
              <a:rPr sz="1300" b="0" i="0">
                <a:solidFill>
                  <a:srgbClr val="151B23"/>
                </a:solidFill>
                <a:latin typeface="Inter"/>
              </a:rPr>
              <a:t>•  Finds invisible-college patterns</a:t>
            </a:r>
          </a:p>
        </p:txBody>
      </p:sp>
      <p:sp>
        <p:nvSpPr>
          <p:cNvPr id="14" name="Rounded Rectangle 13"/>
          <p:cNvSpPr/>
          <p:nvPr/>
        </p:nvSpPr>
        <p:spPr>
          <a:xfrm>
            <a:off x="4297680" y="1828800"/>
            <a:ext cx="3657600" cy="4114800"/>
          </a:xfrm>
          <a:prstGeom prst="roundRect">
            <a:avLst/>
          </a:prstGeom>
          <a:solidFill>
            <a:srgbClr val="FAFBFD"/>
          </a:solidFill>
          <a:ln w="15240">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0" y="1965960"/>
            <a:ext cx="3383280" cy="365760"/>
          </a:xfrm>
          <a:prstGeom prst="rect">
            <a:avLst/>
          </a:prstGeom>
          <a:noFill/>
        </p:spPr>
        <p:txBody>
          <a:bodyPr wrap="square" lIns="0" rIns="0" tIns="0" bIns="0" anchor="t">
            <a:spAutoFit/>
          </a:bodyPr>
          <a:lstStyle/>
          <a:p>
            <a:pPr algn="l"/>
            <a:r>
              <a:rPr sz="1800" b="1" i="0">
                <a:solidFill>
                  <a:srgbClr val="1F6FEB"/>
                </a:solidFill>
                <a:latin typeface="Inter"/>
              </a:rPr>
              <a:t>Semantic</a:t>
            </a:r>
          </a:p>
        </p:txBody>
      </p:sp>
      <p:sp>
        <p:nvSpPr>
          <p:cNvPr id="16" name="TextBox 15"/>
          <p:cNvSpPr txBox="1"/>
          <p:nvPr/>
        </p:nvSpPr>
        <p:spPr>
          <a:xfrm>
            <a:off x="4572000" y="2331720"/>
            <a:ext cx="3383280" cy="274320"/>
          </a:xfrm>
          <a:prstGeom prst="rect">
            <a:avLst/>
          </a:prstGeom>
          <a:noFill/>
        </p:spPr>
        <p:txBody>
          <a:bodyPr wrap="square" lIns="0" rIns="0" tIns="0" bIns="0" anchor="t">
            <a:spAutoFit/>
          </a:bodyPr>
          <a:lstStyle/>
          <a:p>
            <a:pPr algn="l"/>
            <a:r>
              <a:rPr sz="1100" b="0" i="1">
                <a:solidFill>
                  <a:srgbClr val="6B7280"/>
                </a:solidFill>
                <a:latin typeface="Inter"/>
              </a:rPr>
              <a:t>topical affinity</a:t>
            </a:r>
          </a:p>
        </p:txBody>
      </p:sp>
      <p:sp>
        <p:nvSpPr>
          <p:cNvPr id="17" name="TextBox 16"/>
          <p:cNvSpPr txBox="1"/>
          <p:nvPr/>
        </p:nvSpPr>
        <p:spPr>
          <a:xfrm>
            <a:off x="4572000" y="2788920"/>
            <a:ext cx="3383280" cy="365760"/>
          </a:xfrm>
          <a:prstGeom prst="rect">
            <a:avLst/>
          </a:prstGeom>
          <a:noFill/>
        </p:spPr>
        <p:txBody>
          <a:bodyPr wrap="square" lIns="0" rIns="0" tIns="0" bIns="0" anchor="t">
            <a:spAutoFit/>
          </a:bodyPr>
          <a:lstStyle/>
          <a:p>
            <a:pPr algn="l"/>
            <a:r>
              <a:rPr sz="1300" b="0" i="0">
                <a:solidFill>
                  <a:srgbClr val="151B23"/>
                </a:solidFill>
                <a:latin typeface="Inter"/>
              </a:rPr>
              <a:t>•  k-means on INDUS 768d</a:t>
            </a:r>
          </a:p>
        </p:txBody>
      </p:sp>
      <p:sp>
        <p:nvSpPr>
          <p:cNvPr id="18" name="TextBox 17"/>
          <p:cNvSpPr txBox="1"/>
          <p:nvPr/>
        </p:nvSpPr>
        <p:spPr>
          <a:xfrm>
            <a:off x="4572000" y="3227832"/>
            <a:ext cx="3383280" cy="365760"/>
          </a:xfrm>
          <a:prstGeom prst="rect">
            <a:avLst/>
          </a:prstGeom>
          <a:noFill/>
        </p:spPr>
        <p:txBody>
          <a:bodyPr wrap="square" lIns="0" rIns="0" tIns="0" bIns="0" anchor="t">
            <a:spAutoFit/>
          </a:bodyPr>
          <a:lstStyle/>
          <a:p>
            <a:pPr algn="l"/>
            <a:r>
              <a:rPr sz="1300" b="0" i="0">
                <a:solidFill>
                  <a:srgbClr val="151B23"/>
                </a:solidFill>
                <a:latin typeface="Inter"/>
              </a:rPr>
              <a:t>•  3 resolutions</a:t>
            </a:r>
          </a:p>
        </p:txBody>
      </p:sp>
      <p:sp>
        <p:nvSpPr>
          <p:cNvPr id="19" name="TextBox 18"/>
          <p:cNvSpPr txBox="1"/>
          <p:nvPr/>
        </p:nvSpPr>
        <p:spPr>
          <a:xfrm>
            <a:off x="4572000" y="3666744"/>
            <a:ext cx="3383280" cy="365760"/>
          </a:xfrm>
          <a:prstGeom prst="rect">
            <a:avLst/>
          </a:prstGeom>
          <a:noFill/>
        </p:spPr>
        <p:txBody>
          <a:bodyPr wrap="square" lIns="0" rIns="0" tIns="0" bIns="0" anchor="t">
            <a:spAutoFit/>
          </a:bodyPr>
          <a:lstStyle/>
          <a:p>
            <a:pPr algn="l"/>
            <a:r>
              <a:rPr sz="1300" b="0" i="0">
                <a:solidFill>
                  <a:srgbClr val="151B23"/>
                </a:solidFill>
                <a:latin typeface="Inter"/>
              </a:rPr>
              <a:t>•  Coverage: 99% (all INDUS-embedded)</a:t>
            </a:r>
          </a:p>
        </p:txBody>
      </p:sp>
      <p:sp>
        <p:nvSpPr>
          <p:cNvPr id="20" name="TextBox 19"/>
          <p:cNvSpPr txBox="1"/>
          <p:nvPr/>
        </p:nvSpPr>
        <p:spPr>
          <a:xfrm>
            <a:off x="4572000" y="4105656"/>
            <a:ext cx="3383280" cy="365760"/>
          </a:xfrm>
          <a:prstGeom prst="rect">
            <a:avLst/>
          </a:prstGeom>
          <a:noFill/>
        </p:spPr>
        <p:txBody>
          <a:bodyPr wrap="square" lIns="0" rIns="0" tIns="0" bIns="0" anchor="t">
            <a:spAutoFit/>
          </a:bodyPr>
          <a:lstStyle/>
          <a:p>
            <a:pPr algn="l"/>
            <a:r>
              <a:rPr sz="1300" b="0" i="0">
                <a:solidFill>
                  <a:srgbClr val="151B23"/>
                </a:solidFill>
                <a:latin typeface="Inter"/>
              </a:rPr>
              <a:t>•  "Papers with similar content"</a:t>
            </a:r>
          </a:p>
        </p:txBody>
      </p:sp>
      <p:sp>
        <p:nvSpPr>
          <p:cNvPr id="21" name="TextBox 20"/>
          <p:cNvSpPr txBox="1"/>
          <p:nvPr/>
        </p:nvSpPr>
        <p:spPr>
          <a:xfrm>
            <a:off x="4572000" y="4544568"/>
            <a:ext cx="3383280" cy="365760"/>
          </a:xfrm>
          <a:prstGeom prst="rect">
            <a:avLst/>
          </a:prstGeom>
          <a:noFill/>
        </p:spPr>
        <p:txBody>
          <a:bodyPr wrap="square" lIns="0" rIns="0" tIns="0" bIns="0" anchor="t">
            <a:spAutoFit/>
          </a:bodyPr>
          <a:lstStyle/>
          <a:p>
            <a:pPr algn="l"/>
            <a:r>
              <a:rPr sz="1300" b="0" i="0">
                <a:solidFill>
                  <a:srgbClr val="151B23"/>
                </a:solidFill>
                <a:latin typeface="Inter"/>
              </a:rPr>
              <a:t>•  Catches cross-citing subfields</a:t>
            </a:r>
          </a:p>
        </p:txBody>
      </p:sp>
      <p:sp>
        <p:nvSpPr>
          <p:cNvPr id="22" name="Rounded Rectangle 21"/>
          <p:cNvSpPr/>
          <p:nvPr/>
        </p:nvSpPr>
        <p:spPr>
          <a:xfrm>
            <a:off x="8138160" y="1828800"/>
            <a:ext cx="3657600" cy="4114800"/>
          </a:xfrm>
          <a:prstGeom prst="roundRect">
            <a:avLst/>
          </a:prstGeom>
          <a:solidFill>
            <a:srgbClr val="FAFBFD"/>
          </a:solidFill>
          <a:ln w="15240">
            <a:solidFill>
              <a:srgbClr val="2AA8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412480" y="1965960"/>
            <a:ext cx="3383280" cy="365760"/>
          </a:xfrm>
          <a:prstGeom prst="rect">
            <a:avLst/>
          </a:prstGeom>
          <a:noFill/>
        </p:spPr>
        <p:txBody>
          <a:bodyPr wrap="square" lIns="0" rIns="0" tIns="0" bIns="0" anchor="t">
            <a:spAutoFit/>
          </a:bodyPr>
          <a:lstStyle/>
          <a:p>
            <a:pPr algn="l"/>
            <a:r>
              <a:rPr sz="1800" b="1" i="0">
                <a:solidFill>
                  <a:srgbClr val="2AA876"/>
                </a:solidFill>
                <a:latin typeface="Inter"/>
              </a:rPr>
              <a:t>Taxonomic</a:t>
            </a:r>
          </a:p>
        </p:txBody>
      </p:sp>
      <p:sp>
        <p:nvSpPr>
          <p:cNvPr id="24" name="TextBox 23"/>
          <p:cNvSpPr txBox="1"/>
          <p:nvPr/>
        </p:nvSpPr>
        <p:spPr>
          <a:xfrm>
            <a:off x="8412480" y="2331720"/>
            <a:ext cx="3383280" cy="274320"/>
          </a:xfrm>
          <a:prstGeom prst="rect">
            <a:avLst/>
          </a:prstGeom>
          <a:noFill/>
        </p:spPr>
        <p:txBody>
          <a:bodyPr wrap="square" lIns="0" rIns="0" tIns="0" bIns="0" anchor="t">
            <a:spAutoFit/>
          </a:bodyPr>
          <a:lstStyle/>
          <a:p>
            <a:pPr algn="l"/>
            <a:r>
              <a:rPr sz="1100" b="0" i="1">
                <a:solidFill>
                  <a:srgbClr val="6B7280"/>
                </a:solidFill>
                <a:latin typeface="Inter"/>
              </a:rPr>
              <a:t>institutional affinity</a:t>
            </a:r>
          </a:p>
        </p:txBody>
      </p:sp>
      <p:sp>
        <p:nvSpPr>
          <p:cNvPr id="25" name="TextBox 24"/>
          <p:cNvSpPr txBox="1"/>
          <p:nvPr/>
        </p:nvSpPr>
        <p:spPr>
          <a:xfrm>
            <a:off x="8412480" y="2788920"/>
            <a:ext cx="3383280" cy="365760"/>
          </a:xfrm>
          <a:prstGeom prst="rect">
            <a:avLst/>
          </a:prstGeom>
          <a:noFill/>
        </p:spPr>
        <p:txBody>
          <a:bodyPr wrap="square" lIns="0" rIns="0" tIns="0" bIns="0" anchor="t">
            <a:spAutoFit/>
          </a:bodyPr>
          <a:lstStyle/>
          <a:p>
            <a:pPr algn="l"/>
            <a:r>
              <a:rPr sz="1300" b="0" i="0">
                <a:solidFill>
                  <a:srgbClr val="151B23"/>
                </a:solidFill>
                <a:latin typeface="Inter"/>
              </a:rPr>
              <a:t>•  arXiv class + UAT concepts</a:t>
            </a:r>
          </a:p>
        </p:txBody>
      </p:sp>
      <p:sp>
        <p:nvSpPr>
          <p:cNvPr id="26" name="TextBox 25"/>
          <p:cNvSpPr txBox="1"/>
          <p:nvPr/>
        </p:nvSpPr>
        <p:spPr>
          <a:xfrm>
            <a:off x="8412480" y="3227832"/>
            <a:ext cx="3383280" cy="365760"/>
          </a:xfrm>
          <a:prstGeom prst="rect">
            <a:avLst/>
          </a:prstGeom>
          <a:noFill/>
        </p:spPr>
        <p:txBody>
          <a:bodyPr wrap="square" lIns="0" rIns="0" tIns="0" bIns="0" anchor="t">
            <a:spAutoFit/>
          </a:bodyPr>
          <a:lstStyle/>
          <a:p>
            <a:pPr algn="l"/>
            <a:r>
              <a:rPr sz="1300" b="0" i="0">
                <a:solidFill>
                  <a:srgbClr val="151B23"/>
                </a:solidFill>
                <a:latin typeface="Inter"/>
              </a:rPr>
              <a:t>•  Hierarchical, curated</a:t>
            </a:r>
          </a:p>
        </p:txBody>
      </p:sp>
      <p:sp>
        <p:nvSpPr>
          <p:cNvPr id="27" name="TextBox 26"/>
          <p:cNvSpPr txBox="1"/>
          <p:nvPr/>
        </p:nvSpPr>
        <p:spPr>
          <a:xfrm>
            <a:off x="8412480" y="3666744"/>
            <a:ext cx="3383280" cy="365760"/>
          </a:xfrm>
          <a:prstGeom prst="rect">
            <a:avLst/>
          </a:prstGeom>
          <a:noFill/>
        </p:spPr>
        <p:txBody>
          <a:bodyPr wrap="square" lIns="0" rIns="0" tIns="0" bIns="0" anchor="t">
            <a:spAutoFit/>
          </a:bodyPr>
          <a:lstStyle/>
          <a:p>
            <a:pPr algn="l"/>
            <a:r>
              <a:rPr sz="1300" b="0" i="0">
                <a:solidFill>
                  <a:srgbClr val="151B23"/>
                </a:solidFill>
                <a:latin typeface="Inter"/>
              </a:rPr>
              <a:t>•  Coverage: ~8% (arXiv subset)</a:t>
            </a:r>
          </a:p>
        </p:txBody>
      </p:sp>
      <p:sp>
        <p:nvSpPr>
          <p:cNvPr id="28" name="TextBox 27"/>
          <p:cNvSpPr txBox="1"/>
          <p:nvPr/>
        </p:nvSpPr>
        <p:spPr>
          <a:xfrm>
            <a:off x="8412480" y="4105656"/>
            <a:ext cx="3383280" cy="365760"/>
          </a:xfrm>
          <a:prstGeom prst="rect">
            <a:avLst/>
          </a:prstGeom>
          <a:noFill/>
        </p:spPr>
        <p:txBody>
          <a:bodyPr wrap="square" lIns="0" rIns="0" tIns="0" bIns="0" anchor="t">
            <a:spAutoFit/>
          </a:bodyPr>
          <a:lstStyle/>
          <a:p>
            <a:pPr algn="l"/>
            <a:r>
              <a:rPr sz="1300" b="0" i="0">
                <a:solidFill>
                  <a:srgbClr val="151B23"/>
                </a:solidFill>
                <a:latin typeface="Inter"/>
              </a:rPr>
              <a:t>•  "Papers in the same field"</a:t>
            </a:r>
          </a:p>
        </p:txBody>
      </p:sp>
      <p:sp>
        <p:nvSpPr>
          <p:cNvPr id="29" name="TextBox 28"/>
          <p:cNvSpPr txBox="1"/>
          <p:nvPr/>
        </p:nvSpPr>
        <p:spPr>
          <a:xfrm>
            <a:off x="8412480" y="4544568"/>
            <a:ext cx="3383280" cy="365760"/>
          </a:xfrm>
          <a:prstGeom prst="rect">
            <a:avLst/>
          </a:prstGeom>
          <a:noFill/>
        </p:spPr>
        <p:txBody>
          <a:bodyPr wrap="square" lIns="0" rIns="0" tIns="0" bIns="0" anchor="t">
            <a:spAutoFit/>
          </a:bodyPr>
          <a:lstStyle/>
          <a:p>
            <a:pPr algn="l"/>
            <a:r>
              <a:rPr sz="1300" b="0" i="0">
                <a:solidFill>
                  <a:srgbClr val="151B23"/>
                </a:solidFill>
                <a:latin typeface="Inter"/>
              </a:rPr>
              <a:t>•  Sanity-check for the other two</a:t>
            </a:r>
          </a:p>
        </p:txBody>
      </p:sp>
      <p:sp>
        <p:nvSpPr>
          <p:cNvPr id="30" name="TextBox 29"/>
          <p:cNvSpPr txBox="1"/>
          <p:nvPr/>
        </p:nvSpPr>
        <p:spPr>
          <a:xfrm>
            <a:off x="457200" y="6492240"/>
            <a:ext cx="9144000" cy="274320"/>
          </a:xfrm>
          <a:prstGeom prst="rect">
            <a:avLst/>
          </a:prstGeom>
          <a:noFill/>
        </p:spPr>
        <p:txBody>
          <a:bodyPr wrap="square" lIns="0" rIns="0" tIns="0" bIns="0" anchor="t">
            <a:spAutoFit/>
          </a:bodyPr>
          <a:lstStyle/>
          <a:p>
            <a:pPr algn="l"/>
            <a:r>
              <a:rPr sz="1000" b="0" i="0">
                <a:solidFill>
                  <a:srgbClr val="6B7280"/>
                </a:solidFill>
                <a:latin typeface="Inter"/>
              </a:rPr>
              <a:t>Stephanie Jarmak  ·  MLOps Community  ·  Making Scientific Knowledge Navigable for Agents</a:t>
            </a:r>
          </a:p>
        </p:txBody>
      </p:sp>
      <p:sp>
        <p:nvSpPr>
          <p:cNvPr id="31" name="TextBox 30"/>
          <p:cNvSpPr txBox="1"/>
          <p:nvPr/>
        </p:nvSpPr>
        <p:spPr>
          <a:xfrm>
            <a:off x="11247120" y="6492240"/>
            <a:ext cx="731520" cy="274320"/>
          </a:xfrm>
          <a:prstGeom prst="rect">
            <a:avLst/>
          </a:prstGeom>
          <a:noFill/>
        </p:spPr>
        <p:txBody>
          <a:bodyPr wrap="square" lIns="0" rIns="0" tIns="0" bIns="0" anchor="t">
            <a:spAutoFit/>
          </a:bodyPr>
          <a:lstStyle/>
          <a:p>
            <a:pPr algn="r"/>
            <a:r>
              <a:rPr sz="1000" b="0" i="0">
                <a:solidFill>
                  <a:srgbClr val="6B7280"/>
                </a:solidFill>
                <a:latin typeface="Inter"/>
              </a:rPr>
              <a:t>19 / 30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1247120" cy="731520"/>
          </a:xfrm>
          <a:prstGeom prst="rect">
            <a:avLst/>
          </a:prstGeom>
          <a:noFill/>
        </p:spPr>
        <p:txBody>
          <a:bodyPr wrap="square" lIns="0" rIns="0" tIns="0" bIns="0" anchor="t">
            <a:spAutoFit/>
          </a:bodyPr>
          <a:lstStyle/>
          <a:p>
            <a:pPr algn="l"/>
            <a:r>
              <a:rPr sz="3200" b="1" i="0">
                <a:solidFill>
                  <a:srgbClr val="151B23"/>
                </a:solidFill>
                <a:latin typeface="Inter"/>
              </a:rPr>
              <a:t>Live demo</a:t>
            </a:r>
          </a:p>
        </p:txBody>
      </p:sp>
      <p:sp>
        <p:nvSpPr>
          <p:cNvPr id="4" name="Rectangle 3"/>
          <p:cNvSpPr/>
          <p:nvPr/>
        </p:nvSpPr>
        <p:spPr>
          <a:xfrm>
            <a:off x="457200" y="1234440"/>
            <a:ext cx="731520" cy="25400"/>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11247120" cy="457200"/>
          </a:xfrm>
          <a:prstGeom prst="rect">
            <a:avLst/>
          </a:prstGeom>
          <a:noFill/>
        </p:spPr>
        <p:txBody>
          <a:bodyPr wrap="square" lIns="0" rIns="0" tIns="0" bIns="0" anchor="t">
            <a:spAutoFit/>
          </a:bodyPr>
          <a:lstStyle/>
          <a:p>
            <a:pPr algn="l"/>
            <a:r>
              <a:rPr sz="1600" b="0" i="1">
                <a:solidFill>
                  <a:srgbClr val="4B5563"/>
                </a:solidFill>
                <a:latin typeface="Inter"/>
              </a:rPr>
              <a:t>A research copilot maps the exoplanet-atmospheres landscape</a:t>
            </a:r>
          </a:p>
        </p:txBody>
      </p:sp>
      <p:sp>
        <p:nvSpPr>
          <p:cNvPr id="6" name="Rounded Rectangle 5"/>
          <p:cNvSpPr/>
          <p:nvPr/>
        </p:nvSpPr>
        <p:spPr>
          <a:xfrm>
            <a:off x="457200" y="1828800"/>
            <a:ext cx="6400800" cy="4206240"/>
          </a:xfrm>
          <a:prstGeom prst="roundRect">
            <a:avLst/>
          </a:prstGeom>
          <a:solidFill>
            <a:srgbClr val="EAF2FE"/>
          </a:solidFill>
          <a:ln w="15240">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011680"/>
            <a:ext cx="5852160" cy="365760"/>
          </a:xfrm>
          <a:prstGeom prst="rect">
            <a:avLst/>
          </a:prstGeom>
          <a:noFill/>
        </p:spPr>
        <p:txBody>
          <a:bodyPr wrap="square" lIns="0" rIns="0" tIns="0" bIns="0" anchor="t">
            <a:spAutoFit/>
          </a:bodyPr>
          <a:lstStyle/>
          <a:p>
            <a:pPr algn="l"/>
            <a:r>
              <a:rPr sz="1400" b="1" i="0">
                <a:solidFill>
                  <a:srgbClr val="0B4A9E"/>
                </a:solidFill>
                <a:latin typeface="Inter"/>
              </a:rPr>
              <a:t>User prompt</a:t>
            </a:r>
          </a:p>
        </p:txBody>
      </p:sp>
      <p:sp>
        <p:nvSpPr>
          <p:cNvPr id="8" name="TextBox 7"/>
          <p:cNvSpPr txBox="1"/>
          <p:nvPr/>
        </p:nvSpPr>
        <p:spPr>
          <a:xfrm>
            <a:off x="731520" y="2468880"/>
            <a:ext cx="5852160" cy="2011680"/>
          </a:xfrm>
          <a:prstGeom prst="rect">
            <a:avLst/>
          </a:prstGeom>
          <a:noFill/>
        </p:spPr>
        <p:txBody>
          <a:bodyPr wrap="square" lIns="0" rIns="0" tIns="0" bIns="0" anchor="t">
            <a:spAutoFit/>
          </a:bodyPr>
          <a:lstStyle/>
          <a:p>
            <a:pPr algn="l"/>
            <a:r>
              <a:rPr sz="1500" b="0" i="1">
                <a:solidFill>
                  <a:srgbClr val="151B23"/>
                </a:solidFill>
                <a:latin typeface="Inter"/>
              </a:rPr>
              <a:t>"I'm preparing a grant proposal on exoplanet atmospheric characterization. Map the research landscape — what are the major subcommunities, which papers are foundational, where are the recent bridges between communities, and what am I missing?"</a:t>
            </a:r>
          </a:p>
        </p:txBody>
      </p:sp>
      <p:sp>
        <p:nvSpPr>
          <p:cNvPr id="9" name="TextBox 8"/>
          <p:cNvSpPr txBox="1"/>
          <p:nvPr/>
        </p:nvSpPr>
        <p:spPr>
          <a:xfrm>
            <a:off x="731520" y="4572000"/>
            <a:ext cx="5852160" cy="365760"/>
          </a:xfrm>
          <a:prstGeom prst="rect">
            <a:avLst/>
          </a:prstGeom>
          <a:noFill/>
        </p:spPr>
        <p:txBody>
          <a:bodyPr wrap="square" lIns="0" rIns="0" tIns="0" bIns="0" anchor="t">
            <a:spAutoFit/>
          </a:bodyPr>
          <a:lstStyle/>
          <a:p>
            <a:pPr algn="l"/>
            <a:r>
              <a:rPr sz="1400" b="1" i="0">
                <a:solidFill>
                  <a:srgbClr val="0B4A9E"/>
                </a:solidFill>
                <a:latin typeface="Inter"/>
              </a:rPr>
              <a:t>What the copilot needs</a:t>
            </a:r>
          </a:p>
        </p:txBody>
      </p:sp>
      <p:sp>
        <p:nvSpPr>
          <p:cNvPr id="10" name="TextBox 9"/>
          <p:cNvSpPr txBox="1"/>
          <p:nvPr/>
        </p:nvSpPr>
        <p:spPr>
          <a:xfrm>
            <a:off x="731520" y="5029200"/>
            <a:ext cx="5852160" cy="914400"/>
          </a:xfrm>
          <a:prstGeom prst="rect">
            <a:avLst/>
          </a:prstGeom>
          <a:noFill/>
        </p:spPr>
        <p:txBody>
          <a:bodyPr wrap="square" lIns="0" rIns="0" tIns="0" bIns="0" anchor="t">
            <a:spAutoFit/>
          </a:bodyPr>
          <a:lstStyle/>
          <a:p>
            <a:pPr algn="l"/>
            <a:r>
              <a:rPr sz="1300" b="0" i="0">
                <a:solidFill>
                  <a:srgbClr val="151B23"/>
                </a:solidFill>
                <a:latin typeface="Inter"/>
              </a:rPr>
              <a:t>Topical search · community structure · PageRank within community · temporal signal · bridge-paper detection · a memory to reason over.</a:t>
            </a:r>
          </a:p>
        </p:txBody>
      </p:sp>
      <p:sp>
        <p:nvSpPr>
          <p:cNvPr id="11" name="TextBox 10"/>
          <p:cNvSpPr txBox="1"/>
          <p:nvPr/>
        </p:nvSpPr>
        <p:spPr>
          <a:xfrm>
            <a:off x="7315200" y="1828800"/>
            <a:ext cx="4572000" cy="457200"/>
          </a:xfrm>
          <a:prstGeom prst="rect">
            <a:avLst/>
          </a:prstGeom>
          <a:noFill/>
        </p:spPr>
        <p:txBody>
          <a:bodyPr wrap="square" lIns="0" rIns="0" tIns="0" bIns="0" anchor="t">
            <a:spAutoFit/>
          </a:bodyPr>
          <a:lstStyle/>
          <a:p>
            <a:pPr algn="l"/>
            <a:r>
              <a:rPr sz="1800" b="1" i="0">
                <a:solidFill>
                  <a:srgbClr val="0B4A9E"/>
                </a:solidFill>
                <a:latin typeface="Inter"/>
              </a:rPr>
              <a:t>Tools invoked (order)</a:t>
            </a:r>
          </a:p>
        </p:txBody>
      </p:sp>
      <p:sp>
        <p:nvSpPr>
          <p:cNvPr id="12" name="Rectangle 11"/>
          <p:cNvSpPr/>
          <p:nvPr/>
        </p:nvSpPr>
        <p:spPr>
          <a:xfrm>
            <a:off x="7315200" y="2331720"/>
            <a:ext cx="457200" cy="25400"/>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2697480"/>
            <a:ext cx="274320" cy="365760"/>
          </a:xfrm>
          <a:prstGeom prst="rect">
            <a:avLst/>
          </a:prstGeom>
          <a:noFill/>
        </p:spPr>
        <p:txBody>
          <a:bodyPr wrap="square" lIns="0" rIns="0" tIns="0" bIns="0" anchor="t">
            <a:spAutoFit/>
          </a:bodyPr>
          <a:lstStyle/>
          <a:p>
            <a:pPr algn="ctr"/>
            <a:r>
              <a:rPr sz="1300" b="1" i="0">
                <a:solidFill>
                  <a:srgbClr val="1F6FEB"/>
                </a:solidFill>
                <a:latin typeface="Inter"/>
              </a:rPr>
              <a:t>1</a:t>
            </a:r>
          </a:p>
        </p:txBody>
      </p:sp>
      <p:sp>
        <p:nvSpPr>
          <p:cNvPr id="14" name="TextBox 13"/>
          <p:cNvSpPr txBox="1"/>
          <p:nvPr/>
        </p:nvSpPr>
        <p:spPr>
          <a:xfrm>
            <a:off x="7680960" y="2697480"/>
            <a:ext cx="2011680" cy="365760"/>
          </a:xfrm>
          <a:prstGeom prst="rect">
            <a:avLst/>
          </a:prstGeom>
          <a:noFill/>
        </p:spPr>
        <p:txBody>
          <a:bodyPr wrap="square" lIns="0" rIns="0" tIns="0" bIns="0" anchor="t">
            <a:spAutoFit/>
          </a:bodyPr>
          <a:lstStyle/>
          <a:p>
            <a:pPr algn="l"/>
            <a:r>
              <a:rPr sz="1300" b="1" i="0">
                <a:solidFill>
                  <a:srgbClr val="151B23"/>
                </a:solidFill>
                <a:latin typeface="Menlo"/>
              </a:rPr>
              <a:t>search</a:t>
            </a:r>
          </a:p>
        </p:txBody>
      </p:sp>
      <p:sp>
        <p:nvSpPr>
          <p:cNvPr id="15" name="TextBox 14"/>
          <p:cNvSpPr txBox="1"/>
          <p:nvPr/>
        </p:nvSpPr>
        <p:spPr>
          <a:xfrm>
            <a:off x="9692640" y="2697480"/>
            <a:ext cx="2286000" cy="365760"/>
          </a:xfrm>
          <a:prstGeom prst="rect">
            <a:avLst/>
          </a:prstGeom>
          <a:noFill/>
        </p:spPr>
        <p:txBody>
          <a:bodyPr wrap="square" lIns="0" rIns="0" tIns="0" bIns="0" anchor="t">
            <a:spAutoFit/>
          </a:bodyPr>
          <a:lstStyle/>
          <a:p>
            <a:pPr algn="l"/>
            <a:r>
              <a:rPr sz="1100" b="0" i="0">
                <a:solidFill>
                  <a:srgbClr val="4B5563"/>
                </a:solidFill>
                <a:latin typeface="Inter"/>
              </a:rPr>
              <a:t>broad hybrid hit on "exoplanet atmospheric characterization"</a:t>
            </a:r>
          </a:p>
        </p:txBody>
      </p:sp>
      <p:sp>
        <p:nvSpPr>
          <p:cNvPr id="16" name="TextBox 15"/>
          <p:cNvSpPr txBox="1"/>
          <p:nvPr/>
        </p:nvSpPr>
        <p:spPr>
          <a:xfrm>
            <a:off x="7315200" y="3200400"/>
            <a:ext cx="274320" cy="365760"/>
          </a:xfrm>
          <a:prstGeom prst="rect">
            <a:avLst/>
          </a:prstGeom>
          <a:noFill/>
        </p:spPr>
        <p:txBody>
          <a:bodyPr wrap="square" lIns="0" rIns="0" tIns="0" bIns="0" anchor="t">
            <a:spAutoFit/>
          </a:bodyPr>
          <a:lstStyle/>
          <a:p>
            <a:pPr algn="ctr"/>
            <a:r>
              <a:rPr sz="1300" b="1" i="0">
                <a:solidFill>
                  <a:srgbClr val="1F6FEB"/>
                </a:solidFill>
                <a:latin typeface="Inter"/>
              </a:rPr>
              <a:t>2</a:t>
            </a:r>
          </a:p>
        </p:txBody>
      </p:sp>
      <p:sp>
        <p:nvSpPr>
          <p:cNvPr id="17" name="TextBox 16"/>
          <p:cNvSpPr txBox="1"/>
          <p:nvPr/>
        </p:nvSpPr>
        <p:spPr>
          <a:xfrm>
            <a:off x="7680960" y="3200400"/>
            <a:ext cx="2011680" cy="365760"/>
          </a:xfrm>
          <a:prstGeom prst="rect">
            <a:avLst/>
          </a:prstGeom>
          <a:noFill/>
        </p:spPr>
        <p:txBody>
          <a:bodyPr wrap="square" lIns="0" rIns="0" tIns="0" bIns="0" anchor="t">
            <a:spAutoFit/>
          </a:bodyPr>
          <a:lstStyle/>
          <a:p>
            <a:pPr algn="l"/>
            <a:r>
              <a:rPr sz="1300" b="1" i="0">
                <a:solidFill>
                  <a:srgbClr val="151B23"/>
                </a:solidFill>
                <a:latin typeface="Menlo"/>
              </a:rPr>
              <a:t>graph_context</a:t>
            </a:r>
          </a:p>
        </p:txBody>
      </p:sp>
      <p:sp>
        <p:nvSpPr>
          <p:cNvPr id="18" name="TextBox 17"/>
          <p:cNvSpPr txBox="1"/>
          <p:nvPr/>
        </p:nvSpPr>
        <p:spPr>
          <a:xfrm>
            <a:off x="9692640" y="3200400"/>
            <a:ext cx="2286000" cy="365760"/>
          </a:xfrm>
          <a:prstGeom prst="rect">
            <a:avLst/>
          </a:prstGeom>
          <a:noFill/>
        </p:spPr>
        <p:txBody>
          <a:bodyPr wrap="square" lIns="0" rIns="0" tIns="0" bIns="0" anchor="t">
            <a:spAutoFit/>
          </a:bodyPr>
          <a:lstStyle/>
          <a:p>
            <a:pPr algn="l"/>
            <a:r>
              <a:rPr sz="1100" b="0" i="0">
                <a:solidFill>
                  <a:srgbClr val="4B5563"/>
                </a:solidFill>
                <a:latin typeface="Inter"/>
              </a:rPr>
              <a:t>pull community assignments + PageRank on top hits</a:t>
            </a:r>
          </a:p>
        </p:txBody>
      </p:sp>
      <p:sp>
        <p:nvSpPr>
          <p:cNvPr id="19" name="TextBox 18"/>
          <p:cNvSpPr txBox="1"/>
          <p:nvPr/>
        </p:nvSpPr>
        <p:spPr>
          <a:xfrm>
            <a:off x="7315200" y="3703320"/>
            <a:ext cx="274320" cy="365760"/>
          </a:xfrm>
          <a:prstGeom prst="rect">
            <a:avLst/>
          </a:prstGeom>
          <a:noFill/>
        </p:spPr>
        <p:txBody>
          <a:bodyPr wrap="square" lIns="0" rIns="0" tIns="0" bIns="0" anchor="t">
            <a:spAutoFit/>
          </a:bodyPr>
          <a:lstStyle/>
          <a:p>
            <a:pPr algn="ctr"/>
            <a:r>
              <a:rPr sz="1300" b="1" i="0">
                <a:solidFill>
                  <a:srgbClr val="1F6FEB"/>
                </a:solidFill>
                <a:latin typeface="Inter"/>
              </a:rPr>
              <a:t>3</a:t>
            </a:r>
          </a:p>
        </p:txBody>
      </p:sp>
      <p:sp>
        <p:nvSpPr>
          <p:cNvPr id="20" name="TextBox 19"/>
          <p:cNvSpPr txBox="1"/>
          <p:nvPr/>
        </p:nvSpPr>
        <p:spPr>
          <a:xfrm>
            <a:off x="7680960" y="3703320"/>
            <a:ext cx="2011680" cy="365760"/>
          </a:xfrm>
          <a:prstGeom prst="rect">
            <a:avLst/>
          </a:prstGeom>
          <a:noFill/>
        </p:spPr>
        <p:txBody>
          <a:bodyPr wrap="square" lIns="0" rIns="0" tIns="0" bIns="0" anchor="t">
            <a:spAutoFit/>
          </a:bodyPr>
          <a:lstStyle/>
          <a:p>
            <a:pPr algn="l"/>
            <a:r>
              <a:rPr sz="1300" b="1" i="0">
                <a:solidFill>
                  <a:srgbClr val="151B23"/>
                </a:solidFill>
                <a:latin typeface="Menlo"/>
              </a:rPr>
              <a:t>citation_similarity</a:t>
            </a:r>
          </a:p>
        </p:txBody>
      </p:sp>
      <p:sp>
        <p:nvSpPr>
          <p:cNvPr id="21" name="TextBox 20"/>
          <p:cNvSpPr txBox="1"/>
          <p:nvPr/>
        </p:nvSpPr>
        <p:spPr>
          <a:xfrm>
            <a:off x="9692640" y="3703320"/>
            <a:ext cx="2286000" cy="365760"/>
          </a:xfrm>
          <a:prstGeom prst="rect">
            <a:avLst/>
          </a:prstGeom>
          <a:noFill/>
        </p:spPr>
        <p:txBody>
          <a:bodyPr wrap="square" lIns="0" rIns="0" tIns="0" bIns="0" anchor="t">
            <a:spAutoFit/>
          </a:bodyPr>
          <a:lstStyle/>
          <a:p>
            <a:pPr algn="l"/>
            <a:r>
              <a:rPr sz="1100" b="0" i="0">
                <a:solidFill>
                  <a:srgbClr val="4B5563"/>
                </a:solidFill>
                <a:latin typeface="Inter"/>
              </a:rPr>
              <a:t>expand with co-citation bridges</a:t>
            </a:r>
          </a:p>
        </p:txBody>
      </p:sp>
      <p:sp>
        <p:nvSpPr>
          <p:cNvPr id="22" name="TextBox 21"/>
          <p:cNvSpPr txBox="1"/>
          <p:nvPr/>
        </p:nvSpPr>
        <p:spPr>
          <a:xfrm>
            <a:off x="7315200" y="4206240"/>
            <a:ext cx="274320" cy="365760"/>
          </a:xfrm>
          <a:prstGeom prst="rect">
            <a:avLst/>
          </a:prstGeom>
          <a:noFill/>
        </p:spPr>
        <p:txBody>
          <a:bodyPr wrap="square" lIns="0" rIns="0" tIns="0" bIns="0" anchor="t">
            <a:spAutoFit/>
          </a:bodyPr>
          <a:lstStyle/>
          <a:p>
            <a:pPr algn="ctr"/>
            <a:r>
              <a:rPr sz="1300" b="1" i="0">
                <a:solidFill>
                  <a:srgbClr val="1F6FEB"/>
                </a:solidFill>
                <a:latin typeface="Inter"/>
              </a:rPr>
              <a:t>4</a:t>
            </a:r>
          </a:p>
        </p:txBody>
      </p:sp>
      <p:sp>
        <p:nvSpPr>
          <p:cNvPr id="23" name="TextBox 22"/>
          <p:cNvSpPr txBox="1"/>
          <p:nvPr/>
        </p:nvSpPr>
        <p:spPr>
          <a:xfrm>
            <a:off x="7680960" y="4206240"/>
            <a:ext cx="2011680" cy="365760"/>
          </a:xfrm>
          <a:prstGeom prst="rect">
            <a:avLst/>
          </a:prstGeom>
          <a:noFill/>
        </p:spPr>
        <p:txBody>
          <a:bodyPr wrap="square" lIns="0" rIns="0" tIns="0" bIns="0" anchor="t">
            <a:spAutoFit/>
          </a:bodyPr>
          <a:lstStyle/>
          <a:p>
            <a:pPr algn="l"/>
            <a:r>
              <a:rPr sz="1300" b="1" i="0">
                <a:solidFill>
                  <a:srgbClr val="151B23"/>
                </a:solidFill>
                <a:latin typeface="Menlo"/>
              </a:rPr>
              <a:t>temporal_evolution</a:t>
            </a:r>
          </a:p>
        </p:txBody>
      </p:sp>
      <p:sp>
        <p:nvSpPr>
          <p:cNvPr id="24" name="TextBox 23"/>
          <p:cNvSpPr txBox="1"/>
          <p:nvPr/>
        </p:nvSpPr>
        <p:spPr>
          <a:xfrm>
            <a:off x="9692640" y="4206240"/>
            <a:ext cx="2286000" cy="365760"/>
          </a:xfrm>
          <a:prstGeom prst="rect">
            <a:avLst/>
          </a:prstGeom>
          <a:noFill/>
        </p:spPr>
        <p:txBody>
          <a:bodyPr wrap="square" lIns="0" rIns="0" tIns="0" bIns="0" anchor="t">
            <a:spAutoFit/>
          </a:bodyPr>
          <a:lstStyle/>
          <a:p>
            <a:pPr algn="l"/>
            <a:r>
              <a:rPr sz="1100" b="0" i="0">
                <a:solidFill>
                  <a:srgbClr val="4B5563"/>
                </a:solidFill>
                <a:latin typeface="Inter"/>
              </a:rPr>
              <a:t>see which communities are growing</a:t>
            </a:r>
          </a:p>
        </p:txBody>
      </p:sp>
      <p:sp>
        <p:nvSpPr>
          <p:cNvPr id="25" name="TextBox 24"/>
          <p:cNvSpPr txBox="1"/>
          <p:nvPr/>
        </p:nvSpPr>
        <p:spPr>
          <a:xfrm>
            <a:off x="7315200" y="4709160"/>
            <a:ext cx="274320" cy="365760"/>
          </a:xfrm>
          <a:prstGeom prst="rect">
            <a:avLst/>
          </a:prstGeom>
          <a:noFill/>
        </p:spPr>
        <p:txBody>
          <a:bodyPr wrap="square" lIns="0" rIns="0" tIns="0" bIns="0" anchor="t">
            <a:spAutoFit/>
          </a:bodyPr>
          <a:lstStyle/>
          <a:p>
            <a:pPr algn="ctr"/>
            <a:r>
              <a:rPr sz="1300" b="1" i="0">
                <a:solidFill>
                  <a:srgbClr val="1F6FEB"/>
                </a:solidFill>
                <a:latin typeface="Inter"/>
              </a:rPr>
              <a:t>5</a:t>
            </a:r>
          </a:p>
        </p:txBody>
      </p:sp>
      <p:sp>
        <p:nvSpPr>
          <p:cNvPr id="26" name="TextBox 25"/>
          <p:cNvSpPr txBox="1"/>
          <p:nvPr/>
        </p:nvSpPr>
        <p:spPr>
          <a:xfrm>
            <a:off x="7680960" y="4709160"/>
            <a:ext cx="2011680" cy="365760"/>
          </a:xfrm>
          <a:prstGeom prst="rect">
            <a:avLst/>
          </a:prstGeom>
          <a:noFill/>
        </p:spPr>
        <p:txBody>
          <a:bodyPr wrap="square" lIns="0" rIns="0" tIns="0" bIns="0" anchor="t">
            <a:spAutoFit/>
          </a:bodyPr>
          <a:lstStyle/>
          <a:p>
            <a:pPr algn="l"/>
            <a:r>
              <a:rPr sz="1300" b="1" i="0">
                <a:solidFill>
                  <a:srgbClr val="151B23"/>
                </a:solidFill>
                <a:latin typeface="Menlo"/>
              </a:rPr>
              <a:t>find_gaps</a:t>
            </a:r>
          </a:p>
        </p:txBody>
      </p:sp>
      <p:sp>
        <p:nvSpPr>
          <p:cNvPr id="27" name="TextBox 26"/>
          <p:cNvSpPr txBox="1"/>
          <p:nvPr/>
        </p:nvSpPr>
        <p:spPr>
          <a:xfrm>
            <a:off x="9692640" y="4709160"/>
            <a:ext cx="2286000" cy="365760"/>
          </a:xfrm>
          <a:prstGeom prst="rect">
            <a:avLst/>
          </a:prstGeom>
          <a:noFill/>
        </p:spPr>
        <p:txBody>
          <a:bodyPr wrap="square" lIns="0" rIns="0" tIns="0" bIns="0" anchor="t">
            <a:spAutoFit/>
          </a:bodyPr>
          <a:lstStyle/>
          <a:p>
            <a:pPr algn="l"/>
            <a:r>
              <a:rPr sz="1100" b="0" i="0">
                <a:solidFill>
                  <a:srgbClr val="4B5563"/>
                </a:solidFill>
                <a:latin typeface="Inter"/>
              </a:rPr>
              <a:t>bridge papers between working-set communities</a:t>
            </a:r>
          </a:p>
        </p:txBody>
      </p:sp>
      <p:sp>
        <p:nvSpPr>
          <p:cNvPr id="28" name="TextBox 27"/>
          <p:cNvSpPr txBox="1"/>
          <p:nvPr/>
        </p:nvSpPr>
        <p:spPr>
          <a:xfrm>
            <a:off x="7315200" y="5212080"/>
            <a:ext cx="274320" cy="365760"/>
          </a:xfrm>
          <a:prstGeom prst="rect">
            <a:avLst/>
          </a:prstGeom>
          <a:noFill/>
        </p:spPr>
        <p:txBody>
          <a:bodyPr wrap="square" lIns="0" rIns="0" tIns="0" bIns="0" anchor="t">
            <a:spAutoFit/>
          </a:bodyPr>
          <a:lstStyle/>
          <a:p>
            <a:pPr algn="ctr"/>
            <a:r>
              <a:rPr sz="1300" b="1" i="0">
                <a:solidFill>
                  <a:srgbClr val="1F6FEB"/>
                </a:solidFill>
                <a:latin typeface="Inter"/>
              </a:rPr>
              <a:t>6</a:t>
            </a:r>
          </a:p>
        </p:txBody>
      </p:sp>
      <p:sp>
        <p:nvSpPr>
          <p:cNvPr id="29" name="TextBox 28"/>
          <p:cNvSpPr txBox="1"/>
          <p:nvPr/>
        </p:nvSpPr>
        <p:spPr>
          <a:xfrm>
            <a:off x="7680960" y="5212080"/>
            <a:ext cx="2011680" cy="365760"/>
          </a:xfrm>
          <a:prstGeom prst="rect">
            <a:avLst/>
          </a:prstGeom>
          <a:noFill/>
        </p:spPr>
        <p:txBody>
          <a:bodyPr wrap="square" lIns="0" rIns="0" tIns="0" bIns="0" anchor="t">
            <a:spAutoFit/>
          </a:bodyPr>
          <a:lstStyle/>
          <a:p>
            <a:pPr algn="l"/>
            <a:r>
              <a:rPr sz="1300" b="1" i="0">
                <a:solidFill>
                  <a:srgbClr val="151B23"/>
                </a:solidFill>
                <a:latin typeface="Menlo"/>
              </a:rPr>
              <a:t>read_paper</a:t>
            </a:r>
          </a:p>
        </p:txBody>
      </p:sp>
      <p:sp>
        <p:nvSpPr>
          <p:cNvPr id="30" name="TextBox 29"/>
          <p:cNvSpPr txBox="1"/>
          <p:nvPr/>
        </p:nvSpPr>
        <p:spPr>
          <a:xfrm>
            <a:off x="9692640" y="5212080"/>
            <a:ext cx="2286000" cy="365760"/>
          </a:xfrm>
          <a:prstGeom prst="rect">
            <a:avLst/>
          </a:prstGeom>
          <a:noFill/>
        </p:spPr>
        <p:txBody>
          <a:bodyPr wrap="square" lIns="0" rIns="0" tIns="0" bIns="0" anchor="t">
            <a:spAutoFit/>
          </a:bodyPr>
          <a:lstStyle/>
          <a:p>
            <a:pPr algn="l"/>
            <a:r>
              <a:rPr sz="1100" b="0" i="0">
                <a:solidFill>
                  <a:srgbClr val="4B5563"/>
                </a:solidFill>
                <a:latin typeface="Inter"/>
              </a:rPr>
              <a:t>deep-dive on 3 foundational papers</a:t>
            </a:r>
          </a:p>
        </p:txBody>
      </p:sp>
      <p:sp>
        <p:nvSpPr>
          <p:cNvPr id="31" name="TextBox 30"/>
          <p:cNvSpPr txBox="1"/>
          <p:nvPr/>
        </p:nvSpPr>
        <p:spPr>
          <a:xfrm>
            <a:off x="457200" y="6492240"/>
            <a:ext cx="9144000" cy="274320"/>
          </a:xfrm>
          <a:prstGeom prst="rect">
            <a:avLst/>
          </a:prstGeom>
          <a:noFill/>
        </p:spPr>
        <p:txBody>
          <a:bodyPr wrap="square" lIns="0" rIns="0" tIns="0" bIns="0" anchor="t">
            <a:spAutoFit/>
          </a:bodyPr>
          <a:lstStyle/>
          <a:p>
            <a:pPr algn="l"/>
            <a:r>
              <a:rPr sz="1000" b="0" i="0">
                <a:solidFill>
                  <a:srgbClr val="6B7280"/>
                </a:solidFill>
                <a:latin typeface="Inter"/>
              </a:rPr>
              <a:t>Stephanie Jarmak  ·  MLOps Community  ·  Making Scientific Knowledge Navigable for Agents</a:t>
            </a:r>
          </a:p>
        </p:txBody>
      </p:sp>
      <p:sp>
        <p:nvSpPr>
          <p:cNvPr id="32" name="TextBox 31"/>
          <p:cNvSpPr txBox="1"/>
          <p:nvPr/>
        </p:nvSpPr>
        <p:spPr>
          <a:xfrm>
            <a:off x="11247120" y="6492240"/>
            <a:ext cx="731520" cy="274320"/>
          </a:xfrm>
          <a:prstGeom prst="rect">
            <a:avLst/>
          </a:prstGeom>
          <a:noFill/>
        </p:spPr>
        <p:txBody>
          <a:bodyPr wrap="square" lIns="0" rIns="0" tIns="0" bIns="0" anchor="t">
            <a:spAutoFit/>
          </a:bodyPr>
          <a:lstStyle/>
          <a:p>
            <a:pPr algn="r"/>
            <a:r>
              <a:rPr sz="1000" b="0" i="0">
                <a:solidFill>
                  <a:srgbClr val="6B7280"/>
                </a:solidFill>
                <a:latin typeface="Inter"/>
              </a:rPr>
              <a:t>20 / 30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1247120" cy="731520"/>
          </a:xfrm>
          <a:prstGeom prst="rect">
            <a:avLst/>
          </a:prstGeom>
          <a:noFill/>
        </p:spPr>
        <p:txBody>
          <a:bodyPr wrap="square" lIns="0" rIns="0" tIns="0" bIns="0" anchor="t">
            <a:spAutoFit/>
          </a:bodyPr>
          <a:lstStyle/>
          <a:p>
            <a:pPr algn="l"/>
            <a:r>
              <a:rPr sz="3200" b="1" i="0">
                <a:solidFill>
                  <a:srgbClr val="151B23"/>
                </a:solidFill>
                <a:latin typeface="Inter"/>
              </a:rPr>
              <a:t>Agent trace: tool calls visualized over time</a:t>
            </a:r>
          </a:p>
        </p:txBody>
      </p:sp>
      <p:sp>
        <p:nvSpPr>
          <p:cNvPr id="4" name="Rectangle 3"/>
          <p:cNvSpPr/>
          <p:nvPr/>
        </p:nvSpPr>
        <p:spPr>
          <a:xfrm>
            <a:off x="457200" y="1234440"/>
            <a:ext cx="731520" cy="25400"/>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11247120" cy="457200"/>
          </a:xfrm>
          <a:prstGeom prst="rect">
            <a:avLst/>
          </a:prstGeom>
          <a:noFill/>
        </p:spPr>
        <p:txBody>
          <a:bodyPr wrap="square" lIns="0" rIns="0" tIns="0" bIns="0" anchor="t">
            <a:spAutoFit/>
          </a:bodyPr>
          <a:lstStyle/>
          <a:p>
            <a:pPr algn="l"/>
            <a:r>
              <a:rPr sz="1600" b="0" i="1">
                <a:solidFill>
                  <a:srgbClr val="4B5563"/>
                </a:solidFill>
                <a:latin typeface="Inter"/>
              </a:rPr>
              <a:t>web/viz/agent_trace — live narration of the MCP session</a:t>
            </a:r>
          </a:p>
        </p:txBody>
      </p:sp>
      <p:pic>
        <p:nvPicPr>
          <p:cNvPr id="6" name="Picture 5" descr="agent_trace.png"/>
          <p:cNvPicPr>
            <a:picLocks noChangeAspect="1"/>
          </p:cNvPicPr>
          <p:nvPr/>
        </p:nvPicPr>
        <p:blipFill>
          <a:blip r:embed="rId2"/>
          <a:stretch>
            <a:fillRect/>
          </a:stretch>
        </p:blipFill>
        <p:spPr>
          <a:xfrm>
            <a:off x="731520" y="1737360"/>
            <a:ext cx="10698480" cy="6686550"/>
          </a:xfrm>
          <a:prstGeom prst="rect">
            <a:avLst/>
          </a:prstGeom>
        </p:spPr>
      </p:pic>
      <p:sp>
        <p:nvSpPr>
          <p:cNvPr id="7" name="TextBox 6"/>
          <p:cNvSpPr txBox="1"/>
          <p:nvPr/>
        </p:nvSpPr>
        <p:spPr>
          <a:xfrm>
            <a:off x="457200" y="6492240"/>
            <a:ext cx="9144000" cy="274320"/>
          </a:xfrm>
          <a:prstGeom prst="rect">
            <a:avLst/>
          </a:prstGeom>
          <a:noFill/>
        </p:spPr>
        <p:txBody>
          <a:bodyPr wrap="square" lIns="0" rIns="0" tIns="0" bIns="0" anchor="t">
            <a:spAutoFit/>
          </a:bodyPr>
          <a:lstStyle/>
          <a:p>
            <a:pPr algn="l"/>
            <a:r>
              <a:rPr sz="1000" b="0" i="0">
                <a:solidFill>
                  <a:srgbClr val="6B7280"/>
                </a:solidFill>
                <a:latin typeface="Inter"/>
              </a:rPr>
              <a:t>Stephanie Jarmak  ·  MLOps Community  ·  Making Scientific Knowledge Navigable for Agents</a:t>
            </a:r>
          </a:p>
        </p:txBody>
      </p:sp>
      <p:sp>
        <p:nvSpPr>
          <p:cNvPr id="8" name="TextBox 7"/>
          <p:cNvSpPr txBox="1"/>
          <p:nvPr/>
        </p:nvSpPr>
        <p:spPr>
          <a:xfrm>
            <a:off x="11247120" y="6492240"/>
            <a:ext cx="731520" cy="274320"/>
          </a:xfrm>
          <a:prstGeom prst="rect">
            <a:avLst/>
          </a:prstGeom>
          <a:noFill/>
        </p:spPr>
        <p:txBody>
          <a:bodyPr wrap="square" lIns="0" rIns="0" tIns="0" bIns="0" anchor="t">
            <a:spAutoFit/>
          </a:bodyPr>
          <a:lstStyle/>
          <a:p>
            <a:pPr algn="r"/>
            <a:r>
              <a:rPr sz="1000" b="0" i="0">
                <a:solidFill>
                  <a:srgbClr val="6B7280"/>
                </a:solidFill>
                <a:latin typeface="Inter"/>
              </a:rPr>
              <a:t>21 / 30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1247120" cy="731520"/>
          </a:xfrm>
          <a:prstGeom prst="rect">
            <a:avLst/>
          </a:prstGeom>
          <a:noFill/>
        </p:spPr>
        <p:txBody>
          <a:bodyPr wrap="square" lIns="0" rIns="0" tIns="0" bIns="0" anchor="t">
            <a:spAutoFit/>
          </a:bodyPr>
          <a:lstStyle/>
          <a:p>
            <a:pPr algn="l"/>
            <a:r>
              <a:rPr sz="3200" b="1" i="0">
                <a:solidFill>
                  <a:srgbClr val="151B23"/>
                </a:solidFill>
                <a:latin typeface="Inter"/>
              </a:rPr>
              <a:t>UMAP of 32M INDUS embeddings — the research landscape the agent navigates</a:t>
            </a:r>
          </a:p>
        </p:txBody>
      </p:sp>
      <p:sp>
        <p:nvSpPr>
          <p:cNvPr id="4" name="Rectangle 3"/>
          <p:cNvSpPr/>
          <p:nvPr/>
        </p:nvSpPr>
        <p:spPr>
          <a:xfrm>
            <a:off x="457200" y="1234440"/>
            <a:ext cx="731520" cy="25400"/>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11247120" cy="457200"/>
          </a:xfrm>
          <a:prstGeom prst="rect">
            <a:avLst/>
          </a:prstGeom>
          <a:noFill/>
        </p:spPr>
        <p:txBody>
          <a:bodyPr wrap="square" lIns="0" rIns="0" tIns="0" bIns="0" anchor="t">
            <a:spAutoFit/>
          </a:bodyPr>
          <a:lstStyle/>
          <a:p>
            <a:pPr algn="l"/>
            <a:r>
              <a:rPr sz="1600" b="0" i="1">
                <a:solidFill>
                  <a:srgbClr val="4B5563"/>
                </a:solidFill>
                <a:latin typeface="Inter"/>
              </a:rPr>
              <a:t>Communities color-coded · brightness = PageRank · hover for bibcode</a:t>
            </a:r>
          </a:p>
        </p:txBody>
      </p:sp>
      <p:pic>
        <p:nvPicPr>
          <p:cNvPr id="6" name="Picture 5" descr="umap_browser.png"/>
          <p:cNvPicPr>
            <a:picLocks noChangeAspect="1"/>
          </p:cNvPicPr>
          <p:nvPr/>
        </p:nvPicPr>
        <p:blipFill>
          <a:blip r:embed="rId2"/>
          <a:stretch>
            <a:fillRect/>
          </a:stretch>
        </p:blipFill>
        <p:spPr>
          <a:xfrm>
            <a:off x="365760" y="1645920"/>
            <a:ext cx="11430000" cy="7143750"/>
          </a:xfrm>
          <a:prstGeom prst="rect">
            <a:avLst/>
          </a:prstGeom>
        </p:spPr>
      </p:pic>
      <p:sp>
        <p:nvSpPr>
          <p:cNvPr id="7" name="TextBox 6"/>
          <p:cNvSpPr txBox="1"/>
          <p:nvPr/>
        </p:nvSpPr>
        <p:spPr>
          <a:xfrm>
            <a:off x="457200" y="6492240"/>
            <a:ext cx="9144000" cy="274320"/>
          </a:xfrm>
          <a:prstGeom prst="rect">
            <a:avLst/>
          </a:prstGeom>
          <a:noFill/>
        </p:spPr>
        <p:txBody>
          <a:bodyPr wrap="square" lIns="0" rIns="0" tIns="0" bIns="0" anchor="t">
            <a:spAutoFit/>
          </a:bodyPr>
          <a:lstStyle/>
          <a:p>
            <a:pPr algn="l"/>
            <a:r>
              <a:rPr sz="1000" b="0" i="0">
                <a:solidFill>
                  <a:srgbClr val="6B7280"/>
                </a:solidFill>
                <a:latin typeface="Inter"/>
              </a:rPr>
              <a:t>Stephanie Jarmak  ·  MLOps Community  ·  Making Scientific Knowledge Navigable for Agents</a:t>
            </a:r>
          </a:p>
        </p:txBody>
      </p:sp>
      <p:sp>
        <p:nvSpPr>
          <p:cNvPr id="8" name="TextBox 7"/>
          <p:cNvSpPr txBox="1"/>
          <p:nvPr/>
        </p:nvSpPr>
        <p:spPr>
          <a:xfrm>
            <a:off x="11247120" y="6492240"/>
            <a:ext cx="731520" cy="274320"/>
          </a:xfrm>
          <a:prstGeom prst="rect">
            <a:avLst/>
          </a:prstGeom>
          <a:noFill/>
        </p:spPr>
        <p:txBody>
          <a:bodyPr wrap="square" lIns="0" rIns="0" tIns="0" bIns="0" anchor="t">
            <a:spAutoFit/>
          </a:bodyPr>
          <a:lstStyle/>
          <a:p>
            <a:pPr algn="r"/>
            <a:r>
              <a:rPr sz="1000" b="0" i="0">
                <a:solidFill>
                  <a:srgbClr val="6B7280"/>
                </a:solidFill>
                <a:latin typeface="Inter"/>
              </a:rPr>
              <a:t>22 / 30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1247120" cy="731520"/>
          </a:xfrm>
          <a:prstGeom prst="rect">
            <a:avLst/>
          </a:prstGeom>
          <a:noFill/>
        </p:spPr>
        <p:txBody>
          <a:bodyPr wrap="square" lIns="0" rIns="0" tIns="0" bIns="0" anchor="t">
            <a:spAutoFit/>
          </a:bodyPr>
          <a:lstStyle/>
          <a:p>
            <a:pPr algn="l"/>
            <a:r>
              <a:rPr sz="3200" b="1" i="0">
                <a:solidFill>
                  <a:srgbClr val="151B23"/>
                </a:solidFill>
                <a:latin typeface="Inter"/>
              </a:rPr>
              <a:t>Citation flow between communities</a:t>
            </a:r>
          </a:p>
        </p:txBody>
      </p:sp>
      <p:sp>
        <p:nvSpPr>
          <p:cNvPr id="4" name="Rectangle 3"/>
          <p:cNvSpPr/>
          <p:nvPr/>
        </p:nvSpPr>
        <p:spPr>
          <a:xfrm>
            <a:off x="457200" y="1234440"/>
            <a:ext cx="731520" cy="25400"/>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11247120" cy="457200"/>
          </a:xfrm>
          <a:prstGeom prst="rect">
            <a:avLst/>
          </a:prstGeom>
          <a:noFill/>
        </p:spPr>
        <p:txBody>
          <a:bodyPr wrap="square" lIns="0" rIns="0" tIns="0" bIns="0" anchor="t">
            <a:spAutoFit/>
          </a:bodyPr>
          <a:lstStyle/>
          <a:p>
            <a:pPr algn="l"/>
            <a:r>
              <a:rPr sz="1600" b="0" i="1">
                <a:solidFill>
                  <a:srgbClr val="4B5563"/>
                </a:solidFill>
                <a:latin typeface="Inter"/>
              </a:rPr>
              <a:t>Sankey: how citations move across Leiden communities · Heatmap: 199×199 community co-citation</a:t>
            </a:r>
          </a:p>
        </p:txBody>
      </p:sp>
      <p:pic>
        <p:nvPicPr>
          <p:cNvPr id="6" name="Picture 5" descr="sankey.png"/>
          <p:cNvPicPr>
            <a:picLocks noChangeAspect="1"/>
          </p:cNvPicPr>
          <p:nvPr/>
        </p:nvPicPr>
        <p:blipFill>
          <a:blip r:embed="rId2"/>
          <a:stretch>
            <a:fillRect/>
          </a:stretch>
        </p:blipFill>
        <p:spPr>
          <a:xfrm>
            <a:off x="274320" y="1828800"/>
            <a:ext cx="5852160" cy="3657600"/>
          </a:xfrm>
          <a:prstGeom prst="rect">
            <a:avLst/>
          </a:prstGeom>
        </p:spPr>
      </p:pic>
      <p:pic>
        <p:nvPicPr>
          <p:cNvPr id="7" name="Picture 6" descr="heatmap.png"/>
          <p:cNvPicPr>
            <a:picLocks noChangeAspect="1"/>
          </p:cNvPicPr>
          <p:nvPr/>
        </p:nvPicPr>
        <p:blipFill>
          <a:blip r:embed="rId3"/>
          <a:stretch>
            <a:fillRect/>
          </a:stretch>
        </p:blipFill>
        <p:spPr>
          <a:xfrm>
            <a:off x="6309360" y="1828800"/>
            <a:ext cx="5669280" cy="3543300"/>
          </a:xfrm>
          <a:prstGeom prst="rect">
            <a:avLst/>
          </a:prstGeom>
        </p:spPr>
      </p:pic>
      <p:sp>
        <p:nvSpPr>
          <p:cNvPr id="8" name="TextBox 7"/>
          <p:cNvSpPr txBox="1"/>
          <p:nvPr/>
        </p:nvSpPr>
        <p:spPr>
          <a:xfrm>
            <a:off x="457200" y="6126480"/>
            <a:ext cx="11247120" cy="365760"/>
          </a:xfrm>
          <a:prstGeom prst="rect">
            <a:avLst/>
          </a:prstGeom>
          <a:noFill/>
        </p:spPr>
        <p:txBody>
          <a:bodyPr wrap="square" lIns="0" rIns="0" tIns="0" bIns="0" anchor="t">
            <a:spAutoFit/>
          </a:bodyPr>
          <a:lstStyle/>
          <a:p>
            <a:pPr algn="ctr"/>
            <a:r>
              <a:rPr sz="1200" b="0" i="1">
                <a:solidFill>
                  <a:srgbClr val="4B5563"/>
                </a:solidFill>
                <a:latin typeface="Inter"/>
              </a:rPr>
              <a:t>These are the structural views an agent reasons over — not visually, but as graph edges and community IDs.</a:t>
            </a:r>
          </a:p>
        </p:txBody>
      </p:sp>
      <p:sp>
        <p:nvSpPr>
          <p:cNvPr id="9" name="TextBox 8"/>
          <p:cNvSpPr txBox="1"/>
          <p:nvPr/>
        </p:nvSpPr>
        <p:spPr>
          <a:xfrm>
            <a:off x="457200" y="6492240"/>
            <a:ext cx="9144000" cy="274320"/>
          </a:xfrm>
          <a:prstGeom prst="rect">
            <a:avLst/>
          </a:prstGeom>
          <a:noFill/>
        </p:spPr>
        <p:txBody>
          <a:bodyPr wrap="square" lIns="0" rIns="0" tIns="0" bIns="0" anchor="t">
            <a:spAutoFit/>
          </a:bodyPr>
          <a:lstStyle/>
          <a:p>
            <a:pPr algn="l"/>
            <a:r>
              <a:rPr sz="1000" b="0" i="0">
                <a:solidFill>
                  <a:srgbClr val="6B7280"/>
                </a:solidFill>
                <a:latin typeface="Inter"/>
              </a:rPr>
              <a:t>Stephanie Jarmak  ·  MLOps Community  ·  Making Scientific Knowledge Navigable for Agents</a:t>
            </a:r>
          </a:p>
        </p:txBody>
      </p:sp>
      <p:sp>
        <p:nvSpPr>
          <p:cNvPr id="10" name="TextBox 9"/>
          <p:cNvSpPr txBox="1"/>
          <p:nvPr/>
        </p:nvSpPr>
        <p:spPr>
          <a:xfrm>
            <a:off x="11247120" y="6492240"/>
            <a:ext cx="731520" cy="274320"/>
          </a:xfrm>
          <a:prstGeom prst="rect">
            <a:avLst/>
          </a:prstGeom>
          <a:noFill/>
        </p:spPr>
        <p:txBody>
          <a:bodyPr wrap="square" lIns="0" rIns="0" tIns="0" bIns="0" anchor="t">
            <a:spAutoFit/>
          </a:bodyPr>
          <a:lstStyle/>
          <a:p>
            <a:pPr algn="r"/>
            <a:r>
              <a:rPr sz="1000" b="0" i="0">
                <a:solidFill>
                  <a:srgbClr val="6B7280"/>
                </a:solidFill>
                <a:latin typeface="Inter"/>
              </a:rPr>
              <a:t>23 / 30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1247120" cy="731520"/>
          </a:xfrm>
          <a:prstGeom prst="rect">
            <a:avLst/>
          </a:prstGeom>
          <a:noFill/>
        </p:spPr>
        <p:txBody>
          <a:bodyPr wrap="square" lIns="0" rIns="0" tIns="0" bIns="0" anchor="t">
            <a:spAutoFit/>
          </a:bodyPr>
          <a:lstStyle/>
          <a:p>
            <a:pPr algn="l"/>
            <a:r>
              <a:rPr sz="3200" b="1" i="0">
                <a:solidFill>
                  <a:srgbClr val="151B23"/>
                </a:solidFill>
                <a:latin typeface="Inter"/>
              </a:rPr>
              <a:t>Retrieval evaluation — and a surprise</a:t>
            </a:r>
          </a:p>
        </p:txBody>
      </p:sp>
      <p:sp>
        <p:nvSpPr>
          <p:cNvPr id="4" name="Rectangle 3"/>
          <p:cNvSpPr/>
          <p:nvPr/>
        </p:nvSpPr>
        <p:spPr>
          <a:xfrm>
            <a:off x="457200" y="1234440"/>
            <a:ext cx="731520" cy="25400"/>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11247120" cy="457200"/>
          </a:xfrm>
          <a:prstGeom prst="rect">
            <a:avLst/>
          </a:prstGeom>
          <a:noFill/>
        </p:spPr>
        <p:txBody>
          <a:bodyPr wrap="square" lIns="0" rIns="0" tIns="0" bIns="0" anchor="t">
            <a:spAutoFit/>
          </a:bodyPr>
          <a:lstStyle/>
          <a:p>
            <a:pPr algn="l"/>
            <a:r>
              <a:rPr sz="1600" b="0" i="1">
                <a:solidFill>
                  <a:srgbClr val="4B5563"/>
                </a:solidFill>
                <a:latin typeface="Inter"/>
              </a:rPr>
              <a:t>50 queries · citation-based ground truth · latest rebaseline</a:t>
            </a:r>
          </a:p>
        </p:txBody>
      </p:sp>
      <p:pic>
        <p:nvPicPr>
          <p:cNvPr id="6" name="Picture 5" descr="retrieval_eval.png"/>
          <p:cNvPicPr>
            <a:picLocks noChangeAspect="1"/>
          </p:cNvPicPr>
          <p:nvPr/>
        </p:nvPicPr>
        <p:blipFill>
          <a:blip r:embed="rId2"/>
          <a:stretch>
            <a:fillRect/>
          </a:stretch>
        </p:blipFill>
        <p:spPr>
          <a:xfrm>
            <a:off x="1737360" y="1737360"/>
            <a:ext cx="8686800" cy="5212080"/>
          </a:xfrm>
          <a:prstGeom prst="rect">
            <a:avLst/>
          </a:prstGeom>
        </p:spPr>
      </p:pic>
      <p:sp>
        <p:nvSpPr>
          <p:cNvPr id="7" name="TextBox 6"/>
          <p:cNvSpPr txBox="1"/>
          <p:nvPr/>
        </p:nvSpPr>
        <p:spPr>
          <a:xfrm>
            <a:off x="731520" y="5760720"/>
            <a:ext cx="10789920" cy="274320"/>
          </a:xfrm>
          <a:prstGeom prst="rect">
            <a:avLst/>
          </a:prstGeom>
          <a:noFill/>
        </p:spPr>
        <p:txBody>
          <a:bodyPr wrap="square" lIns="0" rIns="0" tIns="0" bIns="0" anchor="t">
            <a:spAutoFit/>
          </a:bodyPr>
          <a:lstStyle/>
          <a:p>
            <a:pPr algn="l"/>
            <a:r>
              <a:rPr sz="1200" b="0" i="0">
                <a:solidFill>
                  <a:srgbClr val="4B5563"/>
                </a:solidFill>
                <a:latin typeface="Inter"/>
              </a:rPr>
              <a:t>• Nomic (general-purpose) beats INDUS (domain-tuned) on this benchmark — p=0.019</a:t>
            </a:r>
          </a:p>
        </p:txBody>
      </p:sp>
      <p:sp>
        <p:nvSpPr>
          <p:cNvPr id="8" name="TextBox 7"/>
          <p:cNvSpPr txBox="1"/>
          <p:nvPr/>
        </p:nvSpPr>
        <p:spPr>
          <a:xfrm>
            <a:off x="731520" y="6053328"/>
            <a:ext cx="10789920" cy="274320"/>
          </a:xfrm>
          <a:prstGeom prst="rect">
            <a:avLst/>
          </a:prstGeom>
          <a:noFill/>
        </p:spPr>
        <p:txBody>
          <a:bodyPr wrap="square" lIns="0" rIns="0" tIns="0" bIns="0" anchor="t">
            <a:spAutoFit/>
          </a:bodyPr>
          <a:lstStyle/>
          <a:p>
            <a:pPr algn="l"/>
            <a:r>
              <a:rPr sz="1200" b="0" i="0">
                <a:solidFill>
                  <a:srgbClr val="4B5563"/>
                </a:solidFill>
                <a:latin typeface="Inter"/>
              </a:rPr>
              <a:t>• Hybrid adds no lift on the 10K sample: BM25 returns &lt;12% of queries due to AND-logic</a:t>
            </a:r>
          </a:p>
        </p:txBody>
      </p:sp>
      <p:sp>
        <p:nvSpPr>
          <p:cNvPr id="9" name="TextBox 8"/>
          <p:cNvSpPr txBox="1"/>
          <p:nvPr/>
        </p:nvSpPr>
        <p:spPr>
          <a:xfrm>
            <a:off x="731520" y="6345936"/>
            <a:ext cx="10789920" cy="274320"/>
          </a:xfrm>
          <a:prstGeom prst="rect">
            <a:avLst/>
          </a:prstGeom>
          <a:noFill/>
        </p:spPr>
        <p:txBody>
          <a:bodyPr wrap="square" lIns="0" rIns="0" tIns="0" bIns="0" anchor="t">
            <a:spAutoFit/>
          </a:bodyPr>
          <a:lstStyle/>
          <a:p>
            <a:pPr algn="l"/>
            <a:r>
              <a:rPr sz="1200" b="0" i="0">
                <a:solidFill>
                  <a:srgbClr val="4B5563"/>
                </a:solidFill>
                <a:latin typeface="Inter"/>
              </a:rPr>
              <a:t>• All dense ≫ lexical — but each eval has methodological bias worth naming</a:t>
            </a:r>
          </a:p>
        </p:txBody>
      </p:sp>
      <p:sp>
        <p:nvSpPr>
          <p:cNvPr id="10" name="TextBox 9"/>
          <p:cNvSpPr txBox="1"/>
          <p:nvPr/>
        </p:nvSpPr>
        <p:spPr>
          <a:xfrm>
            <a:off x="457200" y="6492240"/>
            <a:ext cx="9144000" cy="274320"/>
          </a:xfrm>
          <a:prstGeom prst="rect">
            <a:avLst/>
          </a:prstGeom>
          <a:noFill/>
        </p:spPr>
        <p:txBody>
          <a:bodyPr wrap="square" lIns="0" rIns="0" tIns="0" bIns="0" anchor="t">
            <a:spAutoFit/>
          </a:bodyPr>
          <a:lstStyle/>
          <a:p>
            <a:pPr algn="l"/>
            <a:r>
              <a:rPr sz="1000" b="0" i="0">
                <a:solidFill>
                  <a:srgbClr val="6B7280"/>
                </a:solidFill>
                <a:latin typeface="Inter"/>
              </a:rPr>
              <a:t>Stephanie Jarmak  ·  MLOps Community  ·  Making Scientific Knowledge Navigable for Agents</a:t>
            </a:r>
          </a:p>
        </p:txBody>
      </p:sp>
      <p:sp>
        <p:nvSpPr>
          <p:cNvPr id="11" name="TextBox 10"/>
          <p:cNvSpPr txBox="1"/>
          <p:nvPr/>
        </p:nvSpPr>
        <p:spPr>
          <a:xfrm>
            <a:off x="11247120" y="6492240"/>
            <a:ext cx="731520" cy="274320"/>
          </a:xfrm>
          <a:prstGeom prst="rect">
            <a:avLst/>
          </a:prstGeom>
          <a:noFill/>
        </p:spPr>
        <p:txBody>
          <a:bodyPr wrap="square" lIns="0" rIns="0" tIns="0" bIns="0" anchor="t">
            <a:spAutoFit/>
          </a:bodyPr>
          <a:lstStyle/>
          <a:p>
            <a:pPr algn="r"/>
            <a:r>
              <a:rPr sz="1000" b="0" i="0">
                <a:solidFill>
                  <a:srgbClr val="6B7280"/>
                </a:solidFill>
                <a:latin typeface="Inter"/>
              </a:rPr>
              <a:t>24 / 30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1247120" cy="731520"/>
          </a:xfrm>
          <a:prstGeom prst="rect">
            <a:avLst/>
          </a:prstGeom>
          <a:noFill/>
        </p:spPr>
        <p:txBody>
          <a:bodyPr wrap="square" lIns="0" rIns="0" tIns="0" bIns="0" anchor="t">
            <a:spAutoFit/>
          </a:bodyPr>
          <a:lstStyle/>
          <a:p>
            <a:pPr algn="l"/>
            <a:r>
              <a:rPr sz="3200" b="1" i="0">
                <a:solidFill>
                  <a:srgbClr val="151B23"/>
                </a:solidFill>
                <a:latin typeface="Inter"/>
              </a:rPr>
              <a:t>Lesson 1: never use UNLOGGED tables for data you can't reconstruct</a:t>
            </a:r>
          </a:p>
        </p:txBody>
      </p:sp>
      <p:sp>
        <p:nvSpPr>
          <p:cNvPr id="4" name="Rectangle 3"/>
          <p:cNvSpPr/>
          <p:nvPr/>
        </p:nvSpPr>
        <p:spPr>
          <a:xfrm>
            <a:off x="457200" y="1234440"/>
            <a:ext cx="731520" cy="25400"/>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11247120" cy="457200"/>
          </a:xfrm>
          <a:prstGeom prst="rect">
            <a:avLst/>
          </a:prstGeom>
          <a:noFill/>
        </p:spPr>
        <p:txBody>
          <a:bodyPr wrap="square" lIns="0" rIns="0" tIns="0" bIns="0" anchor="t">
            <a:spAutoFit/>
          </a:bodyPr>
          <a:lstStyle/>
          <a:p>
            <a:pPr algn="l"/>
            <a:r>
              <a:rPr sz="1600" b="0" i="1">
                <a:solidFill>
                  <a:srgbClr val="4B5563"/>
                </a:solidFill>
                <a:latin typeface="Inter"/>
              </a:rPr>
              <a:t>We lost 32M SPECTER2 embeddings to a Postgres restart</a:t>
            </a:r>
          </a:p>
        </p:txBody>
      </p:sp>
      <p:sp>
        <p:nvSpPr>
          <p:cNvPr id="6" name="TextBox 5"/>
          <p:cNvSpPr txBox="1"/>
          <p:nvPr/>
        </p:nvSpPr>
        <p:spPr>
          <a:xfrm>
            <a:off x="731520" y="1920240"/>
            <a:ext cx="2011680" cy="457200"/>
          </a:xfrm>
          <a:prstGeom prst="rect">
            <a:avLst/>
          </a:prstGeom>
          <a:noFill/>
        </p:spPr>
        <p:txBody>
          <a:bodyPr wrap="square" lIns="0" rIns="0" tIns="0" bIns="0" anchor="t">
            <a:spAutoFit/>
          </a:bodyPr>
          <a:lstStyle/>
          <a:p>
            <a:pPr algn="l"/>
            <a:r>
              <a:rPr sz="1400" b="1" i="0">
                <a:solidFill>
                  <a:srgbClr val="D0564A"/>
                </a:solidFill>
                <a:latin typeface="Inter"/>
              </a:rPr>
              <a:t>Day 1–3</a:t>
            </a:r>
          </a:p>
        </p:txBody>
      </p:sp>
      <p:sp>
        <p:nvSpPr>
          <p:cNvPr id="7" name="TextBox 6"/>
          <p:cNvSpPr txBox="1"/>
          <p:nvPr/>
        </p:nvSpPr>
        <p:spPr>
          <a:xfrm>
            <a:off x="2926080" y="1920240"/>
            <a:ext cx="8686800" cy="548640"/>
          </a:xfrm>
          <a:prstGeom prst="rect">
            <a:avLst/>
          </a:prstGeom>
          <a:noFill/>
        </p:spPr>
        <p:txBody>
          <a:bodyPr wrap="square" lIns="0" rIns="0" tIns="0" bIns="0" anchor="t">
            <a:spAutoFit/>
          </a:bodyPr>
          <a:lstStyle/>
          <a:p>
            <a:pPr algn="l"/>
            <a:r>
              <a:rPr sz="1400" b="0" i="0">
                <a:solidFill>
                  <a:srgbClr val="151B23"/>
                </a:solidFill>
                <a:latin typeface="Inter"/>
              </a:rPr>
              <a:t>Bulk-embed 32M papers using UNLOGGED paper_embeddings (~15% faster writes)</a:t>
            </a:r>
          </a:p>
        </p:txBody>
      </p:sp>
      <p:sp>
        <p:nvSpPr>
          <p:cNvPr id="8" name="TextBox 7"/>
          <p:cNvSpPr txBox="1"/>
          <p:nvPr/>
        </p:nvSpPr>
        <p:spPr>
          <a:xfrm>
            <a:off x="731520" y="2578608"/>
            <a:ext cx="2011680" cy="457200"/>
          </a:xfrm>
          <a:prstGeom prst="rect">
            <a:avLst/>
          </a:prstGeom>
          <a:noFill/>
        </p:spPr>
        <p:txBody>
          <a:bodyPr wrap="square" lIns="0" rIns="0" tIns="0" bIns="0" anchor="t">
            <a:spAutoFit/>
          </a:bodyPr>
          <a:lstStyle/>
          <a:p>
            <a:pPr algn="l"/>
            <a:r>
              <a:rPr sz="1400" b="1" i="0">
                <a:solidFill>
                  <a:srgbClr val="D0564A"/>
                </a:solidFill>
                <a:latin typeface="Inter"/>
              </a:rPr>
              <a:t>Day 4</a:t>
            </a:r>
          </a:p>
        </p:txBody>
      </p:sp>
      <p:sp>
        <p:nvSpPr>
          <p:cNvPr id="9" name="TextBox 8"/>
          <p:cNvSpPr txBox="1"/>
          <p:nvPr/>
        </p:nvSpPr>
        <p:spPr>
          <a:xfrm>
            <a:off x="2926080" y="2578608"/>
            <a:ext cx="8686800" cy="548640"/>
          </a:xfrm>
          <a:prstGeom prst="rect">
            <a:avLst/>
          </a:prstGeom>
          <a:noFill/>
        </p:spPr>
        <p:txBody>
          <a:bodyPr wrap="square" lIns="0" rIns="0" tIns="0" bIns="0" anchor="t">
            <a:spAutoFit/>
          </a:bodyPr>
          <a:lstStyle/>
          <a:p>
            <a:pPr algn="l"/>
            <a:r>
              <a:rPr sz="1400" b="0" i="0">
                <a:solidFill>
                  <a:srgbClr val="151B23"/>
                </a:solidFill>
                <a:latin typeface="Inter"/>
              </a:rPr>
              <a:t>Postgres OOMs due to an unrelated query</a:t>
            </a:r>
          </a:p>
        </p:txBody>
      </p:sp>
      <p:sp>
        <p:nvSpPr>
          <p:cNvPr id="10" name="TextBox 9"/>
          <p:cNvSpPr txBox="1"/>
          <p:nvPr/>
        </p:nvSpPr>
        <p:spPr>
          <a:xfrm>
            <a:off x="731520" y="3236976"/>
            <a:ext cx="2011680" cy="457200"/>
          </a:xfrm>
          <a:prstGeom prst="rect">
            <a:avLst/>
          </a:prstGeom>
          <a:noFill/>
        </p:spPr>
        <p:txBody>
          <a:bodyPr wrap="square" lIns="0" rIns="0" tIns="0" bIns="0" anchor="t">
            <a:spAutoFit/>
          </a:bodyPr>
          <a:lstStyle/>
          <a:p>
            <a:pPr algn="l"/>
            <a:r>
              <a:rPr sz="1400" b="1" i="0">
                <a:solidFill>
                  <a:srgbClr val="D0564A"/>
                </a:solidFill>
                <a:latin typeface="Inter"/>
              </a:rPr>
              <a:t>Day 4 + 1min</a:t>
            </a:r>
          </a:p>
        </p:txBody>
      </p:sp>
      <p:sp>
        <p:nvSpPr>
          <p:cNvPr id="11" name="TextBox 10"/>
          <p:cNvSpPr txBox="1"/>
          <p:nvPr/>
        </p:nvSpPr>
        <p:spPr>
          <a:xfrm>
            <a:off x="2926080" y="3236976"/>
            <a:ext cx="8686800" cy="548640"/>
          </a:xfrm>
          <a:prstGeom prst="rect">
            <a:avLst/>
          </a:prstGeom>
          <a:noFill/>
        </p:spPr>
        <p:txBody>
          <a:bodyPr wrap="square" lIns="0" rIns="0" tIns="0" bIns="0" anchor="t">
            <a:spAutoFit/>
          </a:bodyPr>
          <a:lstStyle/>
          <a:p>
            <a:pPr algn="l"/>
            <a:r>
              <a:rPr sz="1400" b="0" i="0">
                <a:solidFill>
                  <a:srgbClr val="151B23"/>
                </a:solidFill>
                <a:latin typeface="Inter"/>
              </a:rPr>
              <a:t>systemd restarts Postgres — UNLOGGED tables are truncated at startup</a:t>
            </a:r>
          </a:p>
        </p:txBody>
      </p:sp>
      <p:sp>
        <p:nvSpPr>
          <p:cNvPr id="12" name="TextBox 11"/>
          <p:cNvSpPr txBox="1"/>
          <p:nvPr/>
        </p:nvSpPr>
        <p:spPr>
          <a:xfrm>
            <a:off x="731520" y="3895344"/>
            <a:ext cx="2011680" cy="457200"/>
          </a:xfrm>
          <a:prstGeom prst="rect">
            <a:avLst/>
          </a:prstGeom>
          <a:noFill/>
        </p:spPr>
        <p:txBody>
          <a:bodyPr wrap="square" lIns="0" rIns="0" tIns="0" bIns="0" anchor="t">
            <a:spAutoFit/>
          </a:bodyPr>
          <a:lstStyle/>
          <a:p>
            <a:pPr algn="l"/>
            <a:r>
              <a:rPr sz="1400" b="1" i="0">
                <a:solidFill>
                  <a:srgbClr val="D0564A"/>
                </a:solidFill>
                <a:latin typeface="Inter"/>
              </a:rPr>
              <a:t>Day 4 + 2min</a:t>
            </a:r>
          </a:p>
        </p:txBody>
      </p:sp>
      <p:sp>
        <p:nvSpPr>
          <p:cNvPr id="13" name="TextBox 12"/>
          <p:cNvSpPr txBox="1"/>
          <p:nvPr/>
        </p:nvSpPr>
        <p:spPr>
          <a:xfrm>
            <a:off x="2926080" y="3895344"/>
            <a:ext cx="8686800" cy="548640"/>
          </a:xfrm>
          <a:prstGeom prst="rect">
            <a:avLst/>
          </a:prstGeom>
          <a:noFill/>
        </p:spPr>
        <p:txBody>
          <a:bodyPr wrap="square" lIns="0" rIns="0" tIns="0" bIns="0" anchor="t">
            <a:spAutoFit/>
          </a:bodyPr>
          <a:lstStyle/>
          <a:p>
            <a:pPr algn="l"/>
            <a:r>
              <a:rPr sz="1400" b="0" i="0">
                <a:solidFill>
                  <a:srgbClr val="151B23"/>
                </a:solidFill>
                <a:latin typeface="Inter"/>
              </a:rPr>
              <a:t>32 million embeddings, ~100 GPU-hours, gone</a:t>
            </a:r>
          </a:p>
        </p:txBody>
      </p:sp>
      <p:sp>
        <p:nvSpPr>
          <p:cNvPr id="14" name="TextBox 13"/>
          <p:cNvSpPr txBox="1"/>
          <p:nvPr/>
        </p:nvSpPr>
        <p:spPr>
          <a:xfrm>
            <a:off x="731520" y="4553712"/>
            <a:ext cx="2011680" cy="457200"/>
          </a:xfrm>
          <a:prstGeom prst="rect">
            <a:avLst/>
          </a:prstGeom>
          <a:noFill/>
        </p:spPr>
        <p:txBody>
          <a:bodyPr wrap="square" lIns="0" rIns="0" tIns="0" bIns="0" anchor="t">
            <a:spAutoFit/>
          </a:bodyPr>
          <a:lstStyle/>
          <a:p>
            <a:pPr algn="l"/>
            <a:r>
              <a:rPr sz="1400" b="1" i="0">
                <a:solidFill>
                  <a:srgbClr val="D0564A"/>
                </a:solidFill>
                <a:latin typeface="Inter"/>
              </a:rPr>
              <a:t>Day 5+</a:t>
            </a:r>
          </a:p>
        </p:txBody>
      </p:sp>
      <p:sp>
        <p:nvSpPr>
          <p:cNvPr id="15" name="TextBox 14"/>
          <p:cNvSpPr txBox="1"/>
          <p:nvPr/>
        </p:nvSpPr>
        <p:spPr>
          <a:xfrm>
            <a:off x="2926080" y="4553712"/>
            <a:ext cx="8686800" cy="548640"/>
          </a:xfrm>
          <a:prstGeom prst="rect">
            <a:avLst/>
          </a:prstGeom>
          <a:noFill/>
        </p:spPr>
        <p:txBody>
          <a:bodyPr wrap="square" lIns="0" rIns="0" tIns="0" bIns="0" anchor="t">
            <a:spAutoFit/>
          </a:bodyPr>
          <a:lstStyle/>
          <a:p>
            <a:pPr algn="l"/>
            <a:r>
              <a:rPr sz="1400" b="0" i="0">
                <a:solidFill>
                  <a:srgbClr val="151B23"/>
                </a:solidFill>
                <a:latin typeface="Inter"/>
              </a:rPr>
              <a:t>Rebuild. Migration 023 changes paper_embeddings to LOGGED permanently.</a:t>
            </a:r>
          </a:p>
        </p:txBody>
      </p:sp>
      <p:sp>
        <p:nvSpPr>
          <p:cNvPr id="16" name="Rectangle 15"/>
          <p:cNvSpPr/>
          <p:nvPr/>
        </p:nvSpPr>
        <p:spPr>
          <a:xfrm>
            <a:off x="731520" y="5486400"/>
            <a:ext cx="10698480" cy="127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5669280"/>
            <a:ext cx="10698480" cy="914400"/>
          </a:xfrm>
          <a:prstGeom prst="rect">
            <a:avLst/>
          </a:prstGeom>
          <a:noFill/>
        </p:spPr>
        <p:txBody>
          <a:bodyPr wrap="square" lIns="0" rIns="0" tIns="0" bIns="0" anchor="t">
            <a:spAutoFit/>
          </a:bodyPr>
          <a:lstStyle/>
          <a:p>
            <a:pPr algn="l"/>
            <a:r>
              <a:rPr sz="1300" b="0" i="1">
                <a:solidFill>
                  <a:srgbClr val="4B5563"/>
                </a:solidFill>
                <a:latin typeface="Inter"/>
              </a:rPr>
              <a:t>If your pipeline builds something expensive, it must survive a process restart. UNLOGGED is a write-optimization for reconstructible data only — never persistent state.</a:t>
            </a:r>
          </a:p>
        </p:txBody>
      </p:sp>
      <p:sp>
        <p:nvSpPr>
          <p:cNvPr id="18" name="TextBox 17"/>
          <p:cNvSpPr txBox="1"/>
          <p:nvPr/>
        </p:nvSpPr>
        <p:spPr>
          <a:xfrm>
            <a:off x="457200" y="6492240"/>
            <a:ext cx="9144000" cy="274320"/>
          </a:xfrm>
          <a:prstGeom prst="rect">
            <a:avLst/>
          </a:prstGeom>
          <a:noFill/>
        </p:spPr>
        <p:txBody>
          <a:bodyPr wrap="square" lIns="0" rIns="0" tIns="0" bIns="0" anchor="t">
            <a:spAutoFit/>
          </a:bodyPr>
          <a:lstStyle/>
          <a:p>
            <a:pPr algn="l"/>
            <a:r>
              <a:rPr sz="1000" b="0" i="0">
                <a:solidFill>
                  <a:srgbClr val="6B7280"/>
                </a:solidFill>
                <a:latin typeface="Inter"/>
              </a:rPr>
              <a:t>Stephanie Jarmak  ·  MLOps Community  ·  Making Scientific Knowledge Navigable for Agents</a:t>
            </a:r>
          </a:p>
        </p:txBody>
      </p:sp>
      <p:sp>
        <p:nvSpPr>
          <p:cNvPr id="19" name="TextBox 18"/>
          <p:cNvSpPr txBox="1"/>
          <p:nvPr/>
        </p:nvSpPr>
        <p:spPr>
          <a:xfrm>
            <a:off x="11247120" y="6492240"/>
            <a:ext cx="731520" cy="274320"/>
          </a:xfrm>
          <a:prstGeom prst="rect">
            <a:avLst/>
          </a:prstGeom>
          <a:noFill/>
        </p:spPr>
        <p:txBody>
          <a:bodyPr wrap="square" lIns="0" rIns="0" tIns="0" bIns="0" anchor="t">
            <a:spAutoFit/>
          </a:bodyPr>
          <a:lstStyle/>
          <a:p>
            <a:pPr algn="r"/>
            <a:r>
              <a:rPr sz="1000" b="0" i="0">
                <a:solidFill>
                  <a:srgbClr val="6B7280"/>
                </a:solidFill>
                <a:latin typeface="Inter"/>
              </a:rPr>
              <a:t>25 / 30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1247120" cy="731520"/>
          </a:xfrm>
          <a:prstGeom prst="rect">
            <a:avLst/>
          </a:prstGeom>
          <a:noFill/>
        </p:spPr>
        <p:txBody>
          <a:bodyPr wrap="square" lIns="0" rIns="0" tIns="0" bIns="0" anchor="t">
            <a:spAutoFit/>
          </a:bodyPr>
          <a:lstStyle/>
          <a:p>
            <a:pPr algn="l"/>
            <a:r>
              <a:rPr sz="3200" b="1" i="0">
                <a:solidFill>
                  <a:srgbClr val="151B23"/>
                </a:solidFill>
                <a:latin typeface="Inter"/>
              </a:rPr>
              <a:t>Lesson 2: the gap between naive and tuned pipelines is 10–20×</a:t>
            </a:r>
          </a:p>
        </p:txBody>
      </p:sp>
      <p:sp>
        <p:nvSpPr>
          <p:cNvPr id="4" name="Rectangle 3"/>
          <p:cNvSpPr/>
          <p:nvPr/>
        </p:nvSpPr>
        <p:spPr>
          <a:xfrm>
            <a:off x="457200" y="1234440"/>
            <a:ext cx="731520" cy="25400"/>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11247120" cy="457200"/>
          </a:xfrm>
          <a:prstGeom prst="rect">
            <a:avLst/>
          </a:prstGeom>
          <a:noFill/>
        </p:spPr>
        <p:txBody>
          <a:bodyPr wrap="square" lIns="0" rIns="0" tIns="0" bIns="0" anchor="t">
            <a:spAutoFit/>
          </a:bodyPr>
          <a:lstStyle/>
          <a:p>
            <a:pPr algn="l"/>
            <a:r>
              <a:rPr sz="1600" b="0" i="1">
                <a:solidFill>
                  <a:srgbClr val="4B5563"/>
                </a:solidFill>
                <a:latin typeface="Inter"/>
              </a:rPr>
              <a:t>Embedding throughput, same hardware</a:t>
            </a:r>
          </a:p>
        </p:txBody>
      </p:sp>
      <p:pic>
        <p:nvPicPr>
          <p:cNvPr id="6" name="Picture 5" descr="embedding_pipeline.png"/>
          <p:cNvPicPr>
            <a:picLocks noChangeAspect="1"/>
          </p:cNvPicPr>
          <p:nvPr/>
        </p:nvPicPr>
        <p:blipFill>
          <a:blip r:embed="rId2"/>
          <a:stretch>
            <a:fillRect/>
          </a:stretch>
        </p:blipFill>
        <p:spPr>
          <a:xfrm>
            <a:off x="1828800" y="1737360"/>
            <a:ext cx="8503920" cy="5375586"/>
          </a:xfrm>
          <a:prstGeom prst="rect">
            <a:avLst/>
          </a:prstGeom>
        </p:spPr>
      </p:pic>
      <p:sp>
        <p:nvSpPr>
          <p:cNvPr id="7" name="TextBox 6"/>
          <p:cNvSpPr txBox="1"/>
          <p:nvPr/>
        </p:nvSpPr>
        <p:spPr>
          <a:xfrm>
            <a:off x="731520" y="5669280"/>
            <a:ext cx="10789920" cy="274320"/>
          </a:xfrm>
          <a:prstGeom prst="rect">
            <a:avLst/>
          </a:prstGeom>
          <a:noFill/>
        </p:spPr>
        <p:txBody>
          <a:bodyPr wrap="square" lIns="0" rIns="0" tIns="0" bIns="0" anchor="t">
            <a:spAutoFit/>
          </a:bodyPr>
          <a:lstStyle/>
          <a:p>
            <a:pPr algn="l"/>
            <a:r>
              <a:rPr sz="1300" b="0" i="0">
                <a:solidFill>
                  <a:srgbClr val="4B5563"/>
                </a:solidFill>
                <a:latin typeface="Inter"/>
              </a:rPr>
              <a:t>• Multiprocess: main = tokenize + GPU, writer = binary COPY</a:t>
            </a:r>
          </a:p>
        </p:txBody>
      </p:sp>
      <p:sp>
        <p:nvSpPr>
          <p:cNvPr id="8" name="TextBox 7"/>
          <p:cNvSpPr txBox="1"/>
          <p:nvPr/>
        </p:nvSpPr>
        <p:spPr>
          <a:xfrm>
            <a:off x="731520" y="5961888"/>
            <a:ext cx="10789920" cy="274320"/>
          </a:xfrm>
          <a:prstGeom prst="rect">
            <a:avLst/>
          </a:prstGeom>
          <a:noFill/>
        </p:spPr>
        <p:txBody>
          <a:bodyPr wrap="square" lIns="0" rIns="0" tIns="0" bIns="0" anchor="t">
            <a:spAutoFit/>
          </a:bodyPr>
          <a:lstStyle/>
          <a:p>
            <a:pPr algn="l"/>
            <a:r>
              <a:rPr sz="1300" b="0" i="0">
                <a:solidFill>
                  <a:srgbClr val="4B5563"/>
                </a:solidFill>
                <a:latin typeface="Inter"/>
              </a:rPr>
              <a:t>• UNLOGGED (for reconstructible bulk load) + drop HNSW during load, restore after</a:t>
            </a:r>
          </a:p>
        </p:txBody>
      </p:sp>
      <p:sp>
        <p:nvSpPr>
          <p:cNvPr id="9" name="TextBox 8"/>
          <p:cNvSpPr txBox="1"/>
          <p:nvPr/>
        </p:nvSpPr>
        <p:spPr>
          <a:xfrm>
            <a:off x="731520" y="6254496"/>
            <a:ext cx="10789920" cy="274320"/>
          </a:xfrm>
          <a:prstGeom prst="rect">
            <a:avLst/>
          </a:prstGeom>
          <a:noFill/>
        </p:spPr>
        <p:txBody>
          <a:bodyPr wrap="square" lIns="0" rIns="0" tIns="0" bIns="0" anchor="t">
            <a:spAutoFit/>
          </a:bodyPr>
          <a:lstStyle/>
          <a:p>
            <a:pPr algn="l"/>
            <a:r>
              <a:rPr sz="1300" b="0" i="0">
                <a:solidFill>
                  <a:srgbClr val="4B5563"/>
                </a:solidFill>
                <a:latin typeface="Inter"/>
              </a:rPr>
              <a:t>• Result: full 32M corpus embedded in ~24 hours on a single RTX 5090</a:t>
            </a:r>
          </a:p>
        </p:txBody>
      </p:sp>
      <p:sp>
        <p:nvSpPr>
          <p:cNvPr id="10" name="TextBox 9"/>
          <p:cNvSpPr txBox="1"/>
          <p:nvPr/>
        </p:nvSpPr>
        <p:spPr>
          <a:xfrm>
            <a:off x="457200" y="6492240"/>
            <a:ext cx="9144000" cy="274320"/>
          </a:xfrm>
          <a:prstGeom prst="rect">
            <a:avLst/>
          </a:prstGeom>
          <a:noFill/>
        </p:spPr>
        <p:txBody>
          <a:bodyPr wrap="square" lIns="0" rIns="0" tIns="0" bIns="0" anchor="t">
            <a:spAutoFit/>
          </a:bodyPr>
          <a:lstStyle/>
          <a:p>
            <a:pPr algn="l"/>
            <a:r>
              <a:rPr sz="1000" b="0" i="0">
                <a:solidFill>
                  <a:srgbClr val="6B7280"/>
                </a:solidFill>
                <a:latin typeface="Inter"/>
              </a:rPr>
              <a:t>Stephanie Jarmak  ·  MLOps Community  ·  Making Scientific Knowledge Navigable for Agents</a:t>
            </a:r>
          </a:p>
        </p:txBody>
      </p:sp>
      <p:sp>
        <p:nvSpPr>
          <p:cNvPr id="11" name="TextBox 10"/>
          <p:cNvSpPr txBox="1"/>
          <p:nvPr/>
        </p:nvSpPr>
        <p:spPr>
          <a:xfrm>
            <a:off x="11247120" y="6492240"/>
            <a:ext cx="731520" cy="274320"/>
          </a:xfrm>
          <a:prstGeom prst="rect">
            <a:avLst/>
          </a:prstGeom>
          <a:noFill/>
        </p:spPr>
        <p:txBody>
          <a:bodyPr wrap="square" lIns="0" rIns="0" tIns="0" bIns="0" anchor="t">
            <a:spAutoFit/>
          </a:bodyPr>
          <a:lstStyle/>
          <a:p>
            <a:pPr algn="r"/>
            <a:r>
              <a:rPr sz="1000" b="0" i="0">
                <a:solidFill>
                  <a:srgbClr val="6B7280"/>
                </a:solidFill>
                <a:latin typeface="Inter"/>
              </a:rPr>
              <a:t>26 / 30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1247120" cy="731520"/>
          </a:xfrm>
          <a:prstGeom prst="rect">
            <a:avLst/>
          </a:prstGeom>
          <a:noFill/>
        </p:spPr>
        <p:txBody>
          <a:bodyPr wrap="square" lIns="0" rIns="0" tIns="0" bIns="0" anchor="t">
            <a:spAutoFit/>
          </a:bodyPr>
          <a:lstStyle/>
          <a:p>
            <a:pPr algn="l"/>
            <a:r>
              <a:rPr sz="3200" b="1" i="0">
                <a:solidFill>
                  <a:srgbClr val="151B23"/>
                </a:solidFill>
                <a:latin typeface="Inter"/>
              </a:rPr>
              <a:t>Lesson 3: LLM cost estimates are 3–5× too low</a:t>
            </a:r>
          </a:p>
        </p:txBody>
      </p:sp>
      <p:sp>
        <p:nvSpPr>
          <p:cNvPr id="4" name="Rectangle 3"/>
          <p:cNvSpPr/>
          <p:nvPr/>
        </p:nvSpPr>
        <p:spPr>
          <a:xfrm>
            <a:off x="457200" y="1234440"/>
            <a:ext cx="731520" cy="25400"/>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11247120" cy="457200"/>
          </a:xfrm>
          <a:prstGeom prst="rect">
            <a:avLst/>
          </a:prstGeom>
          <a:noFill/>
        </p:spPr>
        <p:txBody>
          <a:bodyPr wrap="square" lIns="0" rIns="0" tIns="0" bIns="0" anchor="t">
            <a:spAutoFit/>
          </a:bodyPr>
          <a:lstStyle/>
          <a:p>
            <a:pPr algn="l"/>
            <a:r>
              <a:rPr sz="1600" b="0" i="1">
                <a:solidFill>
                  <a:srgbClr val="4B5563"/>
                </a:solidFill>
                <a:latin typeface="Inter"/>
              </a:rPr>
              <a:t>Prompt overhead dominates output tokens for structured extraction</a:t>
            </a:r>
          </a:p>
        </p:txBody>
      </p:sp>
      <p:sp>
        <p:nvSpPr>
          <p:cNvPr id="6" name="TextBox 5"/>
          <p:cNvSpPr txBox="1"/>
          <p:nvPr/>
        </p:nvSpPr>
        <p:spPr>
          <a:xfrm>
            <a:off x="731520" y="1828800"/>
            <a:ext cx="10972800" cy="365760"/>
          </a:xfrm>
          <a:prstGeom prst="rect">
            <a:avLst/>
          </a:prstGeom>
          <a:noFill/>
        </p:spPr>
        <p:txBody>
          <a:bodyPr wrap="square" lIns="0" rIns="0" tIns="0" bIns="0" anchor="t">
            <a:spAutoFit/>
          </a:bodyPr>
          <a:lstStyle/>
          <a:p>
            <a:pPr algn="l"/>
            <a:r>
              <a:rPr sz="1600" b="1" i="0">
                <a:solidFill>
                  <a:srgbClr val="0B4A9E"/>
                </a:solidFill>
                <a:latin typeface="Inter"/>
              </a:rPr>
              <a:t>Entity extraction on 10K papers (Claude Haiku)</a:t>
            </a:r>
          </a:p>
        </p:txBody>
      </p:sp>
      <p:sp>
        <p:nvSpPr>
          <p:cNvPr id="7" name="TextBox 6"/>
          <p:cNvSpPr txBox="1"/>
          <p:nvPr/>
        </p:nvSpPr>
        <p:spPr>
          <a:xfrm>
            <a:off x="731520" y="2377440"/>
            <a:ext cx="2926080" cy="457200"/>
          </a:xfrm>
          <a:prstGeom prst="rect">
            <a:avLst/>
          </a:prstGeom>
          <a:noFill/>
        </p:spPr>
        <p:txBody>
          <a:bodyPr wrap="square" lIns="0" rIns="0" tIns="0" bIns="0" anchor="t">
            <a:spAutoFit/>
          </a:bodyPr>
          <a:lstStyle/>
          <a:p>
            <a:pPr algn="l"/>
            <a:r>
              <a:rPr sz="1400" b="1" i="0">
                <a:solidFill>
                  <a:srgbClr val="151B23"/>
                </a:solidFill>
                <a:latin typeface="Inter"/>
              </a:rPr>
              <a:t>Naive estimate</a:t>
            </a:r>
          </a:p>
        </p:txBody>
      </p:sp>
      <p:sp>
        <p:nvSpPr>
          <p:cNvPr id="8" name="Rectangle 7"/>
          <p:cNvSpPr/>
          <p:nvPr/>
        </p:nvSpPr>
        <p:spPr>
          <a:xfrm>
            <a:off x="3657600" y="2468880"/>
            <a:ext cx="640080" cy="411480"/>
          </a:xfrm>
          <a:prstGeom prst="rect">
            <a:avLst/>
          </a:prstGeom>
          <a:solidFill>
            <a:srgbClr val="9CA3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0" y="2468880"/>
            <a:ext cx="2743200" cy="457200"/>
          </a:xfrm>
          <a:prstGeom prst="rect">
            <a:avLst/>
          </a:prstGeom>
          <a:noFill/>
        </p:spPr>
        <p:txBody>
          <a:bodyPr wrap="square" lIns="0" rIns="0" tIns="0" bIns="0" anchor="t">
            <a:spAutoFit/>
          </a:bodyPr>
          <a:lstStyle/>
          <a:p>
            <a:pPr algn="l"/>
            <a:r>
              <a:rPr sz="1400" b="1" i="0">
                <a:solidFill>
                  <a:srgbClr val="9CA3AF"/>
                </a:solidFill>
                <a:latin typeface="Inter"/>
              </a:rPr>
              <a:t>$10</a:t>
            </a:r>
          </a:p>
        </p:txBody>
      </p:sp>
      <p:sp>
        <p:nvSpPr>
          <p:cNvPr id="10" name="TextBox 9"/>
          <p:cNvSpPr txBox="1"/>
          <p:nvPr/>
        </p:nvSpPr>
        <p:spPr>
          <a:xfrm>
            <a:off x="731520" y="3017520"/>
            <a:ext cx="2926080" cy="457200"/>
          </a:xfrm>
          <a:prstGeom prst="rect">
            <a:avLst/>
          </a:prstGeom>
          <a:noFill/>
        </p:spPr>
        <p:txBody>
          <a:bodyPr wrap="square" lIns="0" rIns="0" tIns="0" bIns="0" anchor="t">
            <a:spAutoFit/>
          </a:bodyPr>
          <a:lstStyle/>
          <a:p>
            <a:pPr algn="l"/>
            <a:r>
              <a:rPr sz="1400" b="1" i="0">
                <a:solidFill>
                  <a:srgbClr val="151B23"/>
                </a:solidFill>
                <a:latin typeface="Inter"/>
              </a:rPr>
              <a:t>Actual (Haiku)</a:t>
            </a:r>
          </a:p>
        </p:txBody>
      </p:sp>
      <p:sp>
        <p:nvSpPr>
          <p:cNvPr id="11" name="Rectangle 10"/>
          <p:cNvSpPr/>
          <p:nvPr/>
        </p:nvSpPr>
        <p:spPr>
          <a:xfrm>
            <a:off x="3657600" y="3108960"/>
            <a:ext cx="3017520" cy="411480"/>
          </a:xfrm>
          <a:prstGeom prst="rect">
            <a:avLst/>
          </a:prstGeom>
          <a:solidFill>
            <a:srgbClr val="D056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0" y="3108960"/>
            <a:ext cx="2743200" cy="457200"/>
          </a:xfrm>
          <a:prstGeom prst="rect">
            <a:avLst/>
          </a:prstGeom>
          <a:noFill/>
        </p:spPr>
        <p:txBody>
          <a:bodyPr wrap="square" lIns="0" rIns="0" tIns="0" bIns="0" anchor="t">
            <a:spAutoFit/>
          </a:bodyPr>
          <a:lstStyle/>
          <a:p>
            <a:pPr algn="l"/>
            <a:r>
              <a:rPr sz="1400" b="1" i="0">
                <a:solidFill>
                  <a:srgbClr val="D0564A"/>
                </a:solidFill>
                <a:latin typeface="Inter"/>
              </a:rPr>
              <a:t>$45</a:t>
            </a:r>
          </a:p>
        </p:txBody>
      </p:sp>
      <p:sp>
        <p:nvSpPr>
          <p:cNvPr id="13" name="TextBox 12"/>
          <p:cNvSpPr txBox="1"/>
          <p:nvPr/>
        </p:nvSpPr>
        <p:spPr>
          <a:xfrm>
            <a:off x="731520" y="3931920"/>
            <a:ext cx="10972800" cy="365760"/>
          </a:xfrm>
          <a:prstGeom prst="rect">
            <a:avLst/>
          </a:prstGeom>
          <a:noFill/>
        </p:spPr>
        <p:txBody>
          <a:bodyPr wrap="square" lIns="0" rIns="0" tIns="0" bIns="0" anchor="t">
            <a:spAutoFit/>
          </a:bodyPr>
          <a:lstStyle/>
          <a:p>
            <a:pPr algn="l"/>
            <a:r>
              <a:rPr sz="1600" b="1" i="0">
                <a:solidFill>
                  <a:srgbClr val="0B4A9E"/>
                </a:solidFill>
                <a:latin typeface="Inter"/>
              </a:rPr>
              <a:t>Full 32M corpus projection</a:t>
            </a:r>
          </a:p>
        </p:txBody>
      </p:sp>
      <p:sp>
        <p:nvSpPr>
          <p:cNvPr id="14" name="TextBox 13"/>
          <p:cNvSpPr txBox="1"/>
          <p:nvPr/>
        </p:nvSpPr>
        <p:spPr>
          <a:xfrm>
            <a:off x="731520" y="4480560"/>
            <a:ext cx="2926080" cy="457200"/>
          </a:xfrm>
          <a:prstGeom prst="rect">
            <a:avLst/>
          </a:prstGeom>
          <a:noFill/>
        </p:spPr>
        <p:txBody>
          <a:bodyPr wrap="square" lIns="0" rIns="0" tIns="0" bIns="0" anchor="t">
            <a:spAutoFit/>
          </a:bodyPr>
          <a:lstStyle/>
          <a:p>
            <a:pPr algn="l"/>
            <a:r>
              <a:rPr sz="1400" b="1" i="0">
                <a:solidFill>
                  <a:srgbClr val="151B23"/>
                </a:solidFill>
                <a:latin typeface="Inter"/>
              </a:rPr>
              <a:t>Naive estimate</a:t>
            </a:r>
          </a:p>
        </p:txBody>
      </p:sp>
      <p:sp>
        <p:nvSpPr>
          <p:cNvPr id="15" name="Rectangle 14"/>
          <p:cNvSpPr/>
          <p:nvPr/>
        </p:nvSpPr>
        <p:spPr>
          <a:xfrm>
            <a:off x="3657600" y="4572000"/>
            <a:ext cx="365760" cy="411480"/>
          </a:xfrm>
          <a:prstGeom prst="rect">
            <a:avLst/>
          </a:prstGeom>
          <a:solidFill>
            <a:srgbClr val="9CA3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114800" y="4572000"/>
            <a:ext cx="2743200" cy="457200"/>
          </a:xfrm>
          <a:prstGeom prst="rect">
            <a:avLst/>
          </a:prstGeom>
          <a:noFill/>
        </p:spPr>
        <p:txBody>
          <a:bodyPr wrap="square" lIns="0" rIns="0" tIns="0" bIns="0" anchor="t">
            <a:spAutoFit/>
          </a:bodyPr>
          <a:lstStyle/>
          <a:p>
            <a:pPr algn="l"/>
            <a:r>
              <a:rPr sz="1400" b="1" i="0">
                <a:solidFill>
                  <a:srgbClr val="9CA3AF"/>
                </a:solidFill>
                <a:latin typeface="Inter"/>
              </a:rPr>
              <a:t>$100–$3K</a:t>
            </a:r>
          </a:p>
        </p:txBody>
      </p:sp>
      <p:sp>
        <p:nvSpPr>
          <p:cNvPr id="17" name="TextBox 16"/>
          <p:cNvSpPr txBox="1"/>
          <p:nvPr/>
        </p:nvSpPr>
        <p:spPr>
          <a:xfrm>
            <a:off x="731520" y="5120640"/>
            <a:ext cx="2926080" cy="457200"/>
          </a:xfrm>
          <a:prstGeom prst="rect">
            <a:avLst/>
          </a:prstGeom>
          <a:noFill/>
        </p:spPr>
        <p:txBody>
          <a:bodyPr wrap="square" lIns="0" rIns="0" tIns="0" bIns="0" anchor="t">
            <a:spAutoFit/>
          </a:bodyPr>
          <a:lstStyle/>
          <a:p>
            <a:pPr algn="l"/>
            <a:r>
              <a:rPr sz="1400" b="1" i="0">
                <a:solidFill>
                  <a:srgbClr val="151B23"/>
                </a:solidFill>
                <a:latin typeface="Inter"/>
              </a:rPr>
              <a:t>Premortem-corrected</a:t>
            </a:r>
          </a:p>
        </p:txBody>
      </p:sp>
      <p:sp>
        <p:nvSpPr>
          <p:cNvPr id="18" name="Rectangle 17"/>
          <p:cNvSpPr/>
          <p:nvPr/>
        </p:nvSpPr>
        <p:spPr>
          <a:xfrm>
            <a:off x="3657600" y="5212080"/>
            <a:ext cx="1828800" cy="411480"/>
          </a:xfrm>
          <a:prstGeom prst="rect">
            <a:avLst/>
          </a:prstGeom>
          <a:solidFill>
            <a:srgbClr val="D056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577840" y="5212080"/>
            <a:ext cx="2743200" cy="457200"/>
          </a:xfrm>
          <a:prstGeom prst="rect">
            <a:avLst/>
          </a:prstGeom>
          <a:noFill/>
        </p:spPr>
        <p:txBody>
          <a:bodyPr wrap="square" lIns="0" rIns="0" tIns="0" bIns="0" anchor="t">
            <a:spAutoFit/>
          </a:bodyPr>
          <a:lstStyle/>
          <a:p>
            <a:pPr algn="l"/>
            <a:r>
              <a:rPr sz="1400" b="1" i="0">
                <a:solidFill>
                  <a:srgbClr val="D0564A"/>
                </a:solidFill>
                <a:latin typeface="Inter"/>
              </a:rPr>
              <a:t>$500–$17K</a:t>
            </a:r>
          </a:p>
        </p:txBody>
      </p:sp>
      <p:sp>
        <p:nvSpPr>
          <p:cNvPr id="20" name="TextBox 19"/>
          <p:cNvSpPr txBox="1"/>
          <p:nvPr/>
        </p:nvSpPr>
        <p:spPr>
          <a:xfrm>
            <a:off x="731520" y="5943600"/>
            <a:ext cx="10698480" cy="731520"/>
          </a:xfrm>
          <a:prstGeom prst="rect">
            <a:avLst/>
          </a:prstGeom>
          <a:noFill/>
        </p:spPr>
        <p:txBody>
          <a:bodyPr wrap="square" lIns="0" rIns="0" tIns="0" bIns="0" anchor="t">
            <a:spAutoFit/>
          </a:bodyPr>
          <a:lstStyle/>
          <a:p>
            <a:pPr algn="l"/>
            <a:r>
              <a:rPr sz="1200" b="0" i="1">
                <a:solidFill>
                  <a:srgbClr val="4B5563"/>
                </a:solidFill>
                <a:latin typeface="Inter"/>
              </a:rPr>
              <a:t>Why: a 500-token prompt extracting 50 tokens of structured output has 10× overhead. Caching recovers some; fine-tuning a smaller model may be necessary at full scale.</a:t>
            </a:r>
          </a:p>
        </p:txBody>
      </p:sp>
      <p:sp>
        <p:nvSpPr>
          <p:cNvPr id="21" name="TextBox 20"/>
          <p:cNvSpPr txBox="1"/>
          <p:nvPr/>
        </p:nvSpPr>
        <p:spPr>
          <a:xfrm>
            <a:off x="457200" y="6492240"/>
            <a:ext cx="9144000" cy="274320"/>
          </a:xfrm>
          <a:prstGeom prst="rect">
            <a:avLst/>
          </a:prstGeom>
          <a:noFill/>
        </p:spPr>
        <p:txBody>
          <a:bodyPr wrap="square" lIns="0" rIns="0" tIns="0" bIns="0" anchor="t">
            <a:spAutoFit/>
          </a:bodyPr>
          <a:lstStyle/>
          <a:p>
            <a:pPr algn="l"/>
            <a:r>
              <a:rPr sz="1000" b="0" i="0">
                <a:solidFill>
                  <a:srgbClr val="6B7280"/>
                </a:solidFill>
                <a:latin typeface="Inter"/>
              </a:rPr>
              <a:t>Stephanie Jarmak  ·  MLOps Community  ·  Making Scientific Knowledge Navigable for Agents</a:t>
            </a:r>
          </a:p>
        </p:txBody>
      </p:sp>
      <p:sp>
        <p:nvSpPr>
          <p:cNvPr id="22" name="TextBox 21"/>
          <p:cNvSpPr txBox="1"/>
          <p:nvPr/>
        </p:nvSpPr>
        <p:spPr>
          <a:xfrm>
            <a:off x="11247120" y="6492240"/>
            <a:ext cx="731520" cy="274320"/>
          </a:xfrm>
          <a:prstGeom prst="rect">
            <a:avLst/>
          </a:prstGeom>
          <a:noFill/>
        </p:spPr>
        <p:txBody>
          <a:bodyPr wrap="square" lIns="0" rIns="0" tIns="0" bIns="0" anchor="t">
            <a:spAutoFit/>
          </a:bodyPr>
          <a:lstStyle/>
          <a:p>
            <a:pPr algn="r"/>
            <a:r>
              <a:rPr sz="1000" b="0" i="0">
                <a:solidFill>
                  <a:srgbClr val="6B7280"/>
                </a:solidFill>
                <a:latin typeface="Inter"/>
              </a:rPr>
              <a:t>27 / 30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1247120" cy="731520"/>
          </a:xfrm>
          <a:prstGeom prst="rect">
            <a:avLst/>
          </a:prstGeom>
          <a:noFill/>
        </p:spPr>
        <p:txBody>
          <a:bodyPr wrap="square" lIns="0" rIns="0" tIns="0" bIns="0" anchor="t">
            <a:spAutoFit/>
          </a:bodyPr>
          <a:lstStyle/>
          <a:p>
            <a:pPr algn="l"/>
            <a:r>
              <a:rPr sz="3200" b="1" i="0">
                <a:solidFill>
                  <a:srgbClr val="151B23"/>
                </a:solidFill>
                <a:latin typeface="Inter"/>
              </a:rPr>
              <a:t>What's next</a:t>
            </a:r>
          </a:p>
        </p:txBody>
      </p:sp>
      <p:sp>
        <p:nvSpPr>
          <p:cNvPr id="4" name="Rectangle 3"/>
          <p:cNvSpPr/>
          <p:nvPr/>
        </p:nvSpPr>
        <p:spPr>
          <a:xfrm>
            <a:off x="457200" y="1234440"/>
            <a:ext cx="731520" cy="25400"/>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11247120" cy="457200"/>
          </a:xfrm>
          <a:prstGeom prst="rect">
            <a:avLst/>
          </a:prstGeom>
          <a:noFill/>
        </p:spPr>
        <p:txBody>
          <a:bodyPr wrap="square" lIns="0" rIns="0" tIns="0" bIns="0" anchor="t">
            <a:spAutoFit/>
          </a:bodyPr>
          <a:lstStyle/>
          <a:p>
            <a:pPr algn="l"/>
            <a:r>
              <a:rPr sz="1600" b="0" i="1">
                <a:solidFill>
                  <a:srgbClr val="4B5563"/>
                </a:solidFill>
                <a:latin typeface="Inter"/>
              </a:rPr>
              <a:t>Research copilot gets deeper as the knowledge layer gets richer</a:t>
            </a:r>
          </a:p>
        </p:txBody>
      </p:sp>
      <p:sp>
        <p:nvSpPr>
          <p:cNvPr id="6" name="TextBox 5"/>
          <p:cNvSpPr txBox="1"/>
          <p:nvPr/>
        </p:nvSpPr>
        <p:spPr>
          <a:xfrm>
            <a:off x="548640" y="1828800"/>
            <a:ext cx="3931920" cy="457200"/>
          </a:xfrm>
          <a:prstGeom prst="rect">
            <a:avLst/>
          </a:prstGeom>
          <a:noFill/>
        </p:spPr>
        <p:txBody>
          <a:bodyPr wrap="square" lIns="0" rIns="0" tIns="0" bIns="0" anchor="t">
            <a:spAutoFit/>
          </a:bodyPr>
          <a:lstStyle/>
          <a:p>
            <a:pPr algn="l"/>
            <a:r>
              <a:rPr sz="1700" b="1" i="0">
                <a:solidFill>
                  <a:srgbClr val="0B4A9E"/>
                </a:solidFill>
                <a:latin typeface="Inter"/>
              </a:rPr>
              <a:t>Chunk-and-embed full text</a:t>
            </a:r>
          </a:p>
        </p:txBody>
      </p:sp>
      <p:sp>
        <p:nvSpPr>
          <p:cNvPr id="7" name="TextBox 6"/>
          <p:cNvSpPr txBox="1"/>
          <p:nvPr/>
        </p:nvSpPr>
        <p:spPr>
          <a:xfrm>
            <a:off x="4572000" y="1874520"/>
            <a:ext cx="7132320" cy="822960"/>
          </a:xfrm>
          <a:prstGeom prst="rect">
            <a:avLst/>
          </a:prstGeom>
          <a:noFill/>
        </p:spPr>
        <p:txBody>
          <a:bodyPr wrap="square" lIns="0" rIns="0" tIns="0" bIns="0" anchor="t">
            <a:spAutoFit/>
          </a:bodyPr>
          <a:lstStyle/>
          <a:p>
            <a:pPr algn="l"/>
            <a:r>
              <a:rPr sz="1300" b="0" i="0">
                <a:solidFill>
                  <a:srgbClr val="151B23"/>
                </a:solidFill>
                <a:latin typeface="Inter"/>
              </a:rPr>
              <a:t>14.9M bodies already ingested · contextual retrieval (Anthropic pattern) · 35% reduction in retrieval failure projected</a:t>
            </a:r>
          </a:p>
        </p:txBody>
      </p:sp>
      <p:sp>
        <p:nvSpPr>
          <p:cNvPr id="8" name="TextBox 7"/>
          <p:cNvSpPr txBox="1"/>
          <p:nvPr/>
        </p:nvSpPr>
        <p:spPr>
          <a:xfrm>
            <a:off x="548640" y="2651760"/>
            <a:ext cx="3931920" cy="457200"/>
          </a:xfrm>
          <a:prstGeom prst="rect">
            <a:avLst/>
          </a:prstGeom>
          <a:noFill/>
        </p:spPr>
        <p:txBody>
          <a:bodyPr wrap="square" lIns="0" rIns="0" tIns="0" bIns="0" anchor="t">
            <a:spAutoFit/>
          </a:bodyPr>
          <a:lstStyle/>
          <a:p>
            <a:pPr algn="l"/>
            <a:r>
              <a:rPr sz="1700" b="1" i="0">
                <a:solidFill>
                  <a:srgbClr val="0B4A9E"/>
                </a:solidFill>
                <a:latin typeface="Inter"/>
              </a:rPr>
              <a:t>Graph-RAG</a:t>
            </a:r>
          </a:p>
        </p:txBody>
      </p:sp>
      <p:sp>
        <p:nvSpPr>
          <p:cNvPr id="9" name="TextBox 8"/>
          <p:cNvSpPr txBox="1"/>
          <p:nvPr/>
        </p:nvSpPr>
        <p:spPr>
          <a:xfrm>
            <a:off x="4572000" y="2697480"/>
            <a:ext cx="7132320" cy="822960"/>
          </a:xfrm>
          <a:prstGeom prst="rect">
            <a:avLst/>
          </a:prstGeom>
          <a:noFill/>
        </p:spPr>
        <p:txBody>
          <a:bodyPr wrap="square" lIns="0" rIns="0" tIns="0" bIns="0" anchor="t">
            <a:spAutoFit/>
          </a:bodyPr>
          <a:lstStyle/>
          <a:p>
            <a:pPr algn="l"/>
            <a:r>
              <a:rPr sz="1300" b="0" i="0">
                <a:solidFill>
                  <a:srgbClr val="151B23"/>
                </a:solidFill>
                <a:latin typeface="Inter"/>
              </a:rPr>
              <a:t>HippoRAG 2-style personalized PageRank over extracted concepts · 7% lift over dense embeddings at 10-30x lower cost</a:t>
            </a:r>
          </a:p>
        </p:txBody>
      </p:sp>
      <p:sp>
        <p:nvSpPr>
          <p:cNvPr id="10" name="TextBox 9"/>
          <p:cNvSpPr txBox="1"/>
          <p:nvPr/>
        </p:nvSpPr>
        <p:spPr>
          <a:xfrm>
            <a:off x="548640" y="3474720"/>
            <a:ext cx="3931920" cy="457200"/>
          </a:xfrm>
          <a:prstGeom prst="rect">
            <a:avLst/>
          </a:prstGeom>
          <a:noFill/>
        </p:spPr>
        <p:txBody>
          <a:bodyPr wrap="square" lIns="0" rIns="0" tIns="0" bIns="0" anchor="t">
            <a:spAutoFit/>
          </a:bodyPr>
          <a:lstStyle/>
          <a:p>
            <a:pPr algn="l"/>
            <a:r>
              <a:rPr sz="1700" b="1" i="0">
                <a:solidFill>
                  <a:srgbClr val="0B4A9E"/>
                </a:solidFill>
                <a:latin typeface="Inter"/>
              </a:rPr>
              <a:t>Better evaluation</a:t>
            </a:r>
          </a:p>
        </p:txBody>
      </p:sp>
      <p:sp>
        <p:nvSpPr>
          <p:cNvPr id="11" name="TextBox 10"/>
          <p:cNvSpPr txBox="1"/>
          <p:nvPr/>
        </p:nvSpPr>
        <p:spPr>
          <a:xfrm>
            <a:off x="4572000" y="3520440"/>
            <a:ext cx="7132320" cy="822960"/>
          </a:xfrm>
          <a:prstGeom prst="rect">
            <a:avLst/>
          </a:prstGeom>
          <a:noFill/>
        </p:spPr>
        <p:txBody>
          <a:bodyPr wrap="square" lIns="0" rIns="0" tIns="0" bIns="0" anchor="t">
            <a:spAutoFit/>
          </a:bodyPr>
          <a:lstStyle/>
          <a:p>
            <a:pPr algn="l"/>
            <a:r>
              <a:rPr sz="1300" b="0" i="0">
                <a:solidFill>
                  <a:srgbClr val="151B23"/>
                </a:solidFill>
                <a:latin typeface="Inter"/>
              </a:rPr>
              <a:t>200+ query benchmark · expert-judged graded relevance · agent-task evaluation, not just retrieval</a:t>
            </a:r>
          </a:p>
        </p:txBody>
      </p:sp>
      <p:sp>
        <p:nvSpPr>
          <p:cNvPr id="12" name="TextBox 11"/>
          <p:cNvSpPr txBox="1"/>
          <p:nvPr/>
        </p:nvSpPr>
        <p:spPr>
          <a:xfrm>
            <a:off x="548640" y="4297680"/>
            <a:ext cx="3931920" cy="457200"/>
          </a:xfrm>
          <a:prstGeom prst="rect">
            <a:avLst/>
          </a:prstGeom>
          <a:noFill/>
        </p:spPr>
        <p:txBody>
          <a:bodyPr wrap="square" lIns="0" rIns="0" tIns="0" bIns="0" anchor="t">
            <a:spAutoFit/>
          </a:bodyPr>
          <a:lstStyle/>
          <a:p>
            <a:pPr algn="l"/>
            <a:r>
              <a:rPr sz="1700" b="1" i="0">
                <a:solidFill>
                  <a:srgbClr val="0B4A9E"/>
                </a:solidFill>
                <a:latin typeface="Inter"/>
              </a:rPr>
              <a:t>Upstream to ADS</a:t>
            </a:r>
          </a:p>
        </p:txBody>
      </p:sp>
      <p:sp>
        <p:nvSpPr>
          <p:cNvPr id="13" name="TextBox 12"/>
          <p:cNvSpPr txBox="1"/>
          <p:nvPr/>
        </p:nvSpPr>
        <p:spPr>
          <a:xfrm>
            <a:off x="4572000" y="4343400"/>
            <a:ext cx="7132320" cy="822960"/>
          </a:xfrm>
          <a:prstGeom prst="rect">
            <a:avLst/>
          </a:prstGeom>
          <a:noFill/>
        </p:spPr>
        <p:txBody>
          <a:bodyPr wrap="square" lIns="0" rIns="0" tIns="0" bIns="0" anchor="t">
            <a:spAutoFit/>
          </a:bodyPr>
          <a:lstStyle/>
          <a:p>
            <a:pPr algn="l"/>
            <a:r>
              <a:rPr sz="1300" b="0" i="0">
                <a:solidFill>
                  <a:srgbClr val="151B23"/>
                </a:solidFill>
                <a:latin typeface="Inter"/>
              </a:rPr>
              <a:t>Embeddings and graph metrics as data products · MCP endpoint alongside REST API · no re-harvest needed</a:t>
            </a:r>
          </a:p>
        </p:txBody>
      </p:sp>
      <p:sp>
        <p:nvSpPr>
          <p:cNvPr id="14" name="TextBox 13"/>
          <p:cNvSpPr txBox="1"/>
          <p:nvPr/>
        </p:nvSpPr>
        <p:spPr>
          <a:xfrm>
            <a:off x="548640" y="5120640"/>
            <a:ext cx="3931920" cy="457200"/>
          </a:xfrm>
          <a:prstGeom prst="rect">
            <a:avLst/>
          </a:prstGeom>
          <a:noFill/>
        </p:spPr>
        <p:txBody>
          <a:bodyPr wrap="square" lIns="0" rIns="0" tIns="0" bIns="0" anchor="t">
            <a:spAutoFit/>
          </a:bodyPr>
          <a:lstStyle/>
          <a:p>
            <a:pPr algn="l"/>
            <a:r>
              <a:rPr sz="1700" b="1" i="0">
                <a:solidFill>
                  <a:srgbClr val="0B4A9E"/>
                </a:solidFill>
                <a:latin typeface="Inter"/>
              </a:rPr>
              <a:t>Multi-corpus</a:t>
            </a:r>
          </a:p>
        </p:txBody>
      </p:sp>
      <p:sp>
        <p:nvSpPr>
          <p:cNvPr id="15" name="TextBox 14"/>
          <p:cNvSpPr txBox="1"/>
          <p:nvPr/>
        </p:nvSpPr>
        <p:spPr>
          <a:xfrm>
            <a:off x="4572000" y="5166360"/>
            <a:ext cx="7132320" cy="822960"/>
          </a:xfrm>
          <a:prstGeom prst="rect">
            <a:avLst/>
          </a:prstGeom>
          <a:noFill/>
        </p:spPr>
        <p:txBody>
          <a:bodyPr wrap="square" lIns="0" rIns="0" tIns="0" bIns="0" anchor="t">
            <a:spAutoFit/>
          </a:bodyPr>
          <a:lstStyle/>
          <a:p>
            <a:pPr algn="l"/>
            <a:r>
              <a:rPr sz="1300" b="0" i="0">
                <a:solidFill>
                  <a:srgbClr val="151B23"/>
                </a:solidFill>
                <a:latin typeface="Inter"/>
              </a:rPr>
              <a:t>Same MCP surface over arXiv, bioRxiv, APS · agent writes corpus-agnostic code</a:t>
            </a:r>
          </a:p>
        </p:txBody>
      </p:sp>
      <p:sp>
        <p:nvSpPr>
          <p:cNvPr id="16" name="TextBox 15"/>
          <p:cNvSpPr txBox="1"/>
          <p:nvPr/>
        </p:nvSpPr>
        <p:spPr>
          <a:xfrm>
            <a:off x="457200" y="6492240"/>
            <a:ext cx="9144000" cy="274320"/>
          </a:xfrm>
          <a:prstGeom prst="rect">
            <a:avLst/>
          </a:prstGeom>
          <a:noFill/>
        </p:spPr>
        <p:txBody>
          <a:bodyPr wrap="square" lIns="0" rIns="0" tIns="0" bIns="0" anchor="t">
            <a:spAutoFit/>
          </a:bodyPr>
          <a:lstStyle/>
          <a:p>
            <a:pPr algn="l"/>
            <a:r>
              <a:rPr sz="1000" b="0" i="0">
                <a:solidFill>
                  <a:srgbClr val="6B7280"/>
                </a:solidFill>
                <a:latin typeface="Inter"/>
              </a:rPr>
              <a:t>Stephanie Jarmak  ·  MLOps Community  ·  Making Scientific Knowledge Navigable for Agents</a:t>
            </a:r>
          </a:p>
        </p:txBody>
      </p:sp>
      <p:sp>
        <p:nvSpPr>
          <p:cNvPr id="17" name="TextBox 16"/>
          <p:cNvSpPr txBox="1"/>
          <p:nvPr/>
        </p:nvSpPr>
        <p:spPr>
          <a:xfrm>
            <a:off x="11247120" y="6492240"/>
            <a:ext cx="731520" cy="274320"/>
          </a:xfrm>
          <a:prstGeom prst="rect">
            <a:avLst/>
          </a:prstGeom>
          <a:noFill/>
        </p:spPr>
        <p:txBody>
          <a:bodyPr wrap="square" lIns="0" rIns="0" tIns="0" bIns="0" anchor="t">
            <a:spAutoFit/>
          </a:bodyPr>
          <a:lstStyle/>
          <a:p>
            <a:pPr algn="r"/>
            <a:r>
              <a:rPr sz="1000" b="0" i="0">
                <a:solidFill>
                  <a:srgbClr val="6B7280"/>
                </a:solidFill>
                <a:latin typeface="Inter"/>
              </a:rPr>
              <a:t>28 / 30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1247120" cy="731520"/>
          </a:xfrm>
          <a:prstGeom prst="rect">
            <a:avLst/>
          </a:prstGeom>
          <a:noFill/>
        </p:spPr>
        <p:txBody>
          <a:bodyPr wrap="square" lIns="0" rIns="0" tIns="0" bIns="0" anchor="t">
            <a:spAutoFit/>
          </a:bodyPr>
          <a:lstStyle/>
          <a:p>
            <a:pPr algn="l"/>
            <a:r>
              <a:rPr sz="3200" b="1" i="0">
                <a:solidFill>
                  <a:srgbClr val="151B23"/>
                </a:solidFill>
                <a:latin typeface="Inter"/>
              </a:rPr>
              <a:t>A checklist for research copilot builders</a:t>
            </a:r>
          </a:p>
        </p:txBody>
      </p:sp>
      <p:sp>
        <p:nvSpPr>
          <p:cNvPr id="4" name="Rectangle 3"/>
          <p:cNvSpPr/>
          <p:nvPr/>
        </p:nvSpPr>
        <p:spPr>
          <a:xfrm>
            <a:off x="457200" y="1234440"/>
            <a:ext cx="731520" cy="25400"/>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457200" y="1719072"/>
            <a:ext cx="347472" cy="347472"/>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82496"/>
            <a:ext cx="347472" cy="365760"/>
          </a:xfrm>
          <a:prstGeom prst="rect">
            <a:avLst/>
          </a:prstGeom>
          <a:noFill/>
        </p:spPr>
        <p:txBody>
          <a:bodyPr wrap="square" lIns="0" rIns="0" tIns="0" bIns="0" anchor="t">
            <a:spAutoFit/>
          </a:bodyPr>
          <a:lstStyle/>
          <a:p>
            <a:pPr algn="ctr"/>
            <a:r>
              <a:rPr sz="1600" b="1" i="0">
                <a:solidFill>
                  <a:srgbClr val="FFFFFF"/>
                </a:solidFill>
                <a:latin typeface="Inter"/>
              </a:rPr>
              <a:t>✓</a:t>
            </a:r>
          </a:p>
        </p:txBody>
      </p:sp>
      <p:sp>
        <p:nvSpPr>
          <p:cNvPr id="7" name="TextBox 6"/>
          <p:cNvSpPr txBox="1"/>
          <p:nvPr/>
        </p:nvSpPr>
        <p:spPr>
          <a:xfrm>
            <a:off x="960120" y="1645920"/>
            <a:ext cx="3657600" cy="457200"/>
          </a:xfrm>
          <a:prstGeom prst="rect">
            <a:avLst/>
          </a:prstGeom>
          <a:noFill/>
        </p:spPr>
        <p:txBody>
          <a:bodyPr wrap="square" lIns="0" rIns="0" tIns="0" bIns="0" anchor="t">
            <a:spAutoFit/>
          </a:bodyPr>
          <a:lstStyle/>
          <a:p>
            <a:pPr algn="l"/>
            <a:r>
              <a:rPr sz="1600" b="1" i="0">
                <a:solidFill>
                  <a:srgbClr val="151B23"/>
                </a:solidFill>
                <a:latin typeface="Inter"/>
              </a:rPr>
              <a:t>Corpus boundary</a:t>
            </a:r>
          </a:p>
        </p:txBody>
      </p:sp>
      <p:sp>
        <p:nvSpPr>
          <p:cNvPr id="8" name="TextBox 7"/>
          <p:cNvSpPr txBox="1"/>
          <p:nvPr/>
        </p:nvSpPr>
        <p:spPr>
          <a:xfrm>
            <a:off x="4846320" y="1691640"/>
            <a:ext cx="7040880" cy="640080"/>
          </a:xfrm>
          <a:prstGeom prst="rect">
            <a:avLst/>
          </a:prstGeom>
          <a:noFill/>
        </p:spPr>
        <p:txBody>
          <a:bodyPr wrap="square" lIns="0" rIns="0" tIns="0" bIns="0" anchor="t">
            <a:spAutoFit/>
          </a:bodyPr>
          <a:lstStyle/>
          <a:p>
            <a:pPr algn="l"/>
            <a:r>
              <a:rPr sz="1300" b="0" i="0">
                <a:solidFill>
                  <a:srgbClr val="4B5563"/>
                </a:solidFill>
                <a:latin typeface="Inter"/>
              </a:rPr>
              <a:t>Set it deliberately. Partial-corpus graph analytics are structurally wrong, not just incomplete.</a:t>
            </a:r>
          </a:p>
        </p:txBody>
      </p:sp>
      <p:sp>
        <p:nvSpPr>
          <p:cNvPr id="9" name="Oval 8"/>
          <p:cNvSpPr/>
          <p:nvPr/>
        </p:nvSpPr>
        <p:spPr>
          <a:xfrm>
            <a:off x="457200" y="2432304"/>
            <a:ext cx="347472" cy="347472"/>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2395728"/>
            <a:ext cx="347472" cy="365760"/>
          </a:xfrm>
          <a:prstGeom prst="rect">
            <a:avLst/>
          </a:prstGeom>
          <a:noFill/>
        </p:spPr>
        <p:txBody>
          <a:bodyPr wrap="square" lIns="0" rIns="0" tIns="0" bIns="0" anchor="t">
            <a:spAutoFit/>
          </a:bodyPr>
          <a:lstStyle/>
          <a:p>
            <a:pPr algn="ctr"/>
            <a:r>
              <a:rPr sz="1600" b="1" i="0">
                <a:solidFill>
                  <a:srgbClr val="FFFFFF"/>
                </a:solidFill>
                <a:latin typeface="Inter"/>
              </a:rPr>
              <a:t>✓</a:t>
            </a:r>
          </a:p>
        </p:txBody>
      </p:sp>
      <p:sp>
        <p:nvSpPr>
          <p:cNvPr id="11" name="TextBox 10"/>
          <p:cNvSpPr txBox="1"/>
          <p:nvPr/>
        </p:nvSpPr>
        <p:spPr>
          <a:xfrm>
            <a:off x="960120" y="2359152"/>
            <a:ext cx="3657600" cy="457200"/>
          </a:xfrm>
          <a:prstGeom prst="rect">
            <a:avLst/>
          </a:prstGeom>
          <a:noFill/>
        </p:spPr>
        <p:txBody>
          <a:bodyPr wrap="square" lIns="0" rIns="0" tIns="0" bIns="0" anchor="t">
            <a:spAutoFit/>
          </a:bodyPr>
          <a:lstStyle/>
          <a:p>
            <a:pPr algn="l"/>
            <a:r>
              <a:rPr sz="1600" b="1" i="0">
                <a:solidFill>
                  <a:srgbClr val="151B23"/>
                </a:solidFill>
                <a:latin typeface="Inter"/>
              </a:rPr>
              <a:t>Hybrid retrieval</a:t>
            </a:r>
          </a:p>
        </p:txBody>
      </p:sp>
      <p:sp>
        <p:nvSpPr>
          <p:cNvPr id="12" name="TextBox 11"/>
          <p:cNvSpPr txBox="1"/>
          <p:nvPr/>
        </p:nvSpPr>
        <p:spPr>
          <a:xfrm>
            <a:off x="4846320" y="2404872"/>
            <a:ext cx="7040880" cy="640080"/>
          </a:xfrm>
          <a:prstGeom prst="rect">
            <a:avLst/>
          </a:prstGeom>
          <a:noFill/>
        </p:spPr>
        <p:txBody>
          <a:bodyPr wrap="square" lIns="0" rIns="0" tIns="0" bIns="0" anchor="t">
            <a:spAutoFit/>
          </a:bodyPr>
          <a:lstStyle/>
          <a:p>
            <a:pPr algn="l"/>
            <a:r>
              <a:rPr sz="1300" b="0" i="0">
                <a:solidFill>
                  <a:srgbClr val="4B5563"/>
                </a:solidFill>
                <a:latin typeface="Inter"/>
              </a:rPr>
              <a:t>Dense (domain) + dense (query-doc) + lexical. RRF fuses. Each alone has predictable failure modes.</a:t>
            </a:r>
          </a:p>
        </p:txBody>
      </p:sp>
      <p:sp>
        <p:nvSpPr>
          <p:cNvPr id="13" name="Oval 12"/>
          <p:cNvSpPr/>
          <p:nvPr/>
        </p:nvSpPr>
        <p:spPr>
          <a:xfrm>
            <a:off x="457200" y="3145536"/>
            <a:ext cx="347472" cy="347472"/>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108960"/>
            <a:ext cx="347472" cy="365760"/>
          </a:xfrm>
          <a:prstGeom prst="rect">
            <a:avLst/>
          </a:prstGeom>
          <a:noFill/>
        </p:spPr>
        <p:txBody>
          <a:bodyPr wrap="square" lIns="0" rIns="0" tIns="0" bIns="0" anchor="t">
            <a:spAutoFit/>
          </a:bodyPr>
          <a:lstStyle/>
          <a:p>
            <a:pPr algn="ctr"/>
            <a:r>
              <a:rPr sz="1600" b="1" i="0">
                <a:solidFill>
                  <a:srgbClr val="FFFFFF"/>
                </a:solidFill>
                <a:latin typeface="Inter"/>
              </a:rPr>
              <a:t>✓</a:t>
            </a:r>
          </a:p>
        </p:txBody>
      </p:sp>
      <p:sp>
        <p:nvSpPr>
          <p:cNvPr id="15" name="TextBox 14"/>
          <p:cNvSpPr txBox="1"/>
          <p:nvPr/>
        </p:nvSpPr>
        <p:spPr>
          <a:xfrm>
            <a:off x="960120" y="3072384"/>
            <a:ext cx="3657600" cy="457200"/>
          </a:xfrm>
          <a:prstGeom prst="rect">
            <a:avLst/>
          </a:prstGeom>
          <a:noFill/>
        </p:spPr>
        <p:txBody>
          <a:bodyPr wrap="square" lIns="0" rIns="0" tIns="0" bIns="0" anchor="t">
            <a:spAutoFit/>
          </a:bodyPr>
          <a:lstStyle/>
          <a:p>
            <a:pPr algn="l"/>
            <a:r>
              <a:rPr sz="1600" b="1" i="0">
                <a:solidFill>
                  <a:srgbClr val="151B23"/>
                </a:solidFill>
                <a:latin typeface="Inter"/>
              </a:rPr>
              <a:t>Graph primitives</a:t>
            </a:r>
          </a:p>
        </p:txBody>
      </p:sp>
      <p:sp>
        <p:nvSpPr>
          <p:cNvPr id="16" name="TextBox 15"/>
          <p:cNvSpPr txBox="1"/>
          <p:nvPr/>
        </p:nvSpPr>
        <p:spPr>
          <a:xfrm>
            <a:off x="4846320" y="3118104"/>
            <a:ext cx="7040880" cy="640080"/>
          </a:xfrm>
          <a:prstGeom prst="rect">
            <a:avLst/>
          </a:prstGeom>
          <a:noFill/>
        </p:spPr>
        <p:txBody>
          <a:bodyPr wrap="square" lIns="0" rIns="0" tIns="0" bIns="0" anchor="t">
            <a:spAutoFit/>
          </a:bodyPr>
          <a:lstStyle/>
          <a:p>
            <a:pPr algn="l"/>
            <a:r>
              <a:rPr sz="1300" b="0" i="0">
                <a:solidFill>
                  <a:srgbClr val="4B5563"/>
                </a:solidFill>
                <a:latin typeface="Inter"/>
              </a:rPr>
              <a:t>PageRank, communities, citation chains — as first-class MCP tools, not offline batch.</a:t>
            </a:r>
          </a:p>
        </p:txBody>
      </p:sp>
      <p:sp>
        <p:nvSpPr>
          <p:cNvPr id="17" name="Oval 16"/>
          <p:cNvSpPr/>
          <p:nvPr/>
        </p:nvSpPr>
        <p:spPr>
          <a:xfrm>
            <a:off x="457200" y="3858767"/>
            <a:ext cx="347472" cy="347472"/>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822191"/>
            <a:ext cx="347472" cy="365760"/>
          </a:xfrm>
          <a:prstGeom prst="rect">
            <a:avLst/>
          </a:prstGeom>
          <a:noFill/>
        </p:spPr>
        <p:txBody>
          <a:bodyPr wrap="square" lIns="0" rIns="0" tIns="0" bIns="0" anchor="t">
            <a:spAutoFit/>
          </a:bodyPr>
          <a:lstStyle/>
          <a:p>
            <a:pPr algn="ctr"/>
            <a:r>
              <a:rPr sz="1600" b="1" i="0">
                <a:solidFill>
                  <a:srgbClr val="FFFFFF"/>
                </a:solidFill>
                <a:latin typeface="Inter"/>
              </a:rPr>
              <a:t>✓</a:t>
            </a:r>
          </a:p>
        </p:txBody>
      </p:sp>
      <p:sp>
        <p:nvSpPr>
          <p:cNvPr id="19" name="TextBox 18"/>
          <p:cNvSpPr txBox="1"/>
          <p:nvPr/>
        </p:nvSpPr>
        <p:spPr>
          <a:xfrm>
            <a:off x="960120" y="3785615"/>
            <a:ext cx="3657600" cy="457200"/>
          </a:xfrm>
          <a:prstGeom prst="rect">
            <a:avLst/>
          </a:prstGeom>
          <a:noFill/>
        </p:spPr>
        <p:txBody>
          <a:bodyPr wrap="square" lIns="0" rIns="0" tIns="0" bIns="0" anchor="t">
            <a:spAutoFit/>
          </a:bodyPr>
          <a:lstStyle/>
          <a:p>
            <a:pPr algn="l"/>
            <a:r>
              <a:rPr sz="1600" b="1" i="0">
                <a:solidFill>
                  <a:srgbClr val="151B23"/>
                </a:solidFill>
                <a:latin typeface="Inter"/>
              </a:rPr>
              <a:t>Session memory</a:t>
            </a:r>
          </a:p>
        </p:txBody>
      </p:sp>
      <p:sp>
        <p:nvSpPr>
          <p:cNvPr id="20" name="TextBox 19"/>
          <p:cNvSpPr txBox="1"/>
          <p:nvPr/>
        </p:nvSpPr>
        <p:spPr>
          <a:xfrm>
            <a:off x="4846320" y="3831335"/>
            <a:ext cx="7040880" cy="640080"/>
          </a:xfrm>
          <a:prstGeom prst="rect">
            <a:avLst/>
          </a:prstGeom>
          <a:noFill/>
        </p:spPr>
        <p:txBody>
          <a:bodyPr wrap="square" lIns="0" rIns="0" tIns="0" bIns="0" anchor="t">
            <a:spAutoFit/>
          </a:bodyPr>
          <a:lstStyle/>
          <a:p>
            <a:pPr algn="l"/>
            <a:r>
              <a:rPr sz="1300" b="0" i="0">
                <a:solidFill>
                  <a:srgbClr val="4B5563"/>
                </a:solidFill>
                <a:latin typeface="Inter"/>
              </a:rPr>
              <a:t>Working set lives on the server. Provenance tags. Not in the prompt.</a:t>
            </a:r>
          </a:p>
        </p:txBody>
      </p:sp>
      <p:sp>
        <p:nvSpPr>
          <p:cNvPr id="21" name="Oval 20"/>
          <p:cNvSpPr/>
          <p:nvPr/>
        </p:nvSpPr>
        <p:spPr>
          <a:xfrm>
            <a:off x="457200" y="4572000"/>
            <a:ext cx="347472" cy="347472"/>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4535424"/>
            <a:ext cx="347472" cy="365760"/>
          </a:xfrm>
          <a:prstGeom prst="rect">
            <a:avLst/>
          </a:prstGeom>
          <a:noFill/>
        </p:spPr>
        <p:txBody>
          <a:bodyPr wrap="square" lIns="0" rIns="0" tIns="0" bIns="0" anchor="t">
            <a:spAutoFit/>
          </a:bodyPr>
          <a:lstStyle/>
          <a:p>
            <a:pPr algn="ctr"/>
            <a:r>
              <a:rPr sz="1600" b="1" i="0">
                <a:solidFill>
                  <a:srgbClr val="FFFFFF"/>
                </a:solidFill>
                <a:latin typeface="Inter"/>
              </a:rPr>
              <a:t>✓</a:t>
            </a:r>
          </a:p>
        </p:txBody>
      </p:sp>
      <p:sp>
        <p:nvSpPr>
          <p:cNvPr id="23" name="TextBox 22"/>
          <p:cNvSpPr txBox="1"/>
          <p:nvPr/>
        </p:nvSpPr>
        <p:spPr>
          <a:xfrm>
            <a:off x="960120" y="4498848"/>
            <a:ext cx="3657600" cy="457200"/>
          </a:xfrm>
          <a:prstGeom prst="rect">
            <a:avLst/>
          </a:prstGeom>
          <a:noFill/>
        </p:spPr>
        <p:txBody>
          <a:bodyPr wrap="square" lIns="0" rIns="0" tIns="0" bIns="0" anchor="t">
            <a:spAutoFit/>
          </a:bodyPr>
          <a:lstStyle/>
          <a:p>
            <a:pPr algn="l"/>
            <a:r>
              <a:rPr sz="1600" b="1" i="0">
                <a:solidFill>
                  <a:srgbClr val="151B23"/>
                </a:solidFill>
                <a:latin typeface="Inter"/>
              </a:rPr>
              <a:t>Tool count discipline</a:t>
            </a:r>
          </a:p>
        </p:txBody>
      </p:sp>
      <p:sp>
        <p:nvSpPr>
          <p:cNvPr id="24" name="TextBox 23"/>
          <p:cNvSpPr txBox="1"/>
          <p:nvPr/>
        </p:nvSpPr>
        <p:spPr>
          <a:xfrm>
            <a:off x="4846320" y="4544568"/>
            <a:ext cx="7040880" cy="640080"/>
          </a:xfrm>
          <a:prstGeom prst="rect">
            <a:avLst/>
          </a:prstGeom>
          <a:noFill/>
        </p:spPr>
        <p:txBody>
          <a:bodyPr wrap="square" lIns="0" rIns="0" tIns="0" bIns="0" anchor="t">
            <a:spAutoFit/>
          </a:bodyPr>
          <a:lstStyle/>
          <a:p>
            <a:pPr algn="l"/>
            <a:r>
              <a:rPr sz="1300" b="0" i="0">
                <a:solidFill>
                  <a:srgbClr val="4B5563"/>
                </a:solidFill>
                <a:latin typeface="Inter"/>
              </a:rPr>
              <a:t>&lt; 15 tools. Compact stubs. Stable schemas. Cursor pagination.</a:t>
            </a:r>
          </a:p>
        </p:txBody>
      </p:sp>
      <p:sp>
        <p:nvSpPr>
          <p:cNvPr id="25" name="Oval 24"/>
          <p:cNvSpPr/>
          <p:nvPr/>
        </p:nvSpPr>
        <p:spPr>
          <a:xfrm>
            <a:off x="457200" y="5285232"/>
            <a:ext cx="347472" cy="347472"/>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5248656"/>
            <a:ext cx="347472" cy="365760"/>
          </a:xfrm>
          <a:prstGeom prst="rect">
            <a:avLst/>
          </a:prstGeom>
          <a:noFill/>
        </p:spPr>
        <p:txBody>
          <a:bodyPr wrap="square" lIns="0" rIns="0" tIns="0" bIns="0" anchor="t">
            <a:spAutoFit/>
          </a:bodyPr>
          <a:lstStyle/>
          <a:p>
            <a:pPr algn="ctr"/>
            <a:r>
              <a:rPr sz="1600" b="1" i="0">
                <a:solidFill>
                  <a:srgbClr val="FFFFFF"/>
                </a:solidFill>
                <a:latin typeface="Inter"/>
              </a:rPr>
              <a:t>✓</a:t>
            </a:r>
          </a:p>
        </p:txBody>
      </p:sp>
      <p:sp>
        <p:nvSpPr>
          <p:cNvPr id="27" name="TextBox 26"/>
          <p:cNvSpPr txBox="1"/>
          <p:nvPr/>
        </p:nvSpPr>
        <p:spPr>
          <a:xfrm>
            <a:off x="960120" y="5212080"/>
            <a:ext cx="3657600" cy="457200"/>
          </a:xfrm>
          <a:prstGeom prst="rect">
            <a:avLst/>
          </a:prstGeom>
          <a:noFill/>
        </p:spPr>
        <p:txBody>
          <a:bodyPr wrap="square" lIns="0" rIns="0" tIns="0" bIns="0" anchor="t">
            <a:spAutoFit/>
          </a:bodyPr>
          <a:lstStyle/>
          <a:p>
            <a:pPr algn="l"/>
            <a:r>
              <a:rPr sz="1600" b="1" i="0">
                <a:solidFill>
                  <a:srgbClr val="151B23"/>
                </a:solidFill>
                <a:latin typeface="Inter"/>
              </a:rPr>
              <a:t>Own your eval</a:t>
            </a:r>
          </a:p>
        </p:txBody>
      </p:sp>
      <p:sp>
        <p:nvSpPr>
          <p:cNvPr id="28" name="TextBox 27"/>
          <p:cNvSpPr txBox="1"/>
          <p:nvPr/>
        </p:nvSpPr>
        <p:spPr>
          <a:xfrm>
            <a:off x="4846320" y="5257800"/>
            <a:ext cx="7040880" cy="640080"/>
          </a:xfrm>
          <a:prstGeom prst="rect">
            <a:avLst/>
          </a:prstGeom>
          <a:noFill/>
        </p:spPr>
        <p:txBody>
          <a:bodyPr wrap="square" lIns="0" rIns="0" tIns="0" bIns="0" anchor="t">
            <a:spAutoFit/>
          </a:bodyPr>
          <a:lstStyle/>
          <a:p>
            <a:pPr algn="l"/>
            <a:r>
              <a:rPr sz="1300" b="0" i="0">
                <a:solidFill>
                  <a:srgbClr val="4B5563"/>
                </a:solidFill>
                <a:latin typeface="Inter"/>
              </a:rPr>
              <a:t>50 queries minimum. Name your methodology bias. Validate with experts.</a:t>
            </a:r>
          </a:p>
        </p:txBody>
      </p:sp>
      <p:sp>
        <p:nvSpPr>
          <p:cNvPr id="29" name="Oval 28"/>
          <p:cNvSpPr/>
          <p:nvPr/>
        </p:nvSpPr>
        <p:spPr>
          <a:xfrm>
            <a:off x="457200" y="5998464"/>
            <a:ext cx="347472" cy="347472"/>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5961888"/>
            <a:ext cx="347472" cy="365760"/>
          </a:xfrm>
          <a:prstGeom prst="rect">
            <a:avLst/>
          </a:prstGeom>
          <a:noFill/>
        </p:spPr>
        <p:txBody>
          <a:bodyPr wrap="square" lIns="0" rIns="0" tIns="0" bIns="0" anchor="t">
            <a:spAutoFit/>
          </a:bodyPr>
          <a:lstStyle/>
          <a:p>
            <a:pPr algn="ctr"/>
            <a:r>
              <a:rPr sz="1600" b="1" i="0">
                <a:solidFill>
                  <a:srgbClr val="FFFFFF"/>
                </a:solidFill>
                <a:latin typeface="Inter"/>
              </a:rPr>
              <a:t>✓</a:t>
            </a:r>
          </a:p>
        </p:txBody>
      </p:sp>
      <p:sp>
        <p:nvSpPr>
          <p:cNvPr id="31" name="TextBox 30"/>
          <p:cNvSpPr txBox="1"/>
          <p:nvPr/>
        </p:nvSpPr>
        <p:spPr>
          <a:xfrm>
            <a:off x="960120" y="5925312"/>
            <a:ext cx="3657600" cy="457200"/>
          </a:xfrm>
          <a:prstGeom prst="rect">
            <a:avLst/>
          </a:prstGeom>
          <a:noFill/>
        </p:spPr>
        <p:txBody>
          <a:bodyPr wrap="square" lIns="0" rIns="0" tIns="0" bIns="0" anchor="t">
            <a:spAutoFit/>
          </a:bodyPr>
          <a:lstStyle/>
          <a:p>
            <a:pPr algn="l"/>
            <a:r>
              <a:rPr sz="1600" b="1" i="0">
                <a:solidFill>
                  <a:srgbClr val="151B23"/>
                </a:solidFill>
                <a:latin typeface="Inter"/>
              </a:rPr>
              <a:t>Instrument everything</a:t>
            </a:r>
          </a:p>
        </p:txBody>
      </p:sp>
      <p:sp>
        <p:nvSpPr>
          <p:cNvPr id="32" name="TextBox 31"/>
          <p:cNvSpPr txBox="1"/>
          <p:nvPr/>
        </p:nvSpPr>
        <p:spPr>
          <a:xfrm>
            <a:off x="4846320" y="5971032"/>
            <a:ext cx="7040880" cy="640080"/>
          </a:xfrm>
          <a:prstGeom prst="rect">
            <a:avLst/>
          </a:prstGeom>
          <a:noFill/>
        </p:spPr>
        <p:txBody>
          <a:bodyPr wrap="square" lIns="0" rIns="0" tIns="0" bIns="0" anchor="t">
            <a:spAutoFit/>
          </a:bodyPr>
          <a:lstStyle/>
          <a:p>
            <a:pPr algn="l"/>
            <a:r>
              <a:rPr sz="1300" b="0" i="0">
                <a:solidFill>
                  <a:srgbClr val="4B5563"/>
                </a:solidFill>
                <a:latin typeface="Inter"/>
              </a:rPr>
              <a:t>Agent-trace viz is the fastest way to learn whether your tools are working.</a:t>
            </a:r>
          </a:p>
        </p:txBody>
      </p:sp>
      <p:sp>
        <p:nvSpPr>
          <p:cNvPr id="33" name="TextBox 32"/>
          <p:cNvSpPr txBox="1"/>
          <p:nvPr/>
        </p:nvSpPr>
        <p:spPr>
          <a:xfrm>
            <a:off x="457200" y="6492240"/>
            <a:ext cx="9144000" cy="274320"/>
          </a:xfrm>
          <a:prstGeom prst="rect">
            <a:avLst/>
          </a:prstGeom>
          <a:noFill/>
        </p:spPr>
        <p:txBody>
          <a:bodyPr wrap="square" lIns="0" rIns="0" tIns="0" bIns="0" anchor="t">
            <a:spAutoFit/>
          </a:bodyPr>
          <a:lstStyle/>
          <a:p>
            <a:pPr algn="l"/>
            <a:r>
              <a:rPr sz="1000" b="0" i="0">
                <a:solidFill>
                  <a:srgbClr val="6B7280"/>
                </a:solidFill>
                <a:latin typeface="Inter"/>
              </a:rPr>
              <a:t>Stephanie Jarmak  ·  MLOps Community  ·  Making Scientific Knowledge Navigable for Agents</a:t>
            </a:r>
          </a:p>
        </p:txBody>
      </p:sp>
      <p:sp>
        <p:nvSpPr>
          <p:cNvPr id="34" name="TextBox 33"/>
          <p:cNvSpPr txBox="1"/>
          <p:nvPr/>
        </p:nvSpPr>
        <p:spPr>
          <a:xfrm>
            <a:off x="11247120" y="6492240"/>
            <a:ext cx="731520" cy="274320"/>
          </a:xfrm>
          <a:prstGeom prst="rect">
            <a:avLst/>
          </a:prstGeom>
          <a:noFill/>
        </p:spPr>
        <p:txBody>
          <a:bodyPr wrap="square" lIns="0" rIns="0" tIns="0" bIns="0" anchor="t">
            <a:spAutoFit/>
          </a:bodyPr>
          <a:lstStyle/>
          <a:p>
            <a:pPr algn="r"/>
            <a:r>
              <a:rPr sz="1000" b="0" i="0">
                <a:solidFill>
                  <a:srgbClr val="6B7280"/>
                </a:solidFill>
                <a:latin typeface="Inter"/>
              </a:rPr>
              <a:t>29 / 30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097280"/>
            <a:ext cx="10972800" cy="1280160"/>
          </a:xfrm>
          <a:prstGeom prst="rect">
            <a:avLst/>
          </a:prstGeom>
          <a:noFill/>
        </p:spPr>
        <p:txBody>
          <a:bodyPr wrap="square" lIns="0" rIns="0" tIns="0" bIns="0" anchor="t">
            <a:spAutoFit/>
          </a:bodyPr>
          <a:lstStyle/>
          <a:p>
            <a:pPr algn="l"/>
            <a:r>
              <a:rPr sz="6400" b="1" i="0">
                <a:solidFill>
                  <a:srgbClr val="151B23"/>
                </a:solidFill>
                <a:latin typeface="Inter"/>
              </a:rPr>
              <a:t>Thank you</a:t>
            </a:r>
          </a:p>
        </p:txBody>
      </p:sp>
      <p:sp>
        <p:nvSpPr>
          <p:cNvPr id="5" name="TextBox 4"/>
          <p:cNvSpPr txBox="1"/>
          <p:nvPr/>
        </p:nvSpPr>
        <p:spPr>
          <a:xfrm>
            <a:off x="822960" y="2468880"/>
            <a:ext cx="10972800" cy="731520"/>
          </a:xfrm>
          <a:prstGeom prst="rect">
            <a:avLst/>
          </a:prstGeom>
          <a:noFill/>
        </p:spPr>
        <p:txBody>
          <a:bodyPr wrap="square" lIns="0" rIns="0" tIns="0" bIns="0" anchor="t">
            <a:spAutoFit/>
          </a:bodyPr>
          <a:lstStyle/>
          <a:p>
            <a:pPr algn="l"/>
            <a:r>
              <a:rPr sz="2800" b="0" i="0">
                <a:solidFill>
                  <a:srgbClr val="0B4A9E"/>
                </a:solidFill>
                <a:latin typeface="Inter"/>
              </a:rPr>
              <a:t>Questions?</a:t>
            </a:r>
          </a:p>
        </p:txBody>
      </p:sp>
      <p:sp>
        <p:nvSpPr>
          <p:cNvPr id="6" name="Rectangle 5"/>
          <p:cNvSpPr/>
          <p:nvPr/>
        </p:nvSpPr>
        <p:spPr>
          <a:xfrm>
            <a:off x="822960" y="3474720"/>
            <a:ext cx="1097280" cy="25400"/>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749039"/>
            <a:ext cx="10972800" cy="457200"/>
          </a:xfrm>
          <a:prstGeom prst="rect">
            <a:avLst/>
          </a:prstGeom>
          <a:noFill/>
        </p:spPr>
        <p:txBody>
          <a:bodyPr wrap="square" lIns="0" rIns="0" tIns="0" bIns="0" anchor="t">
            <a:spAutoFit/>
          </a:bodyPr>
          <a:lstStyle/>
          <a:p>
            <a:pPr algn="l"/>
            <a:r>
              <a:rPr sz="2200" b="1" i="0">
                <a:solidFill>
                  <a:srgbClr val="151B23"/>
                </a:solidFill>
                <a:latin typeface="Inter"/>
              </a:rPr>
              <a:t>Stephanie Jarmak</a:t>
            </a:r>
          </a:p>
        </p:txBody>
      </p:sp>
      <p:sp>
        <p:nvSpPr>
          <p:cNvPr id="8" name="TextBox 7"/>
          <p:cNvSpPr txBox="1"/>
          <p:nvPr/>
        </p:nvSpPr>
        <p:spPr>
          <a:xfrm>
            <a:off x="822960" y="4160520"/>
            <a:ext cx="10972800" cy="365760"/>
          </a:xfrm>
          <a:prstGeom prst="rect">
            <a:avLst/>
          </a:prstGeom>
          <a:noFill/>
        </p:spPr>
        <p:txBody>
          <a:bodyPr wrap="square" lIns="0" rIns="0" tIns="0" bIns="0" anchor="t">
            <a:spAutoFit/>
          </a:bodyPr>
          <a:lstStyle/>
          <a:p>
            <a:pPr algn="l"/>
            <a:r>
              <a:rPr sz="1500" b="0" i="0">
                <a:solidFill>
                  <a:srgbClr val="4B5563"/>
                </a:solidFill>
                <a:latin typeface="Inter"/>
              </a:rPr>
              <a:t>Sourcegraph  ·  Harvard &amp; Smithsonian | Center for Astrophysics</a:t>
            </a:r>
          </a:p>
        </p:txBody>
      </p:sp>
      <p:sp>
        <p:nvSpPr>
          <p:cNvPr id="9" name="TextBox 8"/>
          <p:cNvSpPr txBox="1"/>
          <p:nvPr/>
        </p:nvSpPr>
        <p:spPr>
          <a:xfrm>
            <a:off x="822960" y="4846320"/>
            <a:ext cx="10972800" cy="365760"/>
          </a:xfrm>
          <a:prstGeom prst="rect">
            <a:avLst/>
          </a:prstGeom>
          <a:noFill/>
        </p:spPr>
        <p:txBody>
          <a:bodyPr wrap="square" lIns="0" rIns="0" tIns="0" bIns="0" anchor="t">
            <a:spAutoFit/>
          </a:bodyPr>
          <a:lstStyle/>
          <a:p>
            <a:pPr algn="l"/>
            <a:r>
              <a:rPr sz="1600" b="1" i="0">
                <a:solidFill>
                  <a:srgbClr val="0B4A9E"/>
                </a:solidFill>
                <a:latin typeface="Inter"/>
              </a:rPr>
              <a:t>Resources</a:t>
            </a:r>
          </a:p>
        </p:txBody>
      </p:sp>
      <p:sp>
        <p:nvSpPr>
          <p:cNvPr id="10" name="TextBox 9"/>
          <p:cNvSpPr txBox="1"/>
          <p:nvPr/>
        </p:nvSpPr>
        <p:spPr>
          <a:xfrm>
            <a:off x="822960" y="5212080"/>
            <a:ext cx="10972800" cy="274320"/>
          </a:xfrm>
          <a:prstGeom prst="rect">
            <a:avLst/>
          </a:prstGeom>
          <a:noFill/>
        </p:spPr>
        <p:txBody>
          <a:bodyPr wrap="square" lIns="0" rIns="0" tIns="0" bIns="0" anchor="t">
            <a:spAutoFit/>
          </a:bodyPr>
          <a:lstStyle/>
          <a:p>
            <a:pPr algn="l"/>
            <a:r>
              <a:rPr sz="1400" b="0" i="0">
                <a:solidFill>
                  <a:srgbClr val="151B23"/>
                </a:solidFill>
                <a:latin typeface="Inter"/>
              </a:rPr>
              <a:t>•  Repository — github.com/sjarmak/scix-agent</a:t>
            </a:r>
          </a:p>
        </p:txBody>
      </p:sp>
      <p:sp>
        <p:nvSpPr>
          <p:cNvPr id="11" name="TextBox 10"/>
          <p:cNvSpPr txBox="1"/>
          <p:nvPr/>
        </p:nvSpPr>
        <p:spPr>
          <a:xfrm>
            <a:off x="822960" y="5504688"/>
            <a:ext cx="10972800" cy="274320"/>
          </a:xfrm>
          <a:prstGeom prst="rect">
            <a:avLst/>
          </a:prstGeom>
          <a:noFill/>
        </p:spPr>
        <p:txBody>
          <a:bodyPr wrap="square" lIns="0" rIns="0" tIns="0" bIns="0" anchor="t">
            <a:spAutoFit/>
          </a:bodyPr>
          <a:lstStyle/>
          <a:p>
            <a:pPr algn="l"/>
            <a:r>
              <a:rPr sz="1400" b="0" i="0">
                <a:solidFill>
                  <a:srgbClr val="151B23"/>
                </a:solidFill>
                <a:latin typeface="Inter"/>
              </a:rPr>
              <a:t>•  Live MCP endpoint — mcp.sjarmak.ai/mcp/</a:t>
            </a:r>
          </a:p>
        </p:txBody>
      </p:sp>
      <p:sp>
        <p:nvSpPr>
          <p:cNvPr id="12" name="TextBox 11"/>
          <p:cNvSpPr txBox="1"/>
          <p:nvPr/>
        </p:nvSpPr>
        <p:spPr>
          <a:xfrm>
            <a:off x="822960" y="5797296"/>
            <a:ext cx="10972800" cy="274320"/>
          </a:xfrm>
          <a:prstGeom prst="rect">
            <a:avLst/>
          </a:prstGeom>
          <a:noFill/>
        </p:spPr>
        <p:txBody>
          <a:bodyPr wrap="square" lIns="0" rIns="0" tIns="0" bIns="0" anchor="t">
            <a:spAutoFit/>
          </a:bodyPr>
          <a:lstStyle/>
          <a:p>
            <a:pPr algn="l"/>
            <a:r>
              <a:rPr sz="1400" b="0" i="0">
                <a:solidFill>
                  <a:srgbClr val="151B23"/>
                </a:solidFill>
                <a:latin typeface="Inter"/>
              </a:rPr>
              <a:t>•  Paper (ADASS 2026, preprint) — arXiv (pending)</a:t>
            </a:r>
          </a:p>
        </p:txBody>
      </p:sp>
      <p:sp>
        <p:nvSpPr>
          <p:cNvPr id="13" name="TextBox 12"/>
          <p:cNvSpPr txBox="1"/>
          <p:nvPr/>
        </p:nvSpPr>
        <p:spPr>
          <a:xfrm>
            <a:off x="822960" y="6089904"/>
            <a:ext cx="10972800" cy="274320"/>
          </a:xfrm>
          <a:prstGeom prst="rect">
            <a:avLst/>
          </a:prstGeom>
          <a:noFill/>
        </p:spPr>
        <p:txBody>
          <a:bodyPr wrap="square" lIns="0" rIns="0" tIns="0" bIns="0" anchor="t">
            <a:spAutoFit/>
          </a:bodyPr>
          <a:lstStyle/>
          <a:p>
            <a:pPr algn="l"/>
            <a:r>
              <a:rPr sz="1400" b="0" i="0">
                <a:solidFill>
                  <a:srgbClr val="151B23"/>
                </a:solidFill>
                <a:latin typeface="Inter"/>
              </a:rPr>
              <a:t>•  Contact — steph.jarmak@gmail.com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