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80000"/>
            <a:ext cx="1371600" cy="76200"/>
          </a:xfrm>
          <a:prstGeom prst="rect">
            <a:avLst/>
          </a:prstGeom>
          <a:solidFill>
            <a:srgbClr val="0B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>
                <a:solidFill>
                  <a:srgbClr val="151B23"/>
                </a:solidFill>
                <a:latin typeface="Inter"/>
              </a:rPr>
              <a:t>Making Scientific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>
                <a:solidFill>
                  <a:srgbClr val="151B23"/>
                </a:solidFill>
                <a:latin typeface="Inter"/>
              </a:rPr>
              <a:t>Navigable for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51B23"/>
                </a:solidFill>
                <a:latin typeface="Inter"/>
              </a:rPr>
              <a:t>Stephanie Jarmak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Sourcegraph  ·  Harvard &amp; Smithsonian | Center for Astrophysics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B4A9E"/>
                </a:solidFill>
                <a:latin typeface="Inter"/>
              </a:rPr>
              <a:t>MLOps Community · Research Copilot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Scientific knowledge is fragmented and weakly linked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We query it as if it were flat text. We can do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60000"/>
            <a:ext cx="60000" cy="600000"/>
          </a:xfrm>
          <a:prstGeom prst="rect">
            <a:avLst/>
          </a:prstGeom>
          <a:solidFill>
            <a:srgbClr val="0B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00" y="2100000"/>
            <a:ext cx="45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51B23"/>
                </a:solidFill>
                <a:latin typeface="Inter"/>
              </a:rPr>
              <a:t>Knowledge is scattered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480000"/>
            <a:ext cx="11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Inter"/>
              </a:rPr>
              <a:t>Literature, datasets, software, posters, talks — in different systems, with different identifiers, and no common seams.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60000"/>
            <a:ext cx="60000" cy="600000"/>
          </a:xfrm>
          <a:prstGeom prst="rect">
            <a:avLst/>
          </a:prstGeom>
          <a:solidFill>
            <a:srgbClr val="0B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3100000"/>
            <a:ext cx="45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51B23"/>
                </a:solidFill>
                <a:latin typeface="Inter"/>
              </a:rPr>
              <a:t>The structure we have is incomplete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" y="3480000"/>
            <a:ext cx="11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Inter"/>
              </a:rPr>
              <a:t>DOIs, citation graphs, data-availability statements, ORCIDs — partial coverage, inconsistent metadata, ambiguous attribution.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000"/>
            <a:ext cx="60000" cy="600000"/>
          </a:xfrm>
          <a:prstGeom prst="rect">
            <a:avLst/>
          </a:prstGeom>
          <a:solidFill>
            <a:srgbClr val="0B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00" y="4100000"/>
            <a:ext cx="45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51B23"/>
                </a:solidFill>
                <a:latin typeface="Inter"/>
              </a:rPr>
              <a:t>Relationships are underspecified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" y="4480000"/>
            <a:ext cx="11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Inter"/>
              </a:rPr>
              <a:t>A citation can mean: builds on, disproves, mentions, reuses data from, or reuses methods from. The graph collapses all five into one edge.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60000"/>
            <a:ext cx="60000" cy="600000"/>
          </a:xfrm>
          <a:prstGeom prst="rect">
            <a:avLst/>
          </a:prstGeom>
          <a:solidFill>
            <a:srgbClr val="0B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" y="5100000"/>
            <a:ext cx="45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51B23"/>
                </a:solidFill>
                <a:latin typeface="Inter"/>
              </a:rPr>
              <a:t>Search is the universal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" y="5480000"/>
            <a:ext cx="11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Inter"/>
              </a:rPr>
              <a:t>Keyword or vector search returns a ranked list. That's fine for 'find me a paper.' It's not enough for 'map the landscape' or 'what breaks if this result is wrong.'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The scale problem: research output accelerates like codebases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Engineers gave their agents structure. Scientists haven't — yet.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500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600" b="1">
                <a:solidFill>
                  <a:srgbClr val="0B4A9E"/>
                </a:solidFill>
                <a:latin typeface="Inter"/>
              </a:rPr>
              <a:t>3M+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350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51B23"/>
                </a:solidFill>
                <a:latin typeface="Inter"/>
              </a:rPr>
              <a:t>scientific papers published per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35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doubling every ~12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200" y="2011680"/>
            <a:ext cx="3500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600" b="1">
                <a:solidFill>
                  <a:srgbClr val="0B4A9E"/>
                </a:solidFill>
                <a:latin typeface="Inter"/>
              </a:rPr>
              <a:t>20–30%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200" y="3200400"/>
            <a:ext cx="350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51B23"/>
                </a:solidFill>
                <a:latin typeface="Inter"/>
              </a:rPr>
              <a:t>of a researcher's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200" y="3657600"/>
            <a:ext cx="35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spent on literature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7200" y="2011680"/>
            <a:ext cx="3500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600" b="1">
                <a:solidFill>
                  <a:srgbClr val="0B4A9E"/>
                </a:solidFill>
                <a:latin typeface="Inter"/>
              </a:rPr>
              <a:t>AI-accelerated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7200" y="3200400"/>
            <a:ext cx="350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51B23"/>
                </a:solidFill>
                <a:latin typeface="Inter"/>
              </a:rPr>
              <a:t>both code and research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7200" y="3657600"/>
            <a:ext cx="35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the same growth curve hits 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50000"/>
            <a:ext cx="1124712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0">
                <a:solidFill>
                  <a:srgbClr val="4B5563"/>
                </a:solidFill>
                <a:latin typeface="Inter"/>
              </a:rPr>
              <a:t>Codebases outran human reading years ago. Engineers responded by giving agents structure — dependency graphs, call graphs, blast-radius tools. Scientific literature has the same shape of problem and has not yet had the same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Fragmentation of knowledge: serendipity over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Right now, transferable methods travel by chance. That's the thing to 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0000"/>
            <a:ext cx="5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Citations encode more than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0000"/>
            <a:ext cx="54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4B5563"/>
                </a:solidFill>
                <a:latin typeface="Inter"/>
              </a:rPr>
              <a:t>Prestige, convention, self-citation, availability bias. A clean technical DAG is not what the citation graph actually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50000"/>
            <a:ext cx="5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Disciplinary silos hide transferable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00000"/>
            <a:ext cx="54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4B5563"/>
                </a:solidFill>
                <a:latin typeface="Inter"/>
              </a:rPr>
              <a:t>A technique useful in one field may have been solved in a neighbouring one years earlier — under different vocabulary.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2150000"/>
            <a:ext cx="5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Connections happen through serendipity, not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0" y="2600000"/>
            <a:ext cx="54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4B5563"/>
                </a:solidFill>
                <a:latin typeface="Inter"/>
              </a:rPr>
              <a:t>Whether two lines of work meet depends on who read what, when. It is not a structural property of the knowledge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000" y="4050000"/>
            <a:ext cx="5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The shift worth making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4500000"/>
            <a:ext cx="54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4B5563"/>
                </a:solidFill>
                <a:latin typeface="Inter"/>
              </a:rPr>
              <a:t>Turn serendipitous discovery into retrievable relevance — so an agent can surface it, and a researcher can rely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Codebases as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Software stopped treating code as isolated files. Science can do the same.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00000"/>
            <a:ext cx="54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B7280"/>
                </a:solidFill>
                <a:latin typeface="Inter"/>
              </a:rPr>
              <a:t>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0" y="1900000"/>
            <a:ext cx="54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B4A9E"/>
                </a:solidFill>
                <a:latin typeface="Inter"/>
              </a:rPr>
              <a:t>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20000"/>
            <a:ext cx="1124712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what code relies on to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0" y="23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Reused methods and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000" y="275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what a result relies on to 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0000"/>
            <a:ext cx="1124712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0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Call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0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chains of function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000" y="350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Chains of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390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a claim that rests on a claim that rests on a 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20000"/>
            <a:ext cx="1124712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Blast radius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5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what breaks if this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000" y="46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1B23"/>
                </a:solidFill>
                <a:latin typeface="Inter"/>
              </a:rPr>
              <a:t>Result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000" y="505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which follow-on findings are at risk if this one is wrong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00000"/>
            <a:ext cx="112471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4B5563"/>
                </a:solidFill>
                <a:latin typeface="Inter"/>
              </a:rPr>
              <a:t>Citation graphs approximate all of this — but they're incomplete, semantically weak, and socially biased. The real signal is the underlying ecosystem of data, methods, results, code, and claims.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Toward 'debugging'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Treat outputs as claims to evaluate — independent of citation count or venue prestige.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50000"/>
            <a:ext cx="112471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51B23"/>
                </a:solidFill>
                <a:latin typeface="Inter"/>
              </a:rPr>
              <a:t>Science already has implicit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7200" y="2450000"/>
            <a:ext cx="110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Inter"/>
              </a:rPr>
              <a:t>·  Physical consistency — does it fit known laws?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200" y="2830000"/>
            <a:ext cx="110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Inter"/>
              </a:rPr>
              <a:t>·  Reproducibility — can someone else hit the same result?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3210000"/>
            <a:ext cx="1100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Inter"/>
              </a:rPr>
              <a:t>·  Compatibility — does it agree with adjacent findings?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00000"/>
            <a:ext cx="112471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4A9E"/>
                </a:solidFill>
                <a:latin typeface="Inter"/>
              </a:rPr>
              <a:t>What a navigable layer unlocks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00000"/>
            <a:ext cx="54000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Automated consistency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6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Flag claims that contradict well-established adjacent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7200" y="4400000"/>
            <a:ext cx="54000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Conflicting-result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7200" y="476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Surface studies that disagree rather than burying the tension in citations.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50000"/>
            <a:ext cx="54000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Missing-link identification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1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Point out papers that should cite each other but don't — and why.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7200" y="5350000"/>
            <a:ext cx="54000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Method-reuse surfacing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7200" y="571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Find transferable techniques across silos, not just nearest-neighbor prose.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What "navigable" means for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Agents benefit from ranked lists too — they just benefit from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6B7280"/>
                </a:solidFill>
                <a:latin typeface="Inter"/>
              </a:rPr>
              <a:t>Human searcher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4A9E"/>
                </a:solidFill>
                <a:latin typeface="Inter"/>
              </a:rPr>
              <a:t>Agent (given the right primitives)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Ranked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Scans titles, opens a few, satisfied — same primitive an agent uses for cheap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651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Graph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9718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Which papers bridge communities? Which are structurally central?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11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One-shot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318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Session state lives in the researcher's head.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11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Session working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8318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Accumulates, dedupes, tags, reasons across turns.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71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Visual cues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18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Journal, authors, year, formatting.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371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Structured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6918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Bibcodes, IDs, community labels, provenance — composes with other tools.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31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Stops when tired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518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Implicit budget, intuition-driven.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231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Multi-hop moves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5518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Citation chains, co-citation, bridge-paper gaps, temporal.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Vector search and knowledge graphs,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Hybrid retrieval is the table stakes. Agent-mediated iteration is the unlock.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50000"/>
            <a:ext cx="3600000" cy="1600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7200" y="215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4A9E"/>
                </a:solidFill>
                <a:latin typeface="Inter"/>
              </a:rPr>
              <a:t>Semantic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200" y="2600000"/>
            <a:ext cx="3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Dense vectors — domain-tuned plus general-purpose, fused via reciprocal rank.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7200" y="1950000"/>
            <a:ext cx="3600000" cy="1600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7200" y="215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4A9E"/>
                </a:solidFill>
                <a:latin typeface="Inter"/>
              </a:rPr>
              <a:t>Lexical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7200" y="2600000"/>
            <a:ext cx="3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BM25 on titles, abstracts, keywords. Catches specific terms that embeddings blur.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7200" y="1950000"/>
            <a:ext cx="3600000" cy="1600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200" y="215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4A9E"/>
                </a:solidFill>
                <a:latin typeface="Inter"/>
              </a:rPr>
              <a:t>Structural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7200" y="2600000"/>
            <a:ext cx="3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Graph moves: citation chains, co-citation, shortest paths, community lenses.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00000"/>
            <a:ext cx="3600000" cy="1600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200" y="400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4A9E"/>
                </a:solidFill>
                <a:latin typeface="Inter"/>
              </a:rPr>
              <a:t>Symbolic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00" y="4450000"/>
            <a:ext cx="3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Entity and claim extraction — instruments, datasets, methods, results as first-class objects.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7200" y="3800000"/>
            <a:ext cx="3600000" cy="1600000"/>
          </a:xfrm>
          <a:prstGeom prst="rect">
            <a:avLst/>
          </a:prstGeom>
          <a:solidFill>
            <a:srgbClr val="0B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7200" y="400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Inter"/>
              </a:rPr>
              <a:t>Iterative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7200" y="4450000"/>
            <a:ext cx="3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E5EEFB"/>
                </a:solidFill>
                <a:latin typeface="Inter"/>
              </a:rPr>
              <a:t>An agent chooses the next move based on what it just learned. The loop — not any single tool — is where the leverage lives.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Why MCP is a good fit for this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Model Context Protocol gives the agent tools it can actually 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51B23"/>
                </a:solidFill>
                <a:latin typeface="Inter"/>
              </a:rPr>
              <a:t>Tool-calling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First-class: name, typed args, typed returns. The agent knows what it can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7200" y="19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51B23"/>
                </a:solidFill>
                <a:latin typeface="Inter"/>
              </a:rPr>
              <a:t>Session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7200" y="23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Stateful per-connection. Working sets live on the server, not in the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51B23"/>
                </a:solidFill>
                <a:latin typeface="Inter"/>
              </a:rPr>
              <a:t>Structured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JSON objects, not HTML snippets. Compose cleanly with other tools.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7200" y="30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51B23"/>
                </a:solidFill>
                <a:latin typeface="Inter"/>
              </a:rPr>
              <a:t>Transport-agnostic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7200" y="34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stdio, HTTP, WebSocket. Works with Claude Desktop, Cursor, custom agents.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51B23"/>
                </a:solidFill>
                <a:latin typeface="Inter"/>
              </a:rPr>
              <a:t>Portable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If your research copilot speaks MCP, the same knowledge layer can be hosted by ADS, arXiv, your own group, or someone else.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A working prototype: SciX on NASA 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32.4M papers, PostgreSQL + pgvector, single server, one MCP endpoint.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865" y="1950000"/>
            <a:ext cx="7930269" cy="38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00000"/>
            <a:ext cx="1124712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Deliberate simplicity: no separate vector DB, no orchestrator, no queue. Postgres + pgvector carries the corpus, the graph metrics, and the retrieval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Two vector stores, two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Pick the backend for the move — the agent only sees one MCP interface.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50000"/>
            <a:ext cx="5400000" cy="3700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7200" y="2170000"/>
            <a:ext cx="4960000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4A9E"/>
                </a:solidFill>
                <a:latin typeface="Inter"/>
              </a:rPr>
              <a:t>pgvector — the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00" y="2850000"/>
            <a:ext cx="49600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·  All 32.4M papers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00" y="3470000"/>
            <a:ext cx="49600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·  Dense ANN via HNSW, joined with graph metrics and communities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00" y="4090000"/>
            <a:ext cx="49600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·  One SQL query composes retrieval + filters + PageRank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00" y="4710000"/>
            <a:ext cx="49600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·  Good at: topical search, hybrid RRF, structural filters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7200" y="1950000"/>
            <a:ext cx="5400000" cy="3700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7200" y="2170000"/>
            <a:ext cx="4960000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4A9E"/>
                </a:solidFill>
                <a:latin typeface="Inter"/>
              </a:rPr>
              <a:t>Qdrant — the recommendation 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7200" y="2850000"/>
            <a:ext cx="49600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·  Pilot subset (top-N by PageRank) with rich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7200" y="3470000"/>
            <a:ext cx="49600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·  Multi-example recommendation: 'more like these, less like those'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7200" y="4090000"/>
            <a:ext cx="49600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·  Payload filters: year, doctype, community, arxiv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200" y="4710000"/>
            <a:ext cx="49600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·  Good at: the one move pgvector can't cleanly do in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00000"/>
            <a:ext cx="112471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One MCP tool surface (find_similar_by_examples). Two backends. The agent picks the move by name — not by where the vectors 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Tool design for agent navigation of scientific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Principles from watching agents actually use these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Fewer, composable tools &gt; many specific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Agent tool-selection accuracy degrades past a point. Prefer a small set of primitives the agent can combine over a catalog of bespoke endpoints.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7200" y="19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Return compact stubs, full text on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7200" y="23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bibcode · title · first_author · year · citation_count · snippet. Full paper only when the agent asks for it. Context is the scarcest resource.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0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Stable, typed 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JSON, no free-text fields that need parsing. Every response composes cleanly with whatever the agent does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7200" y="300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Include provenance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7200" y="338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Which tool returned this? Which query? The agent can reason about its own trail — and so can you, when you read the trace.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Cursor-based pagination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Never return 10,000 bibcodes in one payload. Give the agent a cursor and let it ask for more if it needs more.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7200" y="40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Idempotent reads, explicit side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7200" y="44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Same inputs → same outputs. Caching is trivial. Anything that writes state is called out in the tool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Unlocks: exploration modes you can't do with search alone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Each of these is a move an agent takes — not a UI the human drives.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Bridge papers between communities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'Which papers are cited by both the exoplanet community and the atmospheric-chemistry community?' — a single structural query, not a month of hallway conversations.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7200" y="19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Citation chains (what this claim depends 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7200" y="233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Follow the chain of results the current paper rests on. Where does the chain terminate — a dataset? a theorem? an assumption someone flagged?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0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Co-citation and bibliographic coupling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Find papers that are read-alike (cited together) or reference-alike (share references). These are invisible-college detectors.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7200" y="300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Temporal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7200" y="3380000"/>
            <a:ext cx="5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Which subfields are growing? Which are consolidating into review papers? Which had a flurry five years ago and went quiet?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000"/>
            <a:ext cx="11247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Multi-lens community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0000"/>
            <a:ext cx="112471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Three lenses — citation, semantic, taxonomic — and their disagreements are informative. A paper that's semantically central but citationally isolated is often an 'outsider with a good idea.'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Three community lenses — and their informative disagreements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Each lens has clean semantics. The agent picks the one that fits the question.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50000"/>
            <a:ext cx="3700000" cy="3800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7200" y="215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4A9E"/>
                </a:solidFill>
                <a:latin typeface="Inter"/>
              </a:rPr>
              <a:t>Citation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00" y="2600000"/>
            <a:ext cx="326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behavioral affinity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00" y="300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Leiden on the full citation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00" y="346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Three resolutions: ~20 · ~200 · ~2000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00" y="392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Coverage: 62% of papers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00" y="438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'Papers that cite each other'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00" y="484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Finds invisible-college patterns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7200" y="1950000"/>
            <a:ext cx="3700000" cy="3800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7200" y="215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4A9E"/>
                </a:solidFill>
                <a:latin typeface="Inter"/>
              </a:rPr>
              <a:t>Semantic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7200" y="2600000"/>
            <a:ext cx="326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topical affinity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7200" y="300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k-means on INDUS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7200" y="346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Three resolutions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7200" y="392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Coverage: 99% (all embedded)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7200" y="438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'Papers with similar content'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7200" y="484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Catches cross-citing subfields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57200" y="1950000"/>
            <a:ext cx="3700000" cy="3800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7200" y="215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4A9E"/>
                </a:solidFill>
                <a:latin typeface="Inter"/>
              </a:rPr>
              <a:t>Taxonomic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00" y="2600000"/>
            <a:ext cx="326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institutional affinity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00" y="300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arXiv class + UAT concepts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00" y="346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Hierarchical, human-curated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00" y="392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Coverage: ~8% (arXiv subset)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00" y="438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'Papers in the same field'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00" y="4840000"/>
            <a:ext cx="326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Sanity-check for the other two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00000"/>
            <a:ext cx="112471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A paper that's semantically central but citationally isolated is usually an outsider with a good idea — or a review the field hasn't caught up 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A research copilot maps the exoplanet-atmospheres landscape.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50000"/>
            <a:ext cx="112471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B7280"/>
                </a:solidFill>
                <a:latin typeface="Inter"/>
              </a:rPr>
              <a:t>User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00000"/>
            <a:ext cx="112471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151B23"/>
                </a:solidFill>
                <a:latin typeface="Inter"/>
              </a:rPr>
              <a:t>'I'm preparing a grant on exoplanet atmospheric characterization. Map the research landscape — major subcommunities, foundational papers, recent bridges between communities, and what's worth reading first.'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00000"/>
            <a:ext cx="112471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B7280"/>
                </a:solidFill>
                <a:latin typeface="Inter"/>
              </a:rPr>
              <a:t>Moves the copilot makes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0000"/>
            <a:ext cx="3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6FEB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000" y="3700000"/>
            <a:ext cx="3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0" y="370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broad hybrid hit on 'exoplanet atmospheric characterization'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70000"/>
            <a:ext cx="3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6FEB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000" y="4070000"/>
            <a:ext cx="3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graph_context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0" y="407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pull community assignments + PageRank for the top hits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40000"/>
            <a:ext cx="3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6FEB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000" y="4440000"/>
            <a:ext cx="3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citation_similarity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0" y="444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expand with co-citation bridges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10000"/>
            <a:ext cx="3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6FEB"/>
                </a:solidFill>
                <a:latin typeface="Inter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00" y="4810000"/>
            <a:ext cx="3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temporal_evolution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000" y="481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see which communities are growing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80000"/>
            <a:ext cx="3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6FEB"/>
                </a:solidFill>
                <a:latin typeface="Inter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000" y="5180000"/>
            <a:ext cx="3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find_gaps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000" y="518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bridge papers between working-set communities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50000"/>
            <a:ext cx="3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6FEB"/>
                </a:solidFill>
                <a:latin typeface="Inter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000" y="5550000"/>
            <a:ext cx="3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1B23"/>
                </a:solidFill>
                <a:latin typeface="Inter"/>
              </a:rPr>
              <a:t>read_paper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0000" y="555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Inter"/>
              </a:rPr>
              <a:t>deep-dive on 3 foundational candidates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What the copilot sees while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Agent-trace overlay · UMAP of 32M INDUS embeddings.</a:t>
            </a:r>
          </a:p>
        </p:txBody>
      </p:sp>
      <p:pic>
        <p:nvPicPr>
          <p:cNvPr id="4" name="Picture 3" descr="agent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00" y="2131250"/>
            <a:ext cx="5500000" cy="3437500"/>
          </a:xfrm>
          <a:prstGeom prst="rect">
            <a:avLst/>
          </a:prstGeom>
        </p:spPr>
      </p:pic>
      <p:pic>
        <p:nvPicPr>
          <p:cNvPr id="5" name="Picture 4" descr="umap_brow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00" y="2131250"/>
            <a:ext cx="5500000" cy="343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00000"/>
            <a:ext cx="1124712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Inter"/>
              </a:rPr>
              <a:t>These are the structural views an agent reasons over — not visually, but as graph edges, community IDs, and embedding coordinates.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What this means if you're using a research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Inter"/>
              </a:rPr>
              <a:t>Most of you will be integrating one, not building the knowledge layer. The questions to ask are the same.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What does the corpus cover?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3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Full field or a rolling window? Do the graph metrics it returns mean what you think they mean?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7200" y="20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What moves does it support beyond search?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7200" y="243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Citation chains, co-citation, community bridges, temporal slices. If the only primitive is search, you have a faster librarian — not a navigation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Does it return structured objects?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3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A bibcode, not a snippet. IDs compose; prose doesn't. Tools that return prose force the agent to parse its own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7200" y="3050000"/>
            <a:ext cx="54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1B23"/>
                </a:solidFill>
                <a:latin typeface="Inter"/>
              </a:rPr>
              <a:t>Can you trace what it consulted?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7200" y="3430000"/>
            <a:ext cx="5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Every answer should come with the tool calls it made. This is how you trust it, debug it, and teach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000"/>
            <a:ext cx="11247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B4A9E"/>
                </a:solidFill>
                <a:latin typeface="Inter"/>
              </a:rPr>
              <a:t>How does it complement, not replace, your judgement?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0000"/>
            <a:ext cx="1124712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4B5563"/>
                </a:solidFill>
                <a:latin typeface="Inter"/>
              </a:rPr>
              <a:t>Use it to expand the landscape and surface blind spots. Reserve peer review, interpretation, and prioritization for the human.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1B23"/>
                </a:solidFill>
                <a:latin typeface="Inter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00000"/>
            <a:ext cx="45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6B7280"/>
                </a:solidFill>
                <a:latin typeface="Inter"/>
              </a:rPr>
              <a:t>From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0000" y="2200000"/>
            <a:ext cx="2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6B7280"/>
                </a:solidFill>
                <a:latin typeface="Inter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0000" y="2200000"/>
            <a:ext cx="65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4A9E"/>
                </a:solidFill>
                <a:latin typeface="Inter"/>
              </a:rPr>
              <a:t>to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0000"/>
            <a:ext cx="45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6B7280"/>
                </a:solidFill>
                <a:latin typeface="Inter"/>
              </a:rPr>
              <a:t>From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000" y="3100000"/>
            <a:ext cx="2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6B7280"/>
                </a:solidFill>
                <a:latin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0000" y="3100000"/>
            <a:ext cx="65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4A9E"/>
                </a:solidFill>
                <a:latin typeface="Inter"/>
              </a:rPr>
              <a:t>to navigable scientific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00000"/>
            <a:ext cx="45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6B7280"/>
                </a:solidFill>
                <a:latin typeface="Inter"/>
              </a:rPr>
              <a:t>From serendipity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0" y="4000000"/>
            <a:ext cx="2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6B7280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000" y="4000000"/>
            <a:ext cx="65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4A9E"/>
                </a:solidFill>
                <a:latin typeface="Inter"/>
              </a:rPr>
              <a:t>to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00000"/>
            <a:ext cx="112471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4B5563"/>
                </a:solidFill>
                <a:latin typeface="Inter"/>
              </a:rPr>
              <a:t>Scientific knowledge gets more useful when we treat it like the system it already is — data, methods, results, code, claims — and let agents navigate the connections we've been leaving to chance.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00000"/>
            <a:ext cx="112471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>
                <a:solidFill>
                  <a:srgbClr val="151B23"/>
                </a:solidFill>
                <a:latin typeface="Inter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50000"/>
            <a:ext cx="112471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4B5563"/>
                </a:solidFill>
                <a:latin typeface="Inter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00000"/>
            <a:ext cx="112471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51B23"/>
                </a:solidFill>
                <a:latin typeface="Inter"/>
              </a:rPr>
              <a:t>Stephanie Jarmak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00000"/>
            <a:ext cx="112471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Inter"/>
              </a:rPr>
              <a:t>Sourcegraph  ·  Harvard &amp; Smithsonian | Center for Astrophysics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00000"/>
            <a:ext cx="1124712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6B7280"/>
                </a:solidFill>
                <a:latin typeface="Inter"/>
              </a:rPr>
              <a:t>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50000"/>
            <a:ext cx="112471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Repository — github.com/sjarmak/scix-agent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30000"/>
            <a:ext cx="112471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Live MCP endpoint — mcp.sjarmak.ai/mcp/  (local-only during workshop)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10000"/>
            <a:ext cx="112471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Paper (ADASS 2026, preprint) — arXiv (pending)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90000"/>
            <a:ext cx="112471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Inter"/>
              </a:rPr>
              <a:t>·  Contact — stephanie.jarmak1@gmail.com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Inter"/>
              </a:rPr>
              <a:t>Stephanie Jarmak  ·  MLOps Community  ·  Making Scientific Knowledge Navigable for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